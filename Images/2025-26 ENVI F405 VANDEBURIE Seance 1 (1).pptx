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9"/>
  </p:notesMasterIdLst>
  <p:sldIdLst>
    <p:sldId id="257" r:id="rId2"/>
    <p:sldId id="1076" r:id="rId3"/>
    <p:sldId id="1077" r:id="rId4"/>
    <p:sldId id="2146848647" r:id="rId5"/>
    <p:sldId id="1041" r:id="rId6"/>
    <p:sldId id="1078" r:id="rId7"/>
    <p:sldId id="2146848655" r:id="rId8"/>
    <p:sldId id="2146848621" r:id="rId9"/>
    <p:sldId id="2146848623" r:id="rId10"/>
    <p:sldId id="2146848622" r:id="rId11"/>
    <p:sldId id="2146848624" r:id="rId12"/>
    <p:sldId id="2146848656" r:id="rId13"/>
    <p:sldId id="2146848657" r:id="rId14"/>
    <p:sldId id="2146848658" r:id="rId15"/>
    <p:sldId id="950" r:id="rId16"/>
    <p:sldId id="2566" r:id="rId17"/>
    <p:sldId id="2146848637" r:id="rId18"/>
    <p:sldId id="2146848603" r:id="rId19"/>
    <p:sldId id="2146848595" r:id="rId20"/>
    <p:sldId id="2146848596" r:id="rId21"/>
    <p:sldId id="271" r:id="rId22"/>
    <p:sldId id="2146848606" r:id="rId23"/>
    <p:sldId id="2146848607" r:id="rId24"/>
    <p:sldId id="265" r:id="rId25"/>
    <p:sldId id="2696" r:id="rId26"/>
    <p:sldId id="2570" r:id="rId27"/>
    <p:sldId id="2698" r:id="rId28"/>
    <p:sldId id="2697" r:id="rId29"/>
    <p:sldId id="2699" r:id="rId30"/>
    <p:sldId id="2700" r:id="rId31"/>
    <p:sldId id="1058" r:id="rId32"/>
    <p:sldId id="2672" r:id="rId33"/>
    <p:sldId id="2663" r:id="rId34"/>
    <p:sldId id="2664" r:id="rId35"/>
    <p:sldId id="2665" r:id="rId36"/>
    <p:sldId id="2662" r:id="rId37"/>
    <p:sldId id="2603" r:id="rId38"/>
    <p:sldId id="1049" r:id="rId39"/>
    <p:sldId id="2146848660" r:id="rId40"/>
    <p:sldId id="1347" r:id="rId41"/>
    <p:sldId id="1050" r:id="rId42"/>
    <p:sldId id="2146848663" r:id="rId43"/>
    <p:sldId id="1296" r:id="rId44"/>
    <p:sldId id="1295" r:id="rId45"/>
    <p:sldId id="1297" r:id="rId46"/>
    <p:sldId id="1270" r:id="rId47"/>
    <p:sldId id="2146848662" r:id="rId48"/>
    <p:sldId id="2146848664" r:id="rId49"/>
    <p:sldId id="1310" r:id="rId50"/>
    <p:sldId id="1290" r:id="rId51"/>
    <p:sldId id="1312" r:id="rId52"/>
    <p:sldId id="1315" r:id="rId53"/>
    <p:sldId id="1051" r:id="rId54"/>
    <p:sldId id="511" r:id="rId55"/>
    <p:sldId id="2146848665" r:id="rId56"/>
    <p:sldId id="1348" r:id="rId57"/>
    <p:sldId id="513" r:id="rId58"/>
    <p:sldId id="623" r:id="rId59"/>
    <p:sldId id="548" r:id="rId60"/>
    <p:sldId id="649" r:id="rId61"/>
    <p:sldId id="1316" r:id="rId62"/>
    <p:sldId id="1352" r:id="rId63"/>
    <p:sldId id="1353" r:id="rId64"/>
    <p:sldId id="1355" r:id="rId65"/>
    <p:sldId id="532" r:id="rId66"/>
    <p:sldId id="1284" r:id="rId67"/>
    <p:sldId id="2693" r:id="rId6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7671C6-9ED6-C6CA-4AB9-2A4892B2DB8A}" name="VANDEBURIE Julien" initials="JV" userId="S::Julien.VANDEBURIE@resa.be::07a2628e-7f46-41ca-b839-82920024a2f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65" autoAdjust="0"/>
    <p:restoredTop sz="77411"/>
  </p:normalViewPr>
  <p:slideViewPr>
    <p:cSldViewPr snapToGrid="0">
      <p:cViewPr varScale="1">
        <p:scale>
          <a:sx n="105" d="100"/>
          <a:sy n="105" d="100"/>
        </p:scale>
        <p:origin x="13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8/10/relationships/authors" Targe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2530DD-C234-43E6-9117-53401B08FC7E}" type="datetimeFigureOut">
              <a:rPr lang="fr-BE" smtClean="0"/>
              <a:t>9/06/26</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CD234C-2BE0-4683-AA43-72483F981EE1}" type="slidenum">
              <a:rPr lang="fr-BE" smtClean="0"/>
              <a:t>‹N°›</a:t>
            </a:fld>
            <a:endParaRPr lang="fr-BE"/>
          </a:p>
        </p:txBody>
      </p:sp>
    </p:spTree>
    <p:extLst>
      <p:ext uri="{BB962C8B-B14F-4D97-AF65-F5344CB8AC3E}">
        <p14:creationId xmlns:p14="http://schemas.microsoft.com/office/powerpoint/2010/main" val="867930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climateactiontracker.org/"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5B6EDE-80EA-46BC-9B33-31B044380011}" type="slidenum">
              <a:rPr kumimoji="0" lang="fr-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8342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DE74F-21C3-5645-C359-BD62FCA391BD}"/>
            </a:ext>
          </a:extLst>
        </p:cNvPr>
        <p:cNvGrpSpPr/>
        <p:nvPr/>
      </p:nvGrpSpPr>
      <p:grpSpPr>
        <a:xfrm>
          <a:off x="0" y="0"/>
          <a:ext cx="0" cy="0"/>
          <a:chOff x="0" y="0"/>
          <a:chExt cx="0" cy="0"/>
        </a:xfrm>
      </p:grpSpPr>
      <p:sp>
        <p:nvSpPr>
          <p:cNvPr id="11" name="Espace réservé du numéro de diapositive 7">
            <a:extLst>
              <a:ext uri="{FF2B5EF4-FFF2-40B4-BE49-F238E27FC236}">
                <a16:creationId xmlns:a16="http://schemas.microsoft.com/office/drawing/2014/main" id="{ADAA6542-5CCF-8267-9DDD-B79BF3B05C3E}"/>
              </a:ext>
            </a:extLst>
          </p:cNvPr>
          <p:cNvSpPr txBox="1">
            <a:spLocks noGrp="1"/>
          </p:cNvSpPr>
          <p:nvPr>
            <p:ph type="sldNum" sz="quarter" idx="5"/>
          </p:nvPr>
        </p:nvSpPr>
        <p:spPr>
          <a:ln/>
        </p:spPr>
        <p:txBody>
          <a:bodyPr vert="horz" wrap="square" lIns="95400" tIns="47880" rIns="95400" bIns="4788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953E3-D86B-4D34-9E2C-CBA8EE1FFBED}" type="slidenum">
              <a:rPr kumimoji="0"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ZoneTexte 1">
            <a:extLst>
              <a:ext uri="{FF2B5EF4-FFF2-40B4-BE49-F238E27FC236}">
                <a16:creationId xmlns:a16="http://schemas.microsoft.com/office/drawing/2014/main" id="{17D7C3D2-0295-728C-A444-56919CA0F0C4}"/>
              </a:ext>
            </a:extLst>
          </p:cNvPr>
          <p:cNvSpPr txBox="1"/>
          <p:nvPr/>
        </p:nvSpPr>
        <p:spPr>
          <a:xfrm>
            <a:off x="5030881" y="7056720"/>
            <a:ext cx="3850079" cy="371520"/>
          </a:xfrm>
          <a:prstGeom prst="rect">
            <a:avLst/>
          </a:prstGeom>
          <a:noFill/>
          <a:ln>
            <a:noFill/>
          </a:ln>
        </p:spPr>
        <p:txBody>
          <a:bodyPr vert="horz" wrap="square" lIns="90000" tIns="46800" rIns="90000" bIns="4680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fld id="{8C0B2946-CF2A-4638-9A68-B534ECCCB43B}" type="slidenum">
              <a:rPr kumimoji="0"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t>7</a:t>
            </a:fld>
            <a:endParaRPr kumimoji="0" lang="fr-FR" sz="1200" b="0" i="0" u="none" strike="noStrike" kern="1200" cap="none" spc="0" normalizeH="0" baseline="0" noProof="0">
              <a:ln>
                <a:noFill/>
              </a:ln>
              <a:solidFill>
                <a:srgbClr val="000000"/>
              </a:solidFill>
              <a:effectLst/>
              <a:uLnTx/>
              <a:uFillTx/>
              <a:latin typeface="Arial" pitchFamily="2"/>
              <a:ea typeface="Droid Sans Fallback" pitchFamily="2"/>
              <a:cs typeface="FreeSans" pitchFamily="2"/>
            </a:endParaRPr>
          </a:p>
        </p:txBody>
      </p:sp>
      <p:sp>
        <p:nvSpPr>
          <p:cNvPr id="3" name="ZoneTexte 2">
            <a:extLst>
              <a:ext uri="{FF2B5EF4-FFF2-40B4-BE49-F238E27FC236}">
                <a16:creationId xmlns:a16="http://schemas.microsoft.com/office/drawing/2014/main" id="{C1AE3B55-05C2-145A-F1CF-97842DBF0489}"/>
              </a:ext>
            </a:extLst>
          </p:cNvPr>
          <p:cNvSpPr txBox="1"/>
          <p:nvPr/>
        </p:nvSpPr>
        <p:spPr>
          <a:xfrm>
            <a:off x="-480" y="7056720"/>
            <a:ext cx="3850079" cy="371520"/>
          </a:xfrm>
          <a:prstGeom prst="rect">
            <a:avLst/>
          </a:prstGeom>
          <a:noFill/>
          <a:ln>
            <a:noFill/>
          </a:ln>
        </p:spPr>
        <p:txBody>
          <a:bodyPr vert="horz" wrap="square" lIns="90000" tIns="46800" rIns="90000" bIns="46800" anchor="b"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FR" sz="1200" b="0" i="0" u="none" strike="noStrike" kern="1200" cap="none" spc="0" normalizeH="0" baseline="0" noProof="0">
              <a:ln>
                <a:noFill/>
              </a:ln>
              <a:solidFill>
                <a:srgbClr val="000000"/>
              </a:solidFill>
              <a:effectLst/>
              <a:uLnTx/>
              <a:uFillTx/>
              <a:latin typeface="Arial" pitchFamily="2"/>
              <a:ea typeface="Droid Sans Fallback" pitchFamily="2"/>
              <a:cs typeface="FreeSans" pitchFamily="2"/>
            </a:endParaRPr>
          </a:p>
        </p:txBody>
      </p:sp>
      <p:sp>
        <p:nvSpPr>
          <p:cNvPr id="4" name="ZoneTexte 3">
            <a:extLst>
              <a:ext uri="{FF2B5EF4-FFF2-40B4-BE49-F238E27FC236}">
                <a16:creationId xmlns:a16="http://schemas.microsoft.com/office/drawing/2014/main" id="{0D49A369-C1FA-1D47-E71B-8C717B8EE78A}"/>
              </a:ext>
            </a:extLst>
          </p:cNvPr>
          <p:cNvSpPr txBox="1"/>
          <p:nvPr/>
        </p:nvSpPr>
        <p:spPr>
          <a:xfrm>
            <a:off x="-480" y="0"/>
            <a:ext cx="3850079" cy="371520"/>
          </a:xfrm>
          <a:prstGeom prst="rect">
            <a:avLst/>
          </a:prstGeom>
          <a:noFill/>
          <a:ln>
            <a:noFill/>
          </a:ln>
        </p:spPr>
        <p:txBody>
          <a:bodyPr vert="horz" wrap="square" lIns="90000" tIns="46800" rIns="90000" bIns="4680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FR" sz="1200" b="0" i="0" u="none" strike="noStrike" kern="1200" cap="none" spc="0" normalizeH="0" baseline="0" noProof="0">
              <a:ln>
                <a:noFill/>
              </a:ln>
              <a:solidFill>
                <a:srgbClr val="000000"/>
              </a:solidFill>
              <a:effectLst/>
              <a:uLnTx/>
              <a:uFillTx/>
              <a:latin typeface="Arial" pitchFamily="2"/>
              <a:ea typeface="Droid Sans Fallback" pitchFamily="2"/>
              <a:cs typeface="FreeSans" pitchFamily="2"/>
            </a:endParaRPr>
          </a:p>
        </p:txBody>
      </p:sp>
      <p:sp>
        <p:nvSpPr>
          <p:cNvPr id="5" name="ZoneTexte 4">
            <a:extLst>
              <a:ext uri="{FF2B5EF4-FFF2-40B4-BE49-F238E27FC236}">
                <a16:creationId xmlns:a16="http://schemas.microsoft.com/office/drawing/2014/main" id="{775137A5-8674-1511-9A0F-9A72EA6428FF}"/>
              </a:ext>
            </a:extLst>
          </p:cNvPr>
          <p:cNvSpPr txBox="1"/>
          <p:nvPr/>
        </p:nvSpPr>
        <p:spPr>
          <a:xfrm>
            <a:off x="5030881" y="0"/>
            <a:ext cx="3850079" cy="371520"/>
          </a:xfrm>
          <a:prstGeom prst="rect">
            <a:avLst/>
          </a:prstGeom>
          <a:noFill/>
          <a:ln>
            <a:noFill/>
          </a:ln>
        </p:spPr>
        <p:txBody>
          <a:bodyPr vert="horz" wrap="square" lIns="90000" tIns="46800" rIns="90000" bIns="46800" anchor="t"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FR" sz="1200" b="0" i="0" u="none" strike="noStrike" kern="1200" cap="none" spc="0" normalizeH="0" baseline="0" noProof="0">
              <a:ln>
                <a:noFill/>
              </a:ln>
              <a:solidFill>
                <a:srgbClr val="000000"/>
              </a:solidFill>
              <a:effectLst/>
              <a:uLnTx/>
              <a:uFillTx/>
              <a:latin typeface="Arial" pitchFamily="2"/>
              <a:ea typeface="Droid Sans Fallback" pitchFamily="2"/>
              <a:cs typeface="FreeSans" pitchFamily="2"/>
            </a:endParaRPr>
          </a:p>
        </p:txBody>
      </p:sp>
      <p:sp>
        <p:nvSpPr>
          <p:cNvPr id="6" name="Forme libre : forme 5">
            <a:extLst>
              <a:ext uri="{FF2B5EF4-FFF2-40B4-BE49-F238E27FC236}">
                <a16:creationId xmlns:a16="http://schemas.microsoft.com/office/drawing/2014/main" id="{AE4F78B6-6611-060F-D15C-7843A6159AAF}"/>
              </a:ext>
            </a:extLst>
          </p:cNvPr>
          <p:cNvSpPr/>
          <p:nvPr/>
        </p:nvSpPr>
        <p:spPr>
          <a:xfrm>
            <a:off x="1140959" y="557280"/>
            <a:ext cx="6601920" cy="278721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cap="sq">
            <a:solidFill>
              <a:srgbClr val="000000"/>
            </a:solidFill>
            <a:prstDash val="solid"/>
            <a:miter/>
          </a:ln>
        </p:spPr>
        <p:txBody>
          <a:bodyPr vert="horz" wrap="none" lIns="90000" tIns="46800" rIns="90000" bIns="4680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BE" sz="1800" b="0" i="0" u="none" strike="noStrike" kern="1200" cap="none" spc="0" normalizeH="0" baseline="0" noProof="0">
              <a:ln>
                <a:noFill/>
              </a:ln>
              <a:solidFill>
                <a:srgbClr val="000000"/>
              </a:solidFill>
              <a:effectLst/>
              <a:uLnTx/>
              <a:uFillTx/>
              <a:latin typeface="Arial" pitchFamily="2"/>
              <a:ea typeface="Droid Sans Fallback" pitchFamily="2"/>
              <a:cs typeface="FreeSans" pitchFamily="2"/>
            </a:endParaRPr>
          </a:p>
        </p:txBody>
      </p:sp>
      <p:sp>
        <p:nvSpPr>
          <p:cNvPr id="7" name="ZoneTexte 6">
            <a:extLst>
              <a:ext uri="{FF2B5EF4-FFF2-40B4-BE49-F238E27FC236}">
                <a16:creationId xmlns:a16="http://schemas.microsoft.com/office/drawing/2014/main" id="{0B7C6669-85AB-9663-D283-8351DA19CBC0}"/>
              </a:ext>
            </a:extLst>
          </p:cNvPr>
          <p:cNvSpPr txBox="1"/>
          <p:nvPr/>
        </p:nvSpPr>
        <p:spPr>
          <a:xfrm>
            <a:off x="1185120" y="3528630"/>
            <a:ext cx="6504960" cy="3343410"/>
          </a:xfrm>
          <a:prstGeom prst="rect">
            <a:avLst/>
          </a:prstGeom>
          <a:noFill/>
          <a:ln>
            <a:noFill/>
          </a:ln>
        </p:spPr>
        <p:txBody>
          <a:bodyPr vert="horz" wrap="none" lIns="90000" tIns="46800" rIns="90000" bIns="46800" anchor="ctr" anchorCtr="0" compatLnSpc="1">
            <a:noAutofit/>
          </a:bodyPr>
          <a:lstStyle/>
          <a:p>
            <a:pPr marL="0" marR="0" lvl="0" indent="0" algn="l" defTabSz="914400" rtl="0" eaLnBrk="1" fontAlgn="auto" latinLnBrk="0" hangingPunct="1">
              <a:lnSpc>
                <a:spcPct val="100000"/>
              </a:lnSpc>
              <a:spcBef>
                <a:spcPts val="448"/>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BE" sz="1200" b="0" i="0" u="none" strike="noStrike" kern="1200" cap="none" spc="0" normalizeH="0" baseline="0" noProof="0">
              <a:ln>
                <a:noFill/>
              </a:ln>
              <a:solidFill>
                <a:srgbClr val="000000"/>
              </a:solidFill>
              <a:effectLst/>
              <a:highlight>
                <a:scrgbClr r="0" g="0" b="0">
                  <a:alpha val="0"/>
                </a:scrgbClr>
              </a:highlight>
              <a:uLnTx/>
              <a:uFillTx/>
              <a:latin typeface="Arial" pitchFamily="34"/>
              <a:ea typeface="Droid Sans Fallback" pitchFamily="2"/>
              <a:cs typeface="FreeSans" pitchFamily="2"/>
            </a:endParaRPr>
          </a:p>
        </p:txBody>
      </p:sp>
      <p:sp>
        <p:nvSpPr>
          <p:cNvPr id="8" name="Espace réservé des notes 7">
            <a:extLst>
              <a:ext uri="{FF2B5EF4-FFF2-40B4-BE49-F238E27FC236}">
                <a16:creationId xmlns:a16="http://schemas.microsoft.com/office/drawing/2014/main" id="{C13B33F0-BA0E-0695-D899-4D65F2342F5D}"/>
              </a:ext>
            </a:extLst>
          </p:cNvPr>
          <p:cNvSpPr>
            <a:spLocks noGrp="1"/>
          </p:cNvSpPr>
          <p:nvPr>
            <p:ph type="body" idx="1"/>
          </p:nvPr>
        </p:nvSpPr>
        <p:spPr/>
        <p:txBody>
          <a:bodyPr/>
          <a:lstStyle/>
          <a:p>
            <a:endParaRPr lang="fr-BE" dirty="0"/>
          </a:p>
        </p:txBody>
      </p:sp>
    </p:spTree>
    <p:extLst>
      <p:ext uri="{BB962C8B-B14F-4D97-AF65-F5344CB8AC3E}">
        <p14:creationId xmlns:p14="http://schemas.microsoft.com/office/powerpoint/2010/main" val="3242380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van </a:t>
            </a:r>
            <a:r>
              <a:rPr lang="fr-FR" sz="1200" dirty="0" err="1"/>
              <a:t>Gameren</a:t>
            </a:r>
            <a:r>
              <a:rPr lang="fr-FR" sz="1200" dirty="0"/>
              <a:t>, V., </a:t>
            </a:r>
            <a:r>
              <a:rPr lang="fr-FR" sz="1200" dirty="0" err="1"/>
              <a:t>Weikmans</a:t>
            </a:r>
            <a:r>
              <a:rPr lang="fr-FR" sz="1200" dirty="0"/>
              <a:t>, R., &amp; </a:t>
            </a:r>
            <a:r>
              <a:rPr lang="fr-FR" sz="1200" dirty="0" err="1"/>
              <a:t>Zaccai</a:t>
            </a:r>
            <a:r>
              <a:rPr lang="fr-FR" sz="1200" dirty="0"/>
              <a:t>, E. (2014). L’adaptation au changement climatique. Collection Repères. Editions La Découverte.</a:t>
            </a:r>
          </a:p>
          <a:p>
            <a:endParaRPr lang="en-B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ED0C6E-5D9F-4875-8085-FA1DCDE59967}"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9860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A Bruxelles: a</a:t>
            </a:r>
            <a:r>
              <a:rPr lang="fr-BE" sz="1200" dirty="0" err="1"/>
              <a:t>bsence</a:t>
            </a:r>
            <a:r>
              <a:rPr lang="fr-BE" sz="1200" dirty="0"/>
              <a:t> marquée d’espaces verts publics dans les zones centrales les plus densément peuplées. </a:t>
            </a:r>
          </a:p>
          <a:p>
            <a:r>
              <a:rPr lang="fr-BE" sz="1200" dirty="0"/>
              <a:t>Les zones de carences en espaces verts coïncident avec les quartiers les plus pauvres de la ville.</a:t>
            </a:r>
          </a:p>
          <a:p>
            <a:endParaRPr lang="en-B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CFD3A2-A892-4EB6-B7B7-DFA32E93600E}"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0106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5B6EDE-80EA-46BC-9B33-31B044380011}" type="slidenum">
              <a:rPr kumimoji="0" lang="fr-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fr-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5610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numéro de diapositive 7">
            <a:extLst>
              <a:ext uri="{FF2B5EF4-FFF2-40B4-BE49-F238E27FC236}">
                <a16:creationId xmlns:a16="http://schemas.microsoft.com/office/drawing/2014/main" id="{C6CB4834-33B9-F01E-0779-CB01A5C25CB8}"/>
              </a:ext>
            </a:extLst>
          </p:cNvPr>
          <p:cNvSpPr txBox="1">
            <a:spLocks noGrp="1"/>
          </p:cNvSpPr>
          <p:nvPr>
            <p:ph type="sldNum" sz="quarter" idx="5"/>
          </p:nvPr>
        </p:nvSpPr>
        <p:spPr>
          <a:ln/>
        </p:spPr>
        <p:txBody>
          <a:bodyPr vert="horz" wrap="square" lIns="95400" tIns="47880" rIns="95400" bIns="4788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E953E3-D86B-4D34-9E2C-CBA8EE1FFBED}" type="slidenum">
              <a:rPr kumimoji="0"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ZoneTexte 1">
            <a:extLst>
              <a:ext uri="{FF2B5EF4-FFF2-40B4-BE49-F238E27FC236}">
                <a16:creationId xmlns:a16="http://schemas.microsoft.com/office/drawing/2014/main" id="{19DA6BA8-1C2E-2DDB-44A5-C0D83C6404E8}"/>
              </a:ext>
            </a:extLst>
          </p:cNvPr>
          <p:cNvSpPr txBox="1"/>
          <p:nvPr/>
        </p:nvSpPr>
        <p:spPr>
          <a:xfrm>
            <a:off x="5030881" y="7056720"/>
            <a:ext cx="3850079" cy="371520"/>
          </a:xfrm>
          <a:prstGeom prst="rect">
            <a:avLst/>
          </a:prstGeom>
          <a:noFill/>
          <a:ln>
            <a:noFill/>
          </a:ln>
        </p:spPr>
        <p:txBody>
          <a:bodyPr vert="horz" wrap="square" lIns="90000" tIns="46800" rIns="90000" bIns="4680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fld id="{8C0B2946-CF2A-4638-9A68-B534ECCCB43B}" type="slidenum">
              <a:rPr kumimoji="0"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t>31</a:t>
            </a:fld>
            <a:endParaRPr kumimoji="0" lang="fr-FR" sz="1200" b="0" i="0" u="none" strike="noStrike" kern="1200" cap="none" spc="0" normalizeH="0" baseline="0" noProof="0">
              <a:ln>
                <a:noFill/>
              </a:ln>
              <a:solidFill>
                <a:srgbClr val="000000"/>
              </a:solidFill>
              <a:effectLst/>
              <a:uLnTx/>
              <a:uFillTx/>
              <a:latin typeface="Arial" pitchFamily="2"/>
              <a:ea typeface="Droid Sans Fallback" pitchFamily="2"/>
              <a:cs typeface="FreeSans" pitchFamily="2"/>
            </a:endParaRPr>
          </a:p>
        </p:txBody>
      </p:sp>
      <p:sp>
        <p:nvSpPr>
          <p:cNvPr id="3" name="ZoneTexte 2">
            <a:extLst>
              <a:ext uri="{FF2B5EF4-FFF2-40B4-BE49-F238E27FC236}">
                <a16:creationId xmlns:a16="http://schemas.microsoft.com/office/drawing/2014/main" id="{F52CD1FB-EDB8-E04D-3731-53AE4E923479}"/>
              </a:ext>
            </a:extLst>
          </p:cNvPr>
          <p:cNvSpPr txBox="1"/>
          <p:nvPr/>
        </p:nvSpPr>
        <p:spPr>
          <a:xfrm>
            <a:off x="-480" y="7056720"/>
            <a:ext cx="3850079" cy="371520"/>
          </a:xfrm>
          <a:prstGeom prst="rect">
            <a:avLst/>
          </a:prstGeom>
          <a:noFill/>
          <a:ln>
            <a:noFill/>
          </a:ln>
        </p:spPr>
        <p:txBody>
          <a:bodyPr vert="horz" wrap="square" lIns="90000" tIns="46800" rIns="90000" bIns="46800" anchor="b"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FR" sz="1200" b="0" i="0" u="none" strike="noStrike" kern="1200" cap="none" spc="0" normalizeH="0" baseline="0" noProof="0">
              <a:ln>
                <a:noFill/>
              </a:ln>
              <a:solidFill>
                <a:srgbClr val="000000"/>
              </a:solidFill>
              <a:effectLst/>
              <a:uLnTx/>
              <a:uFillTx/>
              <a:latin typeface="Arial" pitchFamily="2"/>
              <a:ea typeface="Droid Sans Fallback" pitchFamily="2"/>
              <a:cs typeface="FreeSans" pitchFamily="2"/>
            </a:endParaRPr>
          </a:p>
        </p:txBody>
      </p:sp>
      <p:sp>
        <p:nvSpPr>
          <p:cNvPr id="4" name="ZoneTexte 3">
            <a:extLst>
              <a:ext uri="{FF2B5EF4-FFF2-40B4-BE49-F238E27FC236}">
                <a16:creationId xmlns:a16="http://schemas.microsoft.com/office/drawing/2014/main" id="{D7DB6B8E-07A7-1854-AEA2-A196B7DCE192}"/>
              </a:ext>
            </a:extLst>
          </p:cNvPr>
          <p:cNvSpPr txBox="1"/>
          <p:nvPr/>
        </p:nvSpPr>
        <p:spPr>
          <a:xfrm>
            <a:off x="-480" y="0"/>
            <a:ext cx="3850079" cy="371520"/>
          </a:xfrm>
          <a:prstGeom prst="rect">
            <a:avLst/>
          </a:prstGeom>
          <a:noFill/>
          <a:ln>
            <a:noFill/>
          </a:ln>
        </p:spPr>
        <p:txBody>
          <a:bodyPr vert="horz" wrap="square" lIns="90000" tIns="46800" rIns="90000" bIns="4680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FR" sz="1200" b="0" i="0" u="none" strike="noStrike" kern="1200" cap="none" spc="0" normalizeH="0" baseline="0" noProof="0">
              <a:ln>
                <a:noFill/>
              </a:ln>
              <a:solidFill>
                <a:srgbClr val="000000"/>
              </a:solidFill>
              <a:effectLst/>
              <a:uLnTx/>
              <a:uFillTx/>
              <a:latin typeface="Arial" pitchFamily="2"/>
              <a:ea typeface="Droid Sans Fallback" pitchFamily="2"/>
              <a:cs typeface="FreeSans" pitchFamily="2"/>
            </a:endParaRPr>
          </a:p>
        </p:txBody>
      </p:sp>
      <p:sp>
        <p:nvSpPr>
          <p:cNvPr id="5" name="ZoneTexte 4">
            <a:extLst>
              <a:ext uri="{FF2B5EF4-FFF2-40B4-BE49-F238E27FC236}">
                <a16:creationId xmlns:a16="http://schemas.microsoft.com/office/drawing/2014/main" id="{B1CA2BAD-7A6F-C51D-7551-4FD448A9B5EC}"/>
              </a:ext>
            </a:extLst>
          </p:cNvPr>
          <p:cNvSpPr txBox="1"/>
          <p:nvPr/>
        </p:nvSpPr>
        <p:spPr>
          <a:xfrm>
            <a:off x="5030881" y="0"/>
            <a:ext cx="3850079" cy="371520"/>
          </a:xfrm>
          <a:prstGeom prst="rect">
            <a:avLst/>
          </a:prstGeom>
          <a:noFill/>
          <a:ln>
            <a:noFill/>
          </a:ln>
        </p:spPr>
        <p:txBody>
          <a:bodyPr vert="horz" wrap="square" lIns="90000" tIns="46800" rIns="90000" bIns="46800" anchor="t"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FR" sz="1200" b="0" i="0" u="none" strike="noStrike" kern="1200" cap="none" spc="0" normalizeH="0" baseline="0" noProof="0">
              <a:ln>
                <a:noFill/>
              </a:ln>
              <a:solidFill>
                <a:srgbClr val="000000"/>
              </a:solidFill>
              <a:effectLst/>
              <a:uLnTx/>
              <a:uFillTx/>
              <a:latin typeface="Arial" pitchFamily="2"/>
              <a:ea typeface="Droid Sans Fallback" pitchFamily="2"/>
              <a:cs typeface="FreeSans" pitchFamily="2"/>
            </a:endParaRPr>
          </a:p>
        </p:txBody>
      </p:sp>
      <p:sp>
        <p:nvSpPr>
          <p:cNvPr id="6" name="Forme libre : forme 5">
            <a:extLst>
              <a:ext uri="{FF2B5EF4-FFF2-40B4-BE49-F238E27FC236}">
                <a16:creationId xmlns:a16="http://schemas.microsoft.com/office/drawing/2014/main" id="{EE46E059-3071-0EC6-CFEC-D49E7D6F9124}"/>
              </a:ext>
            </a:extLst>
          </p:cNvPr>
          <p:cNvSpPr/>
          <p:nvPr/>
        </p:nvSpPr>
        <p:spPr>
          <a:xfrm>
            <a:off x="1140959" y="557280"/>
            <a:ext cx="6601920" cy="278721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w="9360" cap="sq">
            <a:solidFill>
              <a:srgbClr val="000000"/>
            </a:solidFill>
            <a:prstDash val="solid"/>
            <a:miter/>
          </a:ln>
        </p:spPr>
        <p:txBody>
          <a:bodyPr vert="horz" wrap="none" lIns="90000" tIns="46800" rIns="90000" bIns="4680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BE" sz="1800" b="0" i="0" u="none" strike="noStrike" kern="1200" cap="none" spc="0" normalizeH="0" baseline="0" noProof="0">
              <a:ln>
                <a:noFill/>
              </a:ln>
              <a:solidFill>
                <a:srgbClr val="000000"/>
              </a:solidFill>
              <a:effectLst/>
              <a:uLnTx/>
              <a:uFillTx/>
              <a:latin typeface="Arial" pitchFamily="2"/>
              <a:ea typeface="Droid Sans Fallback" pitchFamily="2"/>
              <a:cs typeface="FreeSans" pitchFamily="2"/>
            </a:endParaRPr>
          </a:p>
        </p:txBody>
      </p:sp>
      <p:sp>
        <p:nvSpPr>
          <p:cNvPr id="7" name="ZoneTexte 6">
            <a:extLst>
              <a:ext uri="{FF2B5EF4-FFF2-40B4-BE49-F238E27FC236}">
                <a16:creationId xmlns:a16="http://schemas.microsoft.com/office/drawing/2014/main" id="{4F50222E-F3A0-C956-670A-FE09E8A8AF7A}"/>
              </a:ext>
            </a:extLst>
          </p:cNvPr>
          <p:cNvSpPr txBox="1"/>
          <p:nvPr/>
        </p:nvSpPr>
        <p:spPr>
          <a:xfrm>
            <a:off x="1185120" y="3528630"/>
            <a:ext cx="6504960" cy="3343410"/>
          </a:xfrm>
          <a:prstGeom prst="rect">
            <a:avLst/>
          </a:prstGeom>
          <a:noFill/>
          <a:ln>
            <a:noFill/>
          </a:ln>
        </p:spPr>
        <p:txBody>
          <a:bodyPr vert="horz" wrap="none" lIns="90000" tIns="46800" rIns="90000" bIns="46800" anchor="ctr" anchorCtr="0" compatLnSpc="1">
            <a:noAutofit/>
          </a:bodyPr>
          <a:lstStyle/>
          <a:p>
            <a:pPr marL="0" marR="0" lvl="0" indent="0" algn="l" defTabSz="914400" rtl="0" eaLnBrk="1" fontAlgn="auto" latinLnBrk="0" hangingPunct="1">
              <a:lnSpc>
                <a:spcPct val="100000"/>
              </a:lnSpc>
              <a:spcBef>
                <a:spcPts val="448"/>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BE" sz="1200" b="0" i="0" u="none" strike="noStrike" kern="1200" cap="none" spc="0" normalizeH="0" baseline="0" noProof="0">
              <a:ln>
                <a:noFill/>
              </a:ln>
              <a:solidFill>
                <a:srgbClr val="000000"/>
              </a:solidFill>
              <a:effectLst/>
              <a:highlight>
                <a:scrgbClr r="0" g="0" b="0">
                  <a:alpha val="0"/>
                </a:scrgbClr>
              </a:highlight>
              <a:uLnTx/>
              <a:uFillTx/>
              <a:latin typeface="Arial" pitchFamily="34"/>
              <a:ea typeface="Droid Sans Fallback" pitchFamily="2"/>
              <a:cs typeface="FreeSans" pitchFamily="2"/>
            </a:endParaRPr>
          </a:p>
        </p:txBody>
      </p:sp>
    </p:spTree>
    <p:extLst>
      <p:ext uri="{BB962C8B-B14F-4D97-AF65-F5344CB8AC3E}">
        <p14:creationId xmlns:p14="http://schemas.microsoft.com/office/powerpoint/2010/main" val="2516696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hlinkClick r:id="rId3"/>
              </a:rPr>
              <a:t>Home | </a:t>
            </a:r>
            <a:r>
              <a:rPr lang="fr-BE" dirty="0" err="1">
                <a:hlinkClick r:id="rId3"/>
              </a:rPr>
              <a:t>Climate</a:t>
            </a:r>
            <a:r>
              <a:rPr lang="fr-BE" dirty="0">
                <a:hlinkClick r:id="rId3"/>
              </a:rPr>
              <a:t> Action Tracker</a:t>
            </a:r>
            <a:endParaRPr lang="fr-BE"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5B6EDE-80EA-46BC-9B33-31B044380011}" type="slidenum">
              <a:rPr kumimoji="0" lang="fr-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fr-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4780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770BE4-35B0-4F41-8292-9A5F27FBB016}"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51948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D4945-8CF1-4237-2D83-F8A6A128A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04E97-3325-9D6C-DA04-F1D1F1B89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EB44F7-2A20-FDEE-1891-394035E292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Brundtland Commission was chaired by former Norwegian prime minister Gro Harlem Brundtland. Politicians, civil servants, and environmental experts made up the majority of the members. Members of the commission represented 21 different nations (both developed and developing countries are included).</a:t>
            </a:r>
          </a:p>
        </p:txBody>
      </p:sp>
      <p:sp>
        <p:nvSpPr>
          <p:cNvPr id="4" name="Slide Number Placeholder 3">
            <a:extLst>
              <a:ext uri="{FF2B5EF4-FFF2-40B4-BE49-F238E27FC236}">
                <a16:creationId xmlns:a16="http://schemas.microsoft.com/office/drawing/2014/main" id="{FFB303B2-8EEF-13B2-303B-73B7AC0B86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770BE4-35B0-4F41-8292-9A5F27FBB016}"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30112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notion de perturbation anthropique du système climatique est problématique car elle néglige le fait que le changement climatique anthropique n’est ni le seul ni souvent le principal déterminant d’effets néfastes sur les systèmes humains et naturels. Il y a en effet de nombreuses raisons pouvant faire qu’une communauté ou un écosystème particulier puisse être confronté à des impacts climatiques sous un climat stationnaire – c’est-à-dire dans une situation où il n’y aurait ni changements climatiques d’origine anthropique, ni changements climatiques d’origine naturelle. Par exemple, l’occurrence d’une inondation dans une plaine inoccupée par l’homme ou dans une plaine très peuplée n’aura pas les mêmes conséquences. Nous pourrions dès lors soutenir que c’est l’occupation humaine grandissante de la plaine en question qui constitue ici la perturbation anthropique menant à des effets néfastes du changement climatique sur les</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804C30-D99B-8940-A138-59665A435517}"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10320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BE" dirty="0"/>
              <a:t>Différentes logiques d’alliance:</a:t>
            </a:r>
          </a:p>
          <a:p>
            <a:pPr marL="171450" indent="-171450">
              <a:buFontTx/>
              <a:buChar char="-"/>
            </a:pPr>
            <a:r>
              <a:rPr lang="fr-BE" dirty="0"/>
              <a:t>Régionale (AFR, Arab, </a:t>
            </a:r>
          </a:p>
          <a:p>
            <a:pPr marL="171450" indent="-171450">
              <a:buFontTx/>
              <a:buChar char="-"/>
            </a:pPr>
            <a:r>
              <a:rPr lang="fr-BE" dirty="0"/>
              <a:t>Circ. Particulières (pauvreté, vulnérabilité, économie émergente))</a:t>
            </a:r>
          </a:p>
          <a:p>
            <a:pPr marL="171450" indent="-171450">
              <a:buFontTx/>
              <a:buChar char="-"/>
            </a:pPr>
            <a:r>
              <a:rPr lang="en-US" dirty="0" err="1"/>
              <a:t>Intérêt</a:t>
            </a:r>
            <a:r>
              <a:rPr lang="en-US" dirty="0"/>
              <a:t> particulier (prod. </a:t>
            </a:r>
            <a:r>
              <a:rPr lang="en-US" dirty="0" err="1"/>
              <a:t>Pétrole</a:t>
            </a:r>
            <a:r>
              <a:rPr lang="en-US" dirty="0"/>
              <a:t>)</a:t>
            </a:r>
          </a:p>
          <a:p>
            <a:pPr marL="171450" indent="-171450">
              <a:buFontTx/>
              <a:buChar char="-"/>
            </a:pPr>
            <a:r>
              <a:rPr lang="en-US" dirty="0" err="1"/>
              <a:t>Positionnement</a:t>
            </a:r>
            <a:r>
              <a:rPr lang="en-US" dirty="0"/>
              <a:t>  (“</a:t>
            </a:r>
            <a:r>
              <a:rPr lang="en-US" dirty="0" err="1"/>
              <a:t>conservateurs</a:t>
            </a:r>
            <a:r>
              <a:rPr lang="en-US" dirty="0"/>
              <a:t>” LMDC: (1/2 pop. </a:t>
            </a:r>
            <a:r>
              <a:rPr lang="en-US" dirty="0" err="1"/>
              <a:t>mondiale</a:t>
            </a:r>
            <a:r>
              <a:rPr lang="en-US" dirty="0"/>
              <a:t>)</a:t>
            </a:r>
          </a:p>
          <a:p>
            <a:pPr marL="171450" indent="-171450">
              <a:buFontTx/>
              <a:buChar char="-"/>
            </a:pPr>
            <a:r>
              <a:rPr lang="en-US" dirty="0"/>
              <a:t>AILAC: Independent Alliance of Latin America and the</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5D625F-BA19-AE45-A9ED-032DD515701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96764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0862F-820E-02BC-3376-03D67BE354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3EA6C-B77C-9988-5A5F-09266EBF9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A3189-27D4-01C5-60E9-F2FDAA6F15AE}"/>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A865B9BF-5681-6DE7-E194-EFCA0E7430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770BE4-35B0-4F41-8292-9A5F27FBB016}"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519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4B5D68"/>
                </a:solidFill>
                <a:effectLst/>
                <a:latin typeface="Arial" panose="020B0604020202020204" pitchFamily="34" charset="0"/>
              </a:rPr>
              <a:t>Pour réaliser les objectifs de l’accord, les États signataires sont appelés à atteindre la neutralité carbone le plus vite possible (article 4). Pour ce faire, un équilibre doit être trouvé entre les émissions de gaz à effet de serre et la compensation permise par les réservoirs ou les puits de carbone, à l’image des forêts.</a:t>
            </a:r>
            <a:endParaRPr lang="en-B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770BE4-35B0-4F41-8292-9A5F27FBB016}"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062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Weikmans 2023 (Cours </a:t>
            </a:r>
            <a:r>
              <a:rPr lang="en-GB" dirty="0" err="1"/>
              <a:t>Climat</a:t>
            </a:r>
            <a:r>
              <a:rPr lang="en-GB" dirty="0"/>
              <a:t> Sciences et Politique 2022-2023)</a:t>
            </a:r>
            <a:endParaRPr lang="en-BE" dirty="0"/>
          </a:p>
          <a:p>
            <a:endParaRPr lang="en-B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770BE4-35B0-4F41-8292-9A5F27FBB016}"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08665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Weikmans 2023 (Cours </a:t>
            </a:r>
            <a:r>
              <a:rPr lang="en-GB" dirty="0" err="1"/>
              <a:t>Climat</a:t>
            </a:r>
            <a:r>
              <a:rPr lang="en-GB" dirty="0"/>
              <a:t> Sciences et Politique 2022-2023)</a:t>
            </a:r>
            <a:endParaRPr lang="en-B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770BE4-35B0-4F41-8292-9A5F27FBB016}"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17256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https://unfccc.int/news/new-synthesis-report-previews-parties-blueprint-for-decision-on-global-stocktake-at-cop28</a:t>
            </a:r>
            <a:endParaRPr lang="en-B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770BE4-35B0-4F41-8292-9A5F27FBB016}"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420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CCAD8E-5972-C6EE-21EA-301B319039C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id="{764F22E4-9546-EC30-2157-7BCF680CB0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pic>
        <p:nvPicPr>
          <p:cNvPr id="7" name="Image 10">
            <a:extLst>
              <a:ext uri="{FF2B5EF4-FFF2-40B4-BE49-F238E27FC236}">
                <a16:creationId xmlns:a16="http://schemas.microsoft.com/office/drawing/2014/main" id="{99DAAA6A-30EC-ED11-E339-537E78A9B784}"/>
              </a:ext>
            </a:extLst>
          </p:cNvPr>
          <p:cNvPicPr>
            <a:picLocks noChangeAspect="1"/>
          </p:cNvPicPr>
          <p:nvPr userDrawn="1"/>
        </p:nvPicPr>
        <p:blipFill>
          <a:blip r:embed="rId2"/>
          <a:stretch>
            <a:fillRect/>
          </a:stretch>
        </p:blipFill>
        <p:spPr>
          <a:xfrm>
            <a:off x="9482759" y="6117248"/>
            <a:ext cx="2370481" cy="709278"/>
          </a:xfrm>
          <a:prstGeom prst="rect">
            <a:avLst/>
          </a:prstGeom>
        </p:spPr>
      </p:pic>
    </p:spTree>
    <p:extLst>
      <p:ext uri="{BB962C8B-B14F-4D97-AF65-F5344CB8AC3E}">
        <p14:creationId xmlns:p14="http://schemas.microsoft.com/office/powerpoint/2010/main" val="3237520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A1661C-01E5-EED1-8F37-311E88B0BF07}"/>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31E10398-D584-8E64-31CC-F041F43FDF6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pied de page 4">
            <a:extLst>
              <a:ext uri="{FF2B5EF4-FFF2-40B4-BE49-F238E27FC236}">
                <a16:creationId xmlns:a16="http://schemas.microsoft.com/office/drawing/2014/main" id="{B6F701C0-6BD9-8355-58F7-E735516C73B1}"/>
              </a:ext>
            </a:extLst>
          </p:cNvPr>
          <p:cNvSpPr>
            <a:spLocks noGrp="1"/>
          </p:cNvSpPr>
          <p:nvPr>
            <p:ph type="ftr" sz="quarter" idx="11"/>
          </p:nvPr>
        </p:nvSpPr>
        <p:spPr/>
        <p:txBody>
          <a:bodyPr/>
          <a:lstStyle/>
          <a:p>
            <a:endParaRPr lang="fr-BE" dirty="0"/>
          </a:p>
        </p:txBody>
      </p:sp>
    </p:spTree>
    <p:extLst>
      <p:ext uri="{BB962C8B-B14F-4D97-AF65-F5344CB8AC3E}">
        <p14:creationId xmlns:p14="http://schemas.microsoft.com/office/powerpoint/2010/main" val="368816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2BCEEB-B6B1-2A63-32A2-5C5AA75768F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id="{B0B5E457-2A57-AC56-7FD8-727015456E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5" name="Espace réservé du pied de page 4">
            <a:extLst>
              <a:ext uri="{FF2B5EF4-FFF2-40B4-BE49-F238E27FC236}">
                <a16:creationId xmlns:a16="http://schemas.microsoft.com/office/drawing/2014/main" id="{F84ACB9F-8D3C-7358-17A2-712AF7D834BB}"/>
              </a:ext>
            </a:extLst>
          </p:cNvPr>
          <p:cNvSpPr>
            <a:spLocks noGrp="1"/>
          </p:cNvSpPr>
          <p:nvPr>
            <p:ph type="ftr" sz="quarter" idx="11"/>
          </p:nvPr>
        </p:nvSpPr>
        <p:spPr/>
        <p:txBody>
          <a:bodyPr/>
          <a:lstStyle/>
          <a:p>
            <a:endParaRPr lang="fr-BE"/>
          </a:p>
        </p:txBody>
      </p:sp>
    </p:spTree>
    <p:extLst>
      <p:ext uri="{BB962C8B-B14F-4D97-AF65-F5344CB8AC3E}">
        <p14:creationId xmlns:p14="http://schemas.microsoft.com/office/powerpoint/2010/main" val="2080251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37B2FF-69AA-FF79-6DA3-0702F532FBFB}"/>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E916E7B2-1013-078D-2D6E-0831ABDDD14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id="{7F53D5B2-1D2B-ED4C-6A41-D54761ECD3A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a:extLst>
              <a:ext uri="{FF2B5EF4-FFF2-40B4-BE49-F238E27FC236}">
                <a16:creationId xmlns:a16="http://schemas.microsoft.com/office/drawing/2014/main" id="{20C7FB48-9D40-E1AE-8620-B8E8775A5A9D}"/>
              </a:ext>
            </a:extLst>
          </p:cNvPr>
          <p:cNvSpPr>
            <a:spLocks noGrp="1"/>
          </p:cNvSpPr>
          <p:nvPr>
            <p:ph type="ftr" sz="quarter" idx="11"/>
          </p:nvPr>
        </p:nvSpPr>
        <p:spPr/>
        <p:txBody>
          <a:bodyPr/>
          <a:lstStyle/>
          <a:p>
            <a:endParaRPr lang="fr-BE"/>
          </a:p>
        </p:txBody>
      </p:sp>
    </p:spTree>
    <p:extLst>
      <p:ext uri="{BB962C8B-B14F-4D97-AF65-F5344CB8AC3E}">
        <p14:creationId xmlns:p14="http://schemas.microsoft.com/office/powerpoint/2010/main" val="2643615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AD4460-9282-7434-4F31-5A22EE90A885}"/>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B05E9A5E-9EF0-C4DD-0EB1-664E5BD176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F335042-5C99-4379-C4EF-F6F02296AAB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id="{7EE6827A-42E2-BAF6-7E16-4DFE0677CF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9032EDB-950B-95C1-4375-74D6CF63C7C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8" name="Espace réservé du pied de page 7">
            <a:extLst>
              <a:ext uri="{FF2B5EF4-FFF2-40B4-BE49-F238E27FC236}">
                <a16:creationId xmlns:a16="http://schemas.microsoft.com/office/drawing/2014/main" id="{7FE30B92-EBC3-C643-0225-5286AF228C3A}"/>
              </a:ext>
            </a:extLst>
          </p:cNvPr>
          <p:cNvSpPr>
            <a:spLocks noGrp="1"/>
          </p:cNvSpPr>
          <p:nvPr>
            <p:ph type="ftr" sz="quarter" idx="11"/>
          </p:nvPr>
        </p:nvSpPr>
        <p:spPr/>
        <p:txBody>
          <a:bodyPr/>
          <a:lstStyle/>
          <a:p>
            <a:endParaRPr lang="fr-BE"/>
          </a:p>
        </p:txBody>
      </p:sp>
    </p:spTree>
    <p:extLst>
      <p:ext uri="{BB962C8B-B14F-4D97-AF65-F5344CB8AC3E}">
        <p14:creationId xmlns:p14="http://schemas.microsoft.com/office/powerpoint/2010/main" val="13966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AB4CE6-A2B3-9A46-6E57-89CA6E5D1573}"/>
              </a:ext>
            </a:extLst>
          </p:cNvPr>
          <p:cNvSpPr>
            <a:spLocks noGrp="1"/>
          </p:cNvSpPr>
          <p:nvPr>
            <p:ph type="title"/>
          </p:nvPr>
        </p:nvSpPr>
        <p:spPr/>
        <p:txBody>
          <a:bodyPr/>
          <a:lstStyle/>
          <a:p>
            <a:r>
              <a:rPr lang="fr-FR"/>
              <a:t>Modifiez le style du titre</a:t>
            </a:r>
            <a:endParaRPr lang="fr-BE"/>
          </a:p>
        </p:txBody>
      </p:sp>
      <p:sp>
        <p:nvSpPr>
          <p:cNvPr id="4" name="Espace réservé du pied de page 3">
            <a:extLst>
              <a:ext uri="{FF2B5EF4-FFF2-40B4-BE49-F238E27FC236}">
                <a16:creationId xmlns:a16="http://schemas.microsoft.com/office/drawing/2014/main" id="{3D1738B3-9F68-B916-BF91-CADD1EABB0CB}"/>
              </a:ext>
            </a:extLst>
          </p:cNvPr>
          <p:cNvSpPr>
            <a:spLocks noGrp="1"/>
          </p:cNvSpPr>
          <p:nvPr>
            <p:ph type="ftr" sz="quarter" idx="11"/>
          </p:nvPr>
        </p:nvSpPr>
        <p:spPr/>
        <p:txBody>
          <a:bodyPr/>
          <a:lstStyle/>
          <a:p>
            <a:endParaRPr lang="fr-BE"/>
          </a:p>
        </p:txBody>
      </p:sp>
    </p:spTree>
    <p:extLst>
      <p:ext uri="{BB962C8B-B14F-4D97-AF65-F5344CB8AC3E}">
        <p14:creationId xmlns:p14="http://schemas.microsoft.com/office/powerpoint/2010/main" val="2324129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054A76F4-D0A4-3431-ACB1-FEEFEC3BC2C9}"/>
              </a:ext>
            </a:extLst>
          </p:cNvPr>
          <p:cNvSpPr>
            <a:spLocks noGrp="1"/>
          </p:cNvSpPr>
          <p:nvPr>
            <p:ph type="ftr" sz="quarter" idx="11"/>
          </p:nvPr>
        </p:nvSpPr>
        <p:spPr/>
        <p:txBody>
          <a:bodyPr/>
          <a:lstStyle/>
          <a:p>
            <a:endParaRPr lang="fr-BE" dirty="0"/>
          </a:p>
        </p:txBody>
      </p:sp>
    </p:spTree>
    <p:extLst>
      <p:ext uri="{BB962C8B-B14F-4D97-AF65-F5344CB8AC3E}">
        <p14:creationId xmlns:p14="http://schemas.microsoft.com/office/powerpoint/2010/main" val="4231896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BEA3C-F52A-59EB-C61C-C73CBF87835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id="{63239C5B-EAA5-C2D7-38A1-5927E7D09D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id="{183BB891-88EB-501F-4AB6-EC30C36B2D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6" name="Espace réservé du pied de page 5">
            <a:extLst>
              <a:ext uri="{FF2B5EF4-FFF2-40B4-BE49-F238E27FC236}">
                <a16:creationId xmlns:a16="http://schemas.microsoft.com/office/drawing/2014/main" id="{877A6D66-7007-18CD-273D-95EA318EE768}"/>
              </a:ext>
            </a:extLst>
          </p:cNvPr>
          <p:cNvSpPr>
            <a:spLocks noGrp="1"/>
          </p:cNvSpPr>
          <p:nvPr>
            <p:ph type="ftr" sz="quarter" idx="11"/>
          </p:nvPr>
        </p:nvSpPr>
        <p:spPr/>
        <p:txBody>
          <a:bodyPr/>
          <a:lstStyle/>
          <a:p>
            <a:endParaRPr lang="fr-BE"/>
          </a:p>
        </p:txBody>
      </p:sp>
    </p:spTree>
    <p:extLst>
      <p:ext uri="{BB962C8B-B14F-4D97-AF65-F5344CB8AC3E}">
        <p14:creationId xmlns:p14="http://schemas.microsoft.com/office/powerpoint/2010/main" val="3402104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7A6754-E2E4-0DDF-513F-165E237C002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id="{26E04DF0-5DC8-C95F-2C29-502A8B73FA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id="{5153D05A-D49C-6E1B-79D9-2D1F0B04B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6" name="Espace réservé du pied de page 5">
            <a:extLst>
              <a:ext uri="{FF2B5EF4-FFF2-40B4-BE49-F238E27FC236}">
                <a16:creationId xmlns:a16="http://schemas.microsoft.com/office/drawing/2014/main" id="{DEB44E4A-7463-1F43-6327-660CCBEC5633}"/>
              </a:ext>
            </a:extLst>
          </p:cNvPr>
          <p:cNvSpPr>
            <a:spLocks noGrp="1"/>
          </p:cNvSpPr>
          <p:nvPr>
            <p:ph type="ftr" sz="quarter" idx="11"/>
          </p:nvPr>
        </p:nvSpPr>
        <p:spPr/>
        <p:txBody>
          <a:bodyPr/>
          <a:lstStyle/>
          <a:p>
            <a:endParaRPr lang="fr-BE"/>
          </a:p>
        </p:txBody>
      </p:sp>
    </p:spTree>
    <p:extLst>
      <p:ext uri="{BB962C8B-B14F-4D97-AF65-F5344CB8AC3E}">
        <p14:creationId xmlns:p14="http://schemas.microsoft.com/office/powerpoint/2010/main" val="158019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89CB29-074B-B73E-827B-2731339416AA}"/>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37F42DD7-193E-CBBB-E253-6BBCE8D365F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pied de page 4">
            <a:extLst>
              <a:ext uri="{FF2B5EF4-FFF2-40B4-BE49-F238E27FC236}">
                <a16:creationId xmlns:a16="http://schemas.microsoft.com/office/drawing/2014/main" id="{F2AF599E-3DC7-2AE9-DFA3-E19B1F86BC98}"/>
              </a:ext>
            </a:extLst>
          </p:cNvPr>
          <p:cNvSpPr>
            <a:spLocks noGrp="1"/>
          </p:cNvSpPr>
          <p:nvPr>
            <p:ph type="ftr" sz="quarter" idx="11"/>
          </p:nvPr>
        </p:nvSpPr>
        <p:spPr/>
        <p:txBody>
          <a:bodyPr/>
          <a:lstStyle/>
          <a:p>
            <a:endParaRPr lang="fr-BE"/>
          </a:p>
        </p:txBody>
      </p:sp>
    </p:spTree>
    <p:extLst>
      <p:ext uri="{BB962C8B-B14F-4D97-AF65-F5344CB8AC3E}">
        <p14:creationId xmlns:p14="http://schemas.microsoft.com/office/powerpoint/2010/main" val="1165048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8AA4057-A338-EB7C-52D5-8A1A5C133703}"/>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D06BFD67-DB51-88BB-1DAE-FDD605AC807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564C6188-0127-0E19-3377-0C6CDB4DAE9E}"/>
              </a:ext>
            </a:extLst>
          </p:cNvPr>
          <p:cNvSpPr>
            <a:spLocks noGrp="1"/>
          </p:cNvSpPr>
          <p:nvPr>
            <p:ph type="dt" sz="half" idx="10"/>
          </p:nvPr>
        </p:nvSpPr>
        <p:spPr>
          <a:xfrm>
            <a:off x="838200" y="6356350"/>
            <a:ext cx="2743200" cy="365125"/>
          </a:xfrm>
          <a:prstGeom prst="rect">
            <a:avLst/>
          </a:prstGeom>
        </p:spPr>
        <p:txBody>
          <a:bodyPr/>
          <a:lstStyle/>
          <a:p>
            <a:fld id="{3C82437A-6817-4D50-B836-CD0E5D6EB1BA}" type="datetimeFigureOut">
              <a:rPr lang="fr-BE" smtClean="0"/>
              <a:t>9/06/26</a:t>
            </a:fld>
            <a:endParaRPr lang="fr-BE"/>
          </a:p>
        </p:txBody>
      </p:sp>
      <p:sp>
        <p:nvSpPr>
          <p:cNvPr id="5" name="Espace réservé du pied de page 4">
            <a:extLst>
              <a:ext uri="{FF2B5EF4-FFF2-40B4-BE49-F238E27FC236}">
                <a16:creationId xmlns:a16="http://schemas.microsoft.com/office/drawing/2014/main" id="{8B09E72D-642D-8134-5260-53625BB682AF}"/>
              </a:ext>
            </a:extLst>
          </p:cNvPr>
          <p:cNvSpPr>
            <a:spLocks noGrp="1"/>
          </p:cNvSpPr>
          <p:nvPr>
            <p:ph type="ftr" sz="quarter" idx="11"/>
          </p:nvPr>
        </p:nvSpPr>
        <p:spPr/>
        <p:txBody>
          <a:bodyPr/>
          <a:lstStyle/>
          <a:p>
            <a:endParaRPr lang="fr-BE"/>
          </a:p>
        </p:txBody>
      </p:sp>
    </p:spTree>
    <p:extLst>
      <p:ext uri="{BB962C8B-B14F-4D97-AF65-F5344CB8AC3E}">
        <p14:creationId xmlns:p14="http://schemas.microsoft.com/office/powerpoint/2010/main" val="3673895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subtitle + 2 tex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4F3D3-E8B3-F8F4-0E5E-AA750CD1A233}"/>
              </a:ext>
            </a:extLst>
          </p:cNvPr>
          <p:cNvSpPr>
            <a:spLocks noGrp="1"/>
          </p:cNvSpPr>
          <p:nvPr>
            <p:ph type="title" hasCustomPrompt="1"/>
          </p:nvPr>
        </p:nvSpPr>
        <p:spPr>
          <a:xfrm>
            <a:off x="838200" y="1302425"/>
            <a:ext cx="10515600" cy="1325563"/>
          </a:xfrm>
        </p:spPr>
        <p:txBody>
          <a:bodyPr>
            <a:normAutofit/>
          </a:bodyPr>
          <a:lstStyle>
            <a:lvl1pPr>
              <a:defRPr sz="4000"/>
            </a:lvl1pPr>
          </a:lstStyle>
          <a:p>
            <a:r>
              <a:rPr lang="en-GB" dirty="0"/>
              <a:t>Title of the slide</a:t>
            </a:r>
            <a:endParaRPr lang="en-BE" dirty="0"/>
          </a:p>
        </p:txBody>
      </p:sp>
      <p:cxnSp>
        <p:nvCxnSpPr>
          <p:cNvPr id="10" name="Straight Connector 9">
            <a:extLst>
              <a:ext uri="{FF2B5EF4-FFF2-40B4-BE49-F238E27FC236}">
                <a16:creationId xmlns:a16="http://schemas.microsoft.com/office/drawing/2014/main" id="{E11AE5CB-7A4A-86EA-9734-02376B6E756B}"/>
              </a:ext>
            </a:extLst>
          </p:cNvPr>
          <p:cNvCxnSpPr/>
          <p:nvPr userDrawn="1"/>
        </p:nvCxnSpPr>
        <p:spPr>
          <a:xfrm>
            <a:off x="838200" y="2969456"/>
            <a:ext cx="10515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2A814D7-B3E0-352C-3DF3-2E699428C003}"/>
              </a:ext>
            </a:extLst>
          </p:cNvPr>
          <p:cNvSpPr/>
          <p:nvPr userDrawn="1"/>
        </p:nvSpPr>
        <p:spPr>
          <a:xfrm>
            <a:off x="9813022" y="0"/>
            <a:ext cx="787293" cy="10410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5" name="Rectangle 14">
            <a:extLst>
              <a:ext uri="{FF2B5EF4-FFF2-40B4-BE49-F238E27FC236}">
                <a16:creationId xmlns:a16="http://schemas.microsoft.com/office/drawing/2014/main" id="{E354FA6F-CADE-EBCB-D527-6BC2D5357E12}"/>
              </a:ext>
            </a:extLst>
          </p:cNvPr>
          <p:cNvSpPr/>
          <p:nvPr userDrawn="1"/>
        </p:nvSpPr>
        <p:spPr>
          <a:xfrm>
            <a:off x="10727529" y="0"/>
            <a:ext cx="787293" cy="10410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Text Placeholder 2">
            <a:extLst>
              <a:ext uri="{FF2B5EF4-FFF2-40B4-BE49-F238E27FC236}">
                <a16:creationId xmlns:a16="http://schemas.microsoft.com/office/drawing/2014/main" id="{3D42D6F2-4D89-1978-7FBF-B5AC31667ED6}"/>
              </a:ext>
            </a:extLst>
          </p:cNvPr>
          <p:cNvSpPr>
            <a:spLocks noGrp="1"/>
          </p:cNvSpPr>
          <p:nvPr>
            <p:ph type="body" idx="11" hasCustomPrompt="1"/>
          </p:nvPr>
        </p:nvSpPr>
        <p:spPr>
          <a:xfrm>
            <a:off x="838199" y="2272847"/>
            <a:ext cx="10509251" cy="570589"/>
          </a:xfrm>
        </p:spPr>
        <p:txBody>
          <a:bodyPr>
            <a:normAutofit/>
          </a:bodyPr>
          <a:lstStyle>
            <a:lvl1pPr marL="0" indent="0">
              <a:lnSpc>
                <a:spcPct val="130000"/>
              </a:lnSpc>
              <a:buNone/>
              <a:defRPr sz="2000" b="0" i="1">
                <a:solidFill>
                  <a:schemeClr val="tx1"/>
                </a:solidFill>
                <a:latin typeface="Archivo" pitchFamily="2" charset="77"/>
                <a:cs typeface="Archivo"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Subtitle of the slide</a:t>
            </a:r>
          </a:p>
        </p:txBody>
      </p:sp>
      <p:sp>
        <p:nvSpPr>
          <p:cNvPr id="4" name="Text Placeholder 2">
            <a:extLst>
              <a:ext uri="{FF2B5EF4-FFF2-40B4-BE49-F238E27FC236}">
                <a16:creationId xmlns:a16="http://schemas.microsoft.com/office/drawing/2014/main" id="{ED48BE93-04BE-EF55-A723-80F4133B1588}"/>
              </a:ext>
            </a:extLst>
          </p:cNvPr>
          <p:cNvSpPr>
            <a:spLocks noGrp="1"/>
          </p:cNvSpPr>
          <p:nvPr>
            <p:ph type="body" idx="10" hasCustomPrompt="1"/>
          </p:nvPr>
        </p:nvSpPr>
        <p:spPr>
          <a:xfrm>
            <a:off x="831850" y="3296655"/>
            <a:ext cx="5073294" cy="2792996"/>
          </a:xfrm>
        </p:spPr>
        <p:txBody>
          <a:bodyPr>
            <a:normAutofit/>
          </a:bodyPr>
          <a:lstStyle>
            <a:lvl1pPr marL="0" indent="0">
              <a:lnSpc>
                <a:spcPct val="140000"/>
              </a:lnSpc>
              <a:buNone/>
              <a:defRPr sz="1800" b="0" i="0">
                <a:solidFill>
                  <a:schemeClr val="tx1"/>
                </a:solidFill>
                <a:latin typeface="Archivo Light" pitchFamily="2" charset="77"/>
                <a:cs typeface="Archivo Light"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Enter your text</a:t>
            </a:r>
          </a:p>
        </p:txBody>
      </p:sp>
      <p:sp>
        <p:nvSpPr>
          <p:cNvPr id="5" name="Text Placeholder 2">
            <a:extLst>
              <a:ext uri="{FF2B5EF4-FFF2-40B4-BE49-F238E27FC236}">
                <a16:creationId xmlns:a16="http://schemas.microsoft.com/office/drawing/2014/main" id="{AF51BCFD-090E-CF59-DE27-782BD49312F1}"/>
              </a:ext>
            </a:extLst>
          </p:cNvPr>
          <p:cNvSpPr>
            <a:spLocks noGrp="1"/>
          </p:cNvSpPr>
          <p:nvPr>
            <p:ph type="body" idx="12" hasCustomPrompt="1"/>
          </p:nvPr>
        </p:nvSpPr>
        <p:spPr>
          <a:xfrm>
            <a:off x="6284067" y="3296655"/>
            <a:ext cx="5073294" cy="2792996"/>
          </a:xfrm>
        </p:spPr>
        <p:txBody>
          <a:bodyPr>
            <a:normAutofit/>
          </a:bodyPr>
          <a:lstStyle>
            <a:lvl1pPr marL="0" indent="0">
              <a:lnSpc>
                <a:spcPct val="140000"/>
              </a:lnSpc>
              <a:buNone/>
              <a:defRPr sz="1800" b="0" i="0">
                <a:solidFill>
                  <a:schemeClr val="tx1"/>
                </a:solidFill>
                <a:latin typeface="Archivo Light" pitchFamily="2" charset="77"/>
                <a:cs typeface="Archivo Light"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Enter your text</a:t>
            </a:r>
          </a:p>
        </p:txBody>
      </p:sp>
    </p:spTree>
    <p:extLst>
      <p:ext uri="{BB962C8B-B14F-4D97-AF65-F5344CB8AC3E}">
        <p14:creationId xmlns:p14="http://schemas.microsoft.com/office/powerpoint/2010/main" val="2259974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subtitle +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4F3D3-E8B3-F8F4-0E5E-AA750CD1A233}"/>
              </a:ext>
            </a:extLst>
          </p:cNvPr>
          <p:cNvSpPr>
            <a:spLocks noGrp="1"/>
          </p:cNvSpPr>
          <p:nvPr>
            <p:ph type="title" hasCustomPrompt="1"/>
          </p:nvPr>
        </p:nvSpPr>
        <p:spPr>
          <a:xfrm>
            <a:off x="838200" y="1302425"/>
            <a:ext cx="10515600" cy="1325563"/>
          </a:xfrm>
        </p:spPr>
        <p:txBody>
          <a:bodyPr>
            <a:normAutofit/>
          </a:bodyPr>
          <a:lstStyle>
            <a:lvl1pPr>
              <a:defRPr sz="4000"/>
            </a:lvl1pPr>
          </a:lstStyle>
          <a:p>
            <a:r>
              <a:rPr lang="en-GB" dirty="0"/>
              <a:t>Title of the slide</a:t>
            </a:r>
            <a:endParaRPr lang="en-BE" dirty="0"/>
          </a:p>
        </p:txBody>
      </p:sp>
      <p:cxnSp>
        <p:nvCxnSpPr>
          <p:cNvPr id="10" name="Straight Connector 9">
            <a:extLst>
              <a:ext uri="{FF2B5EF4-FFF2-40B4-BE49-F238E27FC236}">
                <a16:creationId xmlns:a16="http://schemas.microsoft.com/office/drawing/2014/main" id="{E11AE5CB-7A4A-86EA-9734-02376B6E756B}"/>
              </a:ext>
            </a:extLst>
          </p:cNvPr>
          <p:cNvCxnSpPr/>
          <p:nvPr userDrawn="1"/>
        </p:nvCxnSpPr>
        <p:spPr>
          <a:xfrm>
            <a:off x="838200" y="2969456"/>
            <a:ext cx="10515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9DCE5EEF-4798-DFF9-C9CD-DDC52930BA14}"/>
              </a:ext>
            </a:extLst>
          </p:cNvPr>
          <p:cNvSpPr>
            <a:spLocks noGrp="1"/>
          </p:cNvSpPr>
          <p:nvPr>
            <p:ph type="body" idx="10" hasCustomPrompt="1"/>
          </p:nvPr>
        </p:nvSpPr>
        <p:spPr>
          <a:xfrm>
            <a:off x="831850" y="3296655"/>
            <a:ext cx="10515600" cy="2792996"/>
          </a:xfrm>
        </p:spPr>
        <p:txBody>
          <a:bodyPr>
            <a:normAutofit/>
          </a:bodyPr>
          <a:lstStyle>
            <a:lvl1pPr marL="0" indent="0">
              <a:lnSpc>
                <a:spcPct val="140000"/>
              </a:lnSpc>
              <a:buNone/>
              <a:defRPr sz="1800" b="0" i="0">
                <a:solidFill>
                  <a:schemeClr val="tx1"/>
                </a:solidFill>
                <a:latin typeface="Archivo Light" pitchFamily="2" charset="77"/>
                <a:cs typeface="Archivo Light"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Enter your text</a:t>
            </a:r>
          </a:p>
        </p:txBody>
      </p:sp>
      <p:sp>
        <p:nvSpPr>
          <p:cNvPr id="14" name="Rectangle 13">
            <a:extLst>
              <a:ext uri="{FF2B5EF4-FFF2-40B4-BE49-F238E27FC236}">
                <a16:creationId xmlns:a16="http://schemas.microsoft.com/office/drawing/2014/main" id="{B2A814D7-B3E0-352C-3DF3-2E699428C003}"/>
              </a:ext>
            </a:extLst>
          </p:cNvPr>
          <p:cNvSpPr/>
          <p:nvPr userDrawn="1"/>
        </p:nvSpPr>
        <p:spPr>
          <a:xfrm>
            <a:off x="9813022" y="0"/>
            <a:ext cx="787293" cy="10410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5" name="Rectangle 14">
            <a:extLst>
              <a:ext uri="{FF2B5EF4-FFF2-40B4-BE49-F238E27FC236}">
                <a16:creationId xmlns:a16="http://schemas.microsoft.com/office/drawing/2014/main" id="{E354FA6F-CADE-EBCB-D527-6BC2D5357E12}"/>
              </a:ext>
            </a:extLst>
          </p:cNvPr>
          <p:cNvSpPr/>
          <p:nvPr userDrawn="1"/>
        </p:nvSpPr>
        <p:spPr>
          <a:xfrm>
            <a:off x="10727529" y="0"/>
            <a:ext cx="787293" cy="10410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Text Placeholder 2">
            <a:extLst>
              <a:ext uri="{FF2B5EF4-FFF2-40B4-BE49-F238E27FC236}">
                <a16:creationId xmlns:a16="http://schemas.microsoft.com/office/drawing/2014/main" id="{3D42D6F2-4D89-1978-7FBF-B5AC31667ED6}"/>
              </a:ext>
            </a:extLst>
          </p:cNvPr>
          <p:cNvSpPr>
            <a:spLocks noGrp="1"/>
          </p:cNvSpPr>
          <p:nvPr>
            <p:ph type="body" idx="11" hasCustomPrompt="1"/>
          </p:nvPr>
        </p:nvSpPr>
        <p:spPr>
          <a:xfrm>
            <a:off x="838199" y="2272847"/>
            <a:ext cx="10509251" cy="570589"/>
          </a:xfrm>
        </p:spPr>
        <p:txBody>
          <a:bodyPr>
            <a:normAutofit/>
          </a:bodyPr>
          <a:lstStyle>
            <a:lvl1pPr marL="0" indent="0">
              <a:lnSpc>
                <a:spcPct val="130000"/>
              </a:lnSpc>
              <a:buNone/>
              <a:defRPr sz="2000" b="0" i="1">
                <a:solidFill>
                  <a:schemeClr val="tx1"/>
                </a:solidFill>
                <a:latin typeface="Archivo" pitchFamily="2" charset="77"/>
                <a:cs typeface="Archivo"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Subtitle of the slide</a:t>
            </a:r>
          </a:p>
        </p:txBody>
      </p:sp>
    </p:spTree>
    <p:extLst>
      <p:ext uri="{BB962C8B-B14F-4D97-AF65-F5344CB8AC3E}">
        <p14:creationId xmlns:p14="http://schemas.microsoft.com/office/powerpoint/2010/main" val="2900714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sp>
        <p:nvSpPr>
          <p:cNvPr id="32" name="Google Shape;32;p5"/>
          <p:cNvSpPr txBox="1">
            <a:spLocks noGrp="1"/>
          </p:cNvSpPr>
          <p:nvPr>
            <p:ph type="title"/>
          </p:nvPr>
        </p:nvSpPr>
        <p:spPr>
          <a:xfrm>
            <a:off x="3200333" y="767933"/>
            <a:ext cx="8428800" cy="847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5"/>
          <p:cNvSpPr txBox="1">
            <a:spLocks noGrp="1"/>
          </p:cNvSpPr>
          <p:nvPr>
            <p:ph type="body" idx="1"/>
          </p:nvPr>
        </p:nvSpPr>
        <p:spPr>
          <a:xfrm>
            <a:off x="3200404" y="2136900"/>
            <a:ext cx="4095200" cy="4003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4" name="Google Shape;34;p5"/>
          <p:cNvSpPr txBox="1">
            <a:spLocks noGrp="1"/>
          </p:cNvSpPr>
          <p:nvPr>
            <p:ph type="body" idx="2"/>
          </p:nvPr>
        </p:nvSpPr>
        <p:spPr>
          <a:xfrm>
            <a:off x="7534096" y="2136900"/>
            <a:ext cx="4095200" cy="4003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Tree>
    <p:extLst>
      <p:ext uri="{BB962C8B-B14F-4D97-AF65-F5344CB8AC3E}">
        <p14:creationId xmlns:p14="http://schemas.microsoft.com/office/powerpoint/2010/main" val="35141489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re + tex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4F3D3-E8B3-F8F4-0E5E-AA750CD1A233}"/>
              </a:ext>
            </a:extLst>
          </p:cNvPr>
          <p:cNvSpPr>
            <a:spLocks noGrp="1"/>
          </p:cNvSpPr>
          <p:nvPr>
            <p:ph type="title" hasCustomPrompt="1"/>
          </p:nvPr>
        </p:nvSpPr>
        <p:spPr>
          <a:xfrm>
            <a:off x="838200" y="1302425"/>
            <a:ext cx="10515600" cy="1325563"/>
          </a:xfrm>
        </p:spPr>
        <p:txBody>
          <a:bodyPr>
            <a:normAutofit/>
          </a:bodyPr>
          <a:lstStyle>
            <a:lvl1pPr>
              <a:defRPr sz="4000"/>
            </a:lvl1pPr>
          </a:lstStyle>
          <a:p>
            <a:r>
              <a:rPr lang="en-GB" dirty="0"/>
              <a:t>Titre du slide</a:t>
            </a:r>
            <a:endParaRPr lang="en-BE" dirty="0"/>
          </a:p>
        </p:txBody>
      </p:sp>
      <p:sp>
        <p:nvSpPr>
          <p:cNvPr id="9" name="Text Placeholder 2">
            <a:extLst>
              <a:ext uri="{FF2B5EF4-FFF2-40B4-BE49-F238E27FC236}">
                <a16:creationId xmlns:a16="http://schemas.microsoft.com/office/drawing/2014/main" id="{A9923DF2-D9DC-49AD-20CA-88E7A21979F8}"/>
              </a:ext>
            </a:extLst>
          </p:cNvPr>
          <p:cNvSpPr>
            <a:spLocks noGrp="1"/>
          </p:cNvSpPr>
          <p:nvPr>
            <p:ph type="body" idx="1" hasCustomPrompt="1"/>
          </p:nvPr>
        </p:nvSpPr>
        <p:spPr>
          <a:xfrm>
            <a:off x="831850" y="446198"/>
            <a:ext cx="8500157" cy="277133"/>
          </a:xfrm>
        </p:spPr>
        <p:txBody>
          <a:bodyPr>
            <a:noAutofit/>
          </a:bodyPr>
          <a:lstStyle>
            <a:lvl1pPr marL="0" indent="0">
              <a:buNone/>
              <a:defRPr sz="1600" b="0" i="1">
                <a:solidFill>
                  <a:schemeClr val="tx1"/>
                </a:solidFill>
                <a:latin typeface="Archivo Light" pitchFamily="2" charset="77"/>
                <a:cs typeface="Archivo Light"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Titre du </a:t>
            </a:r>
            <a:r>
              <a:rPr lang="en-GB" dirty="0" err="1"/>
              <a:t>chapitre</a:t>
            </a:r>
            <a:r>
              <a:rPr lang="en-GB" dirty="0"/>
              <a:t> </a:t>
            </a:r>
            <a:r>
              <a:rPr lang="en-GB" dirty="0" err="1"/>
              <a:t>en</a:t>
            </a:r>
            <a:r>
              <a:rPr lang="en-GB" dirty="0"/>
              <a:t> </a:t>
            </a:r>
            <a:r>
              <a:rPr lang="en-GB" dirty="0" err="1"/>
              <a:t>cours</a:t>
            </a:r>
            <a:endParaRPr lang="en-GB" dirty="0"/>
          </a:p>
        </p:txBody>
      </p:sp>
      <p:sp>
        <p:nvSpPr>
          <p:cNvPr id="12" name="Text Placeholder 2">
            <a:extLst>
              <a:ext uri="{FF2B5EF4-FFF2-40B4-BE49-F238E27FC236}">
                <a16:creationId xmlns:a16="http://schemas.microsoft.com/office/drawing/2014/main" id="{9DCE5EEF-4798-DFF9-C9CD-DDC52930BA14}"/>
              </a:ext>
            </a:extLst>
          </p:cNvPr>
          <p:cNvSpPr>
            <a:spLocks noGrp="1"/>
          </p:cNvSpPr>
          <p:nvPr>
            <p:ph type="body" idx="10" hasCustomPrompt="1"/>
          </p:nvPr>
        </p:nvSpPr>
        <p:spPr>
          <a:xfrm>
            <a:off x="831850" y="2993572"/>
            <a:ext cx="10515600" cy="3096079"/>
          </a:xfrm>
        </p:spPr>
        <p:txBody>
          <a:bodyPr>
            <a:normAutofit/>
          </a:bodyPr>
          <a:lstStyle>
            <a:lvl1pPr marL="0" indent="0">
              <a:lnSpc>
                <a:spcPct val="140000"/>
              </a:lnSpc>
              <a:buNone/>
              <a:defRPr sz="1800" b="0" i="0">
                <a:solidFill>
                  <a:schemeClr val="tx1"/>
                </a:solidFill>
                <a:latin typeface="Archivo Light" pitchFamily="2" charset="77"/>
                <a:cs typeface="Archivo Light"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Entrez </a:t>
            </a:r>
            <a:r>
              <a:rPr lang="en-GB" dirty="0" err="1"/>
              <a:t>votre</a:t>
            </a:r>
            <a:r>
              <a:rPr lang="en-GB" dirty="0"/>
              <a:t> </a:t>
            </a:r>
            <a:r>
              <a:rPr lang="en-GB" dirty="0" err="1"/>
              <a:t>texte</a:t>
            </a:r>
            <a:endParaRPr lang="en-GB" dirty="0"/>
          </a:p>
        </p:txBody>
      </p:sp>
      <p:sp>
        <p:nvSpPr>
          <p:cNvPr id="14" name="Rectangle 13">
            <a:extLst>
              <a:ext uri="{FF2B5EF4-FFF2-40B4-BE49-F238E27FC236}">
                <a16:creationId xmlns:a16="http://schemas.microsoft.com/office/drawing/2014/main" id="{B2A814D7-B3E0-352C-3DF3-2E699428C003}"/>
              </a:ext>
            </a:extLst>
          </p:cNvPr>
          <p:cNvSpPr/>
          <p:nvPr userDrawn="1"/>
        </p:nvSpPr>
        <p:spPr>
          <a:xfrm>
            <a:off x="9813022" y="0"/>
            <a:ext cx="787293" cy="10410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5" name="Rectangle 14">
            <a:extLst>
              <a:ext uri="{FF2B5EF4-FFF2-40B4-BE49-F238E27FC236}">
                <a16:creationId xmlns:a16="http://schemas.microsoft.com/office/drawing/2014/main" id="{E354FA6F-CADE-EBCB-D527-6BC2D5357E12}"/>
              </a:ext>
            </a:extLst>
          </p:cNvPr>
          <p:cNvSpPr/>
          <p:nvPr userDrawn="1"/>
        </p:nvSpPr>
        <p:spPr>
          <a:xfrm>
            <a:off x="10727529" y="0"/>
            <a:ext cx="787293" cy="10410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278067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99DC4B-149A-C816-CF9B-32457BCBC0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43B6584A-2883-067A-018E-98AABDC82F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BE" dirty="0"/>
          </a:p>
        </p:txBody>
      </p:sp>
      <p:sp>
        <p:nvSpPr>
          <p:cNvPr id="5" name="Espace réservé du pied de page 4">
            <a:extLst>
              <a:ext uri="{FF2B5EF4-FFF2-40B4-BE49-F238E27FC236}">
                <a16:creationId xmlns:a16="http://schemas.microsoft.com/office/drawing/2014/main" id="{A6EB5BBF-4E9E-B560-7124-82B10F99A3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BE" dirty="0"/>
          </a:p>
        </p:txBody>
      </p:sp>
      <p:pic>
        <p:nvPicPr>
          <p:cNvPr id="7" name="Image 10">
            <a:extLst>
              <a:ext uri="{FF2B5EF4-FFF2-40B4-BE49-F238E27FC236}">
                <a16:creationId xmlns:a16="http://schemas.microsoft.com/office/drawing/2014/main" id="{A73B35FC-FE36-B8EF-0E69-C5EA6F14F735}"/>
              </a:ext>
            </a:extLst>
          </p:cNvPr>
          <p:cNvPicPr>
            <a:picLocks noChangeAspect="1"/>
          </p:cNvPicPr>
          <p:nvPr userDrawn="1"/>
        </p:nvPicPr>
        <p:blipFill>
          <a:blip r:embed="rId17"/>
          <a:stretch>
            <a:fillRect/>
          </a:stretch>
        </p:blipFill>
        <p:spPr>
          <a:xfrm>
            <a:off x="9482759" y="6117248"/>
            <a:ext cx="2370481" cy="709278"/>
          </a:xfrm>
          <a:prstGeom prst="rect">
            <a:avLst/>
          </a:prstGeom>
        </p:spPr>
      </p:pic>
      <p:sp>
        <p:nvSpPr>
          <p:cNvPr id="8" name="ZoneTexte 7">
            <a:extLst>
              <a:ext uri="{FF2B5EF4-FFF2-40B4-BE49-F238E27FC236}">
                <a16:creationId xmlns:a16="http://schemas.microsoft.com/office/drawing/2014/main" id="{4D386B4A-1631-9489-BC4A-44DDA815F34C}"/>
              </a:ext>
            </a:extLst>
          </p:cNvPr>
          <p:cNvSpPr txBox="1"/>
          <p:nvPr userDrawn="1"/>
        </p:nvSpPr>
        <p:spPr>
          <a:xfrm>
            <a:off x="338760" y="6211669"/>
            <a:ext cx="6287343" cy="646331"/>
          </a:xfrm>
          <a:prstGeom prst="rect">
            <a:avLst/>
          </a:prstGeom>
          <a:noFill/>
        </p:spPr>
        <p:txBody>
          <a:bodyPr wrap="square" rtlCol="0">
            <a:spAutoFit/>
          </a:bodyPr>
          <a:lstStyle/>
          <a:p>
            <a:r>
              <a:rPr lang="en-GB" dirty="0">
                <a:latin typeface="Arial" panose="020B0604020202020204" pitchFamily="34" charset="0"/>
                <a:ea typeface="ヒラギノ角ゴ Pro W3" panose="020B0300000000000000" pitchFamily="34" charset="-128"/>
              </a:rPr>
              <a:t>ENVI-F405 </a:t>
            </a:r>
            <a:r>
              <a:rPr lang="en-GB" dirty="0" err="1">
                <a:latin typeface="Arial" panose="020B0604020202020204" pitchFamily="34" charset="0"/>
                <a:ea typeface="ヒラギノ角ゴ Pro W3" panose="020B0300000000000000" pitchFamily="34" charset="-128"/>
              </a:rPr>
              <a:t>Partie</a:t>
            </a:r>
            <a:r>
              <a:rPr lang="en-GB" dirty="0">
                <a:latin typeface="Arial" panose="020B0604020202020204" pitchFamily="34" charset="0"/>
                <a:ea typeface="ヒラギノ角ゴ Pro W3" panose="020B0300000000000000" pitchFamily="34" charset="-128"/>
              </a:rPr>
              <a:t> II. </a:t>
            </a:r>
            <a:r>
              <a:rPr lang="en-GB" dirty="0" err="1">
                <a:latin typeface="Arial" panose="020B0604020202020204" pitchFamily="34" charset="0"/>
                <a:ea typeface="ヒラギノ角ゴ Pro W3" panose="020B0300000000000000" pitchFamily="34" charset="-128"/>
              </a:rPr>
              <a:t>Climat</a:t>
            </a:r>
            <a:r>
              <a:rPr lang="en-GB" dirty="0">
                <a:latin typeface="Arial" panose="020B0604020202020204" pitchFamily="34" charset="0"/>
                <a:ea typeface="ヒラギノ角ゴ Pro W3" panose="020B0300000000000000" pitchFamily="34" charset="-128"/>
              </a:rPr>
              <a:t> : sciences et </a:t>
            </a:r>
            <a:r>
              <a:rPr lang="en-GB" b="1" dirty="0">
                <a:latin typeface="Arial" panose="020B0604020202020204" pitchFamily="34" charset="0"/>
                <a:ea typeface="ヒラギノ角ゴ Pro W3" panose="020B0300000000000000" pitchFamily="34" charset="-128"/>
              </a:rPr>
              <a:t>politiques </a:t>
            </a:r>
          </a:p>
          <a:p>
            <a:r>
              <a:rPr lang="en-GB" dirty="0">
                <a:latin typeface="Arial" panose="020B0604020202020204" pitchFamily="34" charset="0"/>
                <a:ea typeface="ヒラギノ角ゴ Pro W3" panose="020B0300000000000000" pitchFamily="34" charset="-128"/>
              </a:rPr>
              <a:t>2025-2026 – J. VANDEBURIE</a:t>
            </a:r>
          </a:p>
        </p:txBody>
      </p:sp>
    </p:spTree>
    <p:extLst>
      <p:ext uri="{BB962C8B-B14F-4D97-AF65-F5344CB8AC3E}">
        <p14:creationId xmlns:p14="http://schemas.microsoft.com/office/powerpoint/2010/main" val="33557498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5.xml"/><Relationship Id="rId4" Type="http://schemas.openxmlformats.org/officeDocument/2006/relationships/image" Target="../media/image14.jpe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commons.wikimedia.org/wiki/File:UNFCCC_Party_Groupings.svg" TargetMode="Externa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hyperlink" Target="https://www.climatewatchdata.org/custom-compare/overview?section=summary_of_commitment&amp;targets=CHN-revised_first_ndc%2CCHN-first_ndc%2CCHN-indc"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climatewatchdata.org/custom-compare/overview?section=overall_comparison_with_previous_ndc&amp;targets=USA-revised_first_ndc,USA-first_ndc,USA-indc"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www.climatewatchdata.org/custom-compare/overview?section=overall_comparison_with_previous_ndc&amp;targets=EUU-revised_first_ndc,EUU-first_ndc,EUU-indc"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auvio.rtbf.be/media/declic-le-tournant-declic-le-tournant-3018880" TargetMode="External"/><Relationship Id="rId2" Type="http://schemas.openxmlformats.org/officeDocument/2006/relationships/hyperlink" Target="https://auvio.rtbf.be/media/declic-le-tournant-declic-le-tournant-302585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E0BB9B-2EE7-61EE-47D0-CAC50A07D95F}"/>
              </a:ext>
            </a:extLst>
          </p:cNvPr>
          <p:cNvSpPr>
            <a:spLocks noGrp="1"/>
          </p:cNvSpPr>
          <p:nvPr>
            <p:ph type="ctrTitle"/>
          </p:nvPr>
        </p:nvSpPr>
        <p:spPr>
          <a:xfrm>
            <a:off x="1524000" y="99105"/>
            <a:ext cx="9144000" cy="2387600"/>
          </a:xfrm>
        </p:spPr>
        <p:txBody>
          <a:bodyPr/>
          <a:lstStyle/>
          <a:p>
            <a:r>
              <a:rPr lang="fr-BE" dirty="0"/>
              <a:t>Climat : Sciences et Politiques</a:t>
            </a:r>
          </a:p>
        </p:txBody>
      </p:sp>
      <p:sp>
        <p:nvSpPr>
          <p:cNvPr id="3" name="Sous-titre 2">
            <a:extLst>
              <a:ext uri="{FF2B5EF4-FFF2-40B4-BE49-F238E27FC236}">
                <a16:creationId xmlns:a16="http://schemas.microsoft.com/office/drawing/2014/main" id="{6C181E32-C052-5ED6-A856-68C3EF4B9505}"/>
              </a:ext>
            </a:extLst>
          </p:cNvPr>
          <p:cNvSpPr>
            <a:spLocks noGrp="1"/>
          </p:cNvSpPr>
          <p:nvPr>
            <p:ph type="subTitle" idx="1"/>
          </p:nvPr>
        </p:nvSpPr>
        <p:spPr>
          <a:xfrm>
            <a:off x="1524000" y="2732809"/>
            <a:ext cx="9144000" cy="3002827"/>
          </a:xfrm>
        </p:spPr>
        <p:txBody>
          <a:bodyPr>
            <a:normAutofit/>
          </a:bodyPr>
          <a:lstStyle/>
          <a:p>
            <a:r>
              <a:rPr lang="fr-BE" dirty="0"/>
              <a:t>Le climat est une question politique plus profonde qu’on ne le croit. C’est son lien avec l’énergie qui en est le cœur. L’énergie est elle au cœur de l’économie. Et l’économie au cœur de notre mode de vie</a:t>
            </a:r>
          </a:p>
          <a:p>
            <a:r>
              <a:rPr lang="fr-BE" dirty="0"/>
              <a:t>Le problème climatique dispose de solutions, dont la mise en œuvre n’est pas aisée pour des questions économiques et sociales, ce qui en fait un objet politique. </a:t>
            </a:r>
          </a:p>
          <a:p>
            <a:r>
              <a:rPr lang="fr-BE" dirty="0"/>
              <a:t>La question climatique est donc un enjeu politique, ce cours vise à en donner quelques éléments d’analyse</a:t>
            </a:r>
          </a:p>
        </p:txBody>
      </p:sp>
    </p:spTree>
    <p:extLst>
      <p:ext uri="{BB962C8B-B14F-4D97-AF65-F5344CB8AC3E}">
        <p14:creationId xmlns:p14="http://schemas.microsoft.com/office/powerpoint/2010/main" val="3501507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E3889-0725-0DBB-87B1-635CB54F14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4685E8C-5161-626F-4767-F56F37CAFE47}"/>
              </a:ext>
            </a:extLst>
          </p:cNvPr>
          <p:cNvSpPr>
            <a:spLocks noGrp="1"/>
          </p:cNvSpPr>
          <p:nvPr>
            <p:ph type="ctrTitle"/>
          </p:nvPr>
        </p:nvSpPr>
        <p:spPr>
          <a:xfrm>
            <a:off x="620486" y="0"/>
            <a:ext cx="9938656" cy="1082449"/>
          </a:xfrm>
        </p:spPr>
        <p:txBody>
          <a:bodyPr vert="horz" lIns="91440" tIns="45720" rIns="91440" bIns="45720" rtlCol="0" anchor="b">
            <a:noAutofit/>
          </a:bodyPr>
          <a:lstStyle/>
          <a:p>
            <a:pPr algn="just">
              <a:lnSpc>
                <a:spcPct val="115000"/>
              </a:lnSpc>
              <a:spcAft>
                <a:spcPts val="800"/>
              </a:spcAft>
            </a:pPr>
            <a:r>
              <a:rPr lang="fr-BE" sz="4400" b="1" kern="100" dirty="0">
                <a:latin typeface="Aptos" panose="020B0004020202020204" pitchFamily="34" charset="0"/>
                <a:cs typeface="Times New Roman" panose="02020603050405020304" pitchFamily="18" charset="0"/>
              </a:rPr>
              <a:t>Structure du cours - organisation</a:t>
            </a:r>
          </a:p>
        </p:txBody>
      </p:sp>
      <p:sp>
        <p:nvSpPr>
          <p:cNvPr id="3" name="Sous-titre 2">
            <a:extLst>
              <a:ext uri="{FF2B5EF4-FFF2-40B4-BE49-F238E27FC236}">
                <a16:creationId xmlns:a16="http://schemas.microsoft.com/office/drawing/2014/main" id="{E6573DEE-CE70-1EF2-EF7A-897F3CDB01D4}"/>
              </a:ext>
            </a:extLst>
          </p:cNvPr>
          <p:cNvSpPr>
            <a:spLocks noGrp="1"/>
          </p:cNvSpPr>
          <p:nvPr>
            <p:ph type="subTitle" idx="1"/>
          </p:nvPr>
        </p:nvSpPr>
        <p:spPr>
          <a:xfrm>
            <a:off x="1017814" y="1268185"/>
            <a:ext cx="9144000" cy="4321629"/>
          </a:xfrm>
        </p:spPr>
        <p:txBody>
          <a:bodyPr>
            <a:normAutofit/>
          </a:bodyPr>
          <a:lstStyle/>
          <a:p>
            <a:pPr algn="l"/>
            <a:r>
              <a:rPr lang="fr-BE" dirty="0"/>
              <a:t>8 séances de cours prévues en 2026:</a:t>
            </a:r>
          </a:p>
          <a:p>
            <a:pPr marL="342900" indent="-342900" algn="l">
              <a:buFont typeface="Arial" panose="020B0604020202020204" pitchFamily="34" charset="0"/>
              <a:buChar char="•"/>
            </a:pPr>
            <a:r>
              <a:rPr lang="fr-BE" dirty="0"/>
              <a:t>26 février</a:t>
            </a:r>
          </a:p>
          <a:p>
            <a:pPr marL="342900" indent="-342900" algn="l">
              <a:buFont typeface="Arial" panose="020B0604020202020204" pitchFamily="34" charset="0"/>
              <a:buChar char="•"/>
            </a:pPr>
            <a:r>
              <a:rPr lang="fr-BE" dirty="0"/>
              <a:t>5, 12, 19, 26 mars</a:t>
            </a:r>
          </a:p>
          <a:p>
            <a:pPr marL="1257300" lvl="2" indent="-342900" algn="l">
              <a:buFont typeface="Arial" panose="020B0604020202020204" pitchFamily="34" charset="0"/>
              <a:buChar char="•"/>
            </a:pPr>
            <a:r>
              <a:rPr lang="fr-BE" dirty="0"/>
              <a:t>PAS DE COURS LE 2 AVRIL</a:t>
            </a:r>
          </a:p>
          <a:p>
            <a:pPr marL="342900" indent="-342900" algn="l">
              <a:buFont typeface="Arial" panose="020B0604020202020204" pitchFamily="34" charset="0"/>
              <a:buChar char="•"/>
            </a:pPr>
            <a:r>
              <a:rPr lang="fr-BE" dirty="0"/>
              <a:t>9, 16 avril</a:t>
            </a:r>
          </a:p>
          <a:p>
            <a:pPr marL="342900" indent="-342900" algn="l">
              <a:buFont typeface="Arial" panose="020B0604020202020204" pitchFamily="34" charset="0"/>
              <a:buChar char="•"/>
            </a:pPr>
            <a:r>
              <a:rPr lang="fr-BE" dirty="0"/>
              <a:t>7 mai</a:t>
            </a:r>
          </a:p>
          <a:p>
            <a:pPr algn="l"/>
            <a:r>
              <a:rPr lang="fr-BE" dirty="0"/>
              <a:t>Examen écrit en juin</a:t>
            </a:r>
          </a:p>
        </p:txBody>
      </p:sp>
    </p:spTree>
    <p:extLst>
      <p:ext uri="{BB962C8B-B14F-4D97-AF65-F5344CB8AC3E}">
        <p14:creationId xmlns:p14="http://schemas.microsoft.com/office/powerpoint/2010/main" val="2464563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BBE1F-9CCE-92D4-4C32-776F7165862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44255F6-5DC7-1291-C718-3BBD52AA27C9}"/>
              </a:ext>
            </a:extLst>
          </p:cNvPr>
          <p:cNvSpPr>
            <a:spLocks noGrp="1"/>
          </p:cNvSpPr>
          <p:nvPr>
            <p:ph type="ctrTitle"/>
          </p:nvPr>
        </p:nvSpPr>
        <p:spPr>
          <a:xfrm>
            <a:off x="620486" y="0"/>
            <a:ext cx="9938656" cy="1082449"/>
          </a:xfrm>
        </p:spPr>
        <p:txBody>
          <a:bodyPr vert="horz" lIns="91440" tIns="45720" rIns="91440" bIns="45720" rtlCol="0" anchor="b">
            <a:noAutofit/>
          </a:bodyPr>
          <a:lstStyle/>
          <a:p>
            <a:pPr algn="just">
              <a:lnSpc>
                <a:spcPct val="115000"/>
              </a:lnSpc>
              <a:spcAft>
                <a:spcPts val="800"/>
              </a:spcAft>
            </a:pPr>
            <a:r>
              <a:rPr lang="fr-BE" sz="4400" b="1" kern="100" dirty="0">
                <a:latin typeface="Aptos" panose="020B0004020202020204" pitchFamily="34" charset="0"/>
                <a:cs typeface="Times New Roman" panose="02020603050405020304" pitchFamily="18" charset="0"/>
              </a:rPr>
              <a:t>Structure du cours - contenu</a:t>
            </a:r>
          </a:p>
        </p:txBody>
      </p:sp>
      <p:sp>
        <p:nvSpPr>
          <p:cNvPr id="3" name="Sous-titre 2">
            <a:extLst>
              <a:ext uri="{FF2B5EF4-FFF2-40B4-BE49-F238E27FC236}">
                <a16:creationId xmlns:a16="http://schemas.microsoft.com/office/drawing/2014/main" id="{B8026382-67B5-0747-BB7D-8D78A9D37329}"/>
              </a:ext>
            </a:extLst>
          </p:cNvPr>
          <p:cNvSpPr>
            <a:spLocks noGrp="1"/>
          </p:cNvSpPr>
          <p:nvPr>
            <p:ph type="subTitle" idx="1"/>
          </p:nvPr>
        </p:nvSpPr>
        <p:spPr>
          <a:xfrm>
            <a:off x="664028" y="941613"/>
            <a:ext cx="11146972" cy="4321629"/>
          </a:xfrm>
        </p:spPr>
        <p:txBody>
          <a:bodyPr>
            <a:noAutofit/>
          </a:bodyPr>
          <a:lstStyle/>
          <a:p>
            <a:pPr marL="285750" indent="-285750" algn="l">
              <a:buFont typeface="Arial" panose="020B0604020202020204" pitchFamily="34" charset="0"/>
              <a:buChar char="•"/>
            </a:pPr>
            <a:r>
              <a:rPr lang="fr-BE" kern="100" dirty="0">
                <a:effectLst/>
                <a:latin typeface="Aptos" panose="020B0004020202020204" pitchFamily="34" charset="0"/>
                <a:ea typeface="Aptos" panose="020B0004020202020204" pitchFamily="34" charset="0"/>
                <a:cs typeface="Times New Roman" panose="02020603050405020304" pitchFamily="18" charset="0"/>
              </a:rPr>
              <a:t>Gouvernance climatique : la nécessité de prendre en charge un problème planétaire</a:t>
            </a:r>
          </a:p>
          <a:p>
            <a:pPr marL="285750" indent="-285750" algn="l">
              <a:buFont typeface="Arial" panose="020B0604020202020204" pitchFamily="34" charset="0"/>
              <a:buChar char="•"/>
            </a:pPr>
            <a:r>
              <a:rPr lang="fr-BE" dirty="0">
                <a:latin typeface="Aptos" panose="020B0004020202020204" pitchFamily="34" charset="0"/>
                <a:ea typeface="Aptos" panose="020B0004020202020204" pitchFamily="34" charset="0"/>
                <a:cs typeface="Times New Roman" panose="02020603050405020304" pitchFamily="18" charset="0"/>
              </a:rPr>
              <a:t>L</a:t>
            </a:r>
            <a:r>
              <a:rPr lang="fr-BE" dirty="0">
                <a:effectLst/>
                <a:latin typeface="Aptos" panose="020B0004020202020204" pitchFamily="34" charset="0"/>
                <a:ea typeface="Aptos" panose="020B0004020202020204" pitchFamily="34" charset="0"/>
                <a:cs typeface="Times New Roman" panose="02020603050405020304" pitchFamily="18" charset="0"/>
              </a:rPr>
              <a:t>es outils de coopération internationale : pourquoi et comment</a:t>
            </a:r>
          </a:p>
          <a:p>
            <a:pPr marL="285750" indent="-285750" algn="l">
              <a:buFont typeface="Arial" panose="020B0604020202020204" pitchFamily="34" charset="0"/>
              <a:buChar char="•"/>
            </a:pPr>
            <a:r>
              <a:rPr lang="fr-BE" dirty="0">
                <a:effectLst/>
                <a:latin typeface="Aptos" panose="020B0004020202020204" pitchFamily="34" charset="0"/>
                <a:ea typeface="Aptos" panose="020B0004020202020204" pitchFamily="34" charset="0"/>
                <a:cs typeface="Times New Roman" panose="02020603050405020304" pitchFamily="18" charset="0"/>
              </a:rPr>
              <a:t>Vers une société zéro carbone net : les trajectoires, les objectifs. Modélisation </a:t>
            </a:r>
            <a:endParaRPr lang="fr-BE" dirty="0">
              <a:latin typeface="Aptos" panose="020B0004020202020204" pitchFamily="34" charset="0"/>
              <a:ea typeface="Aptos" panose="020B0004020202020204" pitchFamily="34" charset="0"/>
              <a:cs typeface="Times New Roman" panose="02020603050405020304" pitchFamily="18" charset="0"/>
            </a:endParaRPr>
          </a:p>
          <a:p>
            <a:pPr marL="285750" indent="-285750" algn="l">
              <a:buFont typeface="Arial" panose="020B0604020202020204" pitchFamily="34" charset="0"/>
              <a:buChar char="•"/>
            </a:pPr>
            <a:r>
              <a:rPr lang="fr-BE" dirty="0">
                <a:effectLst/>
                <a:latin typeface="Aptos" panose="020B0004020202020204" pitchFamily="34" charset="0"/>
                <a:ea typeface="Aptos" panose="020B0004020202020204" pitchFamily="34" charset="0"/>
                <a:cs typeface="Times New Roman" panose="02020603050405020304" pitchFamily="18" charset="0"/>
              </a:rPr>
              <a:t>La transition et les politiques publiques : exemples (photovoltaïque, primes énergie, …)</a:t>
            </a:r>
          </a:p>
          <a:p>
            <a:pPr marL="285750" indent="-285750" algn="l">
              <a:buFont typeface="Arial" panose="020B0604020202020204" pitchFamily="34" charset="0"/>
              <a:buChar char="•"/>
            </a:pPr>
            <a:r>
              <a:rPr lang="fr-BE" dirty="0">
                <a:effectLst/>
                <a:latin typeface="Aptos" panose="020B0004020202020204" pitchFamily="34" charset="0"/>
                <a:ea typeface="Aptos" panose="020B0004020202020204" pitchFamily="34" charset="0"/>
                <a:cs typeface="Times New Roman" panose="02020603050405020304" pitchFamily="18" charset="0"/>
              </a:rPr>
              <a:t>La transition : gagnants et perdants de la remise en cause du modèle socio-économique dominant</a:t>
            </a:r>
            <a:endParaRPr lang="fr-BE" dirty="0">
              <a:latin typeface="Aptos" panose="020B0004020202020204" pitchFamily="34" charset="0"/>
              <a:ea typeface="Aptos" panose="020B0004020202020204" pitchFamily="34" charset="0"/>
              <a:cs typeface="Times New Roman" panose="02020603050405020304" pitchFamily="18" charset="0"/>
            </a:endParaRPr>
          </a:p>
          <a:p>
            <a:pPr marL="285750" indent="-285750" algn="l">
              <a:buFont typeface="Arial" panose="020B0604020202020204" pitchFamily="34" charset="0"/>
              <a:buChar char="•"/>
            </a:pPr>
            <a:r>
              <a:rPr lang="fr-BE" dirty="0">
                <a:effectLst/>
                <a:latin typeface="Aptos" panose="020B0004020202020204" pitchFamily="34" charset="0"/>
                <a:ea typeface="Aptos" panose="020B0004020202020204" pitchFamily="34" charset="0"/>
                <a:cs typeface="Times New Roman" panose="02020603050405020304" pitchFamily="18" charset="0"/>
              </a:rPr>
              <a:t>Fin du monde et fin du mois : de la popularité et de la recevabilité des discours autour de la lutte contre les bouleversements climatiques</a:t>
            </a:r>
          </a:p>
          <a:p>
            <a:pPr marL="285750" indent="-285750" algn="l">
              <a:buFont typeface="Arial" panose="020B0604020202020204" pitchFamily="34" charset="0"/>
              <a:buChar char="•"/>
            </a:pPr>
            <a:r>
              <a:rPr lang="fr-BE" dirty="0">
                <a:effectLst/>
                <a:latin typeface="Aptos" panose="020B0004020202020204" pitchFamily="34" charset="0"/>
                <a:ea typeface="Aptos" panose="020B0004020202020204" pitchFamily="34" charset="0"/>
                <a:cs typeface="Times New Roman" panose="02020603050405020304" pitchFamily="18" charset="0"/>
              </a:rPr>
              <a:t>Les politiques climatiques dans les entreprises et chez les individus</a:t>
            </a:r>
            <a:endParaRPr lang="fr-BE" i="1" dirty="0"/>
          </a:p>
        </p:txBody>
      </p:sp>
    </p:spTree>
    <p:extLst>
      <p:ext uri="{BB962C8B-B14F-4D97-AF65-F5344CB8AC3E}">
        <p14:creationId xmlns:p14="http://schemas.microsoft.com/office/powerpoint/2010/main" val="2998131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7996C-5212-32B5-C58A-5E9E5ACCCB6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A070140-34A0-9090-EBA9-25B6713B705A}"/>
              </a:ext>
            </a:extLst>
          </p:cNvPr>
          <p:cNvSpPr>
            <a:spLocks noGrp="1"/>
          </p:cNvSpPr>
          <p:nvPr>
            <p:ph type="ctrTitle"/>
          </p:nvPr>
        </p:nvSpPr>
        <p:spPr>
          <a:xfrm>
            <a:off x="620486" y="0"/>
            <a:ext cx="9938656" cy="1082449"/>
          </a:xfrm>
        </p:spPr>
        <p:txBody>
          <a:bodyPr vert="horz" lIns="91440" tIns="45720" rIns="91440" bIns="45720" rtlCol="0" anchor="b">
            <a:noAutofit/>
          </a:bodyPr>
          <a:lstStyle/>
          <a:p>
            <a:pPr algn="just">
              <a:lnSpc>
                <a:spcPct val="115000"/>
              </a:lnSpc>
              <a:spcAft>
                <a:spcPts val="800"/>
              </a:spcAft>
            </a:pPr>
            <a:r>
              <a:rPr lang="fr-BE" sz="4400" b="1" kern="100" dirty="0">
                <a:latin typeface="Aptos" panose="020B0004020202020204" pitchFamily="34" charset="0"/>
                <a:cs typeface="Times New Roman" panose="02020603050405020304" pitchFamily="18" charset="0"/>
              </a:rPr>
              <a:t>Structure du cours - contenu</a:t>
            </a:r>
          </a:p>
        </p:txBody>
      </p:sp>
      <p:sp>
        <p:nvSpPr>
          <p:cNvPr id="5" name="Flèche : pentagone 4">
            <a:extLst>
              <a:ext uri="{FF2B5EF4-FFF2-40B4-BE49-F238E27FC236}">
                <a16:creationId xmlns:a16="http://schemas.microsoft.com/office/drawing/2014/main" id="{2BC8D4E2-07FD-C118-3B02-36E96246B598}"/>
              </a:ext>
            </a:extLst>
          </p:cNvPr>
          <p:cNvSpPr/>
          <p:nvPr/>
        </p:nvSpPr>
        <p:spPr>
          <a:xfrm>
            <a:off x="145469" y="1461261"/>
            <a:ext cx="2989373" cy="2088572"/>
          </a:xfrm>
          <a:prstGeom prst="homePlate">
            <a:avLst>
              <a:gd name="adj" fmla="val 29739"/>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1. Réchauffement global, événements climatiques extrêmes : Gouvernance climatique mondiale</a:t>
            </a:r>
          </a:p>
        </p:txBody>
      </p:sp>
      <p:sp>
        <p:nvSpPr>
          <p:cNvPr id="6" name="Flèche : pentagone 5">
            <a:extLst>
              <a:ext uri="{FF2B5EF4-FFF2-40B4-BE49-F238E27FC236}">
                <a16:creationId xmlns:a16="http://schemas.microsoft.com/office/drawing/2014/main" id="{E3392DA7-0BF4-8185-E4DF-F79B2C6B6765}"/>
              </a:ext>
            </a:extLst>
          </p:cNvPr>
          <p:cNvSpPr/>
          <p:nvPr/>
        </p:nvSpPr>
        <p:spPr>
          <a:xfrm>
            <a:off x="3197922" y="1461262"/>
            <a:ext cx="2725881" cy="2088572"/>
          </a:xfrm>
          <a:prstGeom prst="homePlate">
            <a:avLst>
              <a:gd name="adj" fmla="val 23203"/>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2. L’origine économique et politique des émissions de gaz à effet de serre</a:t>
            </a:r>
          </a:p>
        </p:txBody>
      </p:sp>
      <p:sp>
        <p:nvSpPr>
          <p:cNvPr id="7" name="Flèche : pentagone 6">
            <a:extLst>
              <a:ext uri="{FF2B5EF4-FFF2-40B4-BE49-F238E27FC236}">
                <a16:creationId xmlns:a16="http://schemas.microsoft.com/office/drawing/2014/main" id="{9190BC8A-5FB4-AC82-EEA5-CF6300D67994}"/>
              </a:ext>
            </a:extLst>
          </p:cNvPr>
          <p:cNvSpPr/>
          <p:nvPr/>
        </p:nvSpPr>
        <p:spPr>
          <a:xfrm>
            <a:off x="6096000" y="1461261"/>
            <a:ext cx="2999508" cy="2088572"/>
          </a:xfrm>
          <a:prstGeom prst="homePlate">
            <a:avLst>
              <a:gd name="adj" fmla="val 21895"/>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3. Modélisation des émissions et mesures d’atténuation</a:t>
            </a:r>
          </a:p>
        </p:txBody>
      </p:sp>
      <p:sp>
        <p:nvSpPr>
          <p:cNvPr id="8" name="Flèche : pentagone 7">
            <a:extLst>
              <a:ext uri="{FF2B5EF4-FFF2-40B4-BE49-F238E27FC236}">
                <a16:creationId xmlns:a16="http://schemas.microsoft.com/office/drawing/2014/main" id="{5FAB8F4E-D59D-DAF4-8838-0825819A6B54}"/>
              </a:ext>
            </a:extLst>
          </p:cNvPr>
          <p:cNvSpPr/>
          <p:nvPr/>
        </p:nvSpPr>
        <p:spPr>
          <a:xfrm>
            <a:off x="145469" y="4030792"/>
            <a:ext cx="2831773" cy="1990740"/>
          </a:xfrm>
          <a:prstGeom prst="homePlate">
            <a:avLst>
              <a:gd name="adj" fmla="val 19935"/>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Aptos" panose="02110004020202020204"/>
                <a:ea typeface="+mn-ea"/>
                <a:cs typeface="+mn-cs"/>
              </a:rPr>
              <a:t>5. Analyse des gagnants et perdants des politiques climatiques</a:t>
            </a:r>
            <a:endPar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Flèche : pentagone 10">
            <a:extLst>
              <a:ext uri="{FF2B5EF4-FFF2-40B4-BE49-F238E27FC236}">
                <a16:creationId xmlns:a16="http://schemas.microsoft.com/office/drawing/2014/main" id="{C6BD4848-BC83-EC4E-DBDB-827E8CDB3F90}"/>
              </a:ext>
            </a:extLst>
          </p:cNvPr>
          <p:cNvSpPr/>
          <p:nvPr/>
        </p:nvSpPr>
        <p:spPr>
          <a:xfrm>
            <a:off x="3144977" y="3979718"/>
            <a:ext cx="2831773" cy="2041814"/>
          </a:xfrm>
          <a:prstGeom prst="homePlate">
            <a:avLst>
              <a:gd name="adj" fmla="val 19935"/>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6. Perception publique de l’enjeu climatique et analyse des discours</a:t>
            </a:r>
          </a:p>
        </p:txBody>
      </p:sp>
      <p:sp>
        <p:nvSpPr>
          <p:cNvPr id="12" name="Flèche : pentagone 11">
            <a:extLst>
              <a:ext uri="{FF2B5EF4-FFF2-40B4-BE49-F238E27FC236}">
                <a16:creationId xmlns:a16="http://schemas.microsoft.com/office/drawing/2014/main" id="{BC6601D8-7C28-AED9-2582-A0EC5C3E5C96}"/>
              </a:ext>
            </a:extLst>
          </p:cNvPr>
          <p:cNvSpPr/>
          <p:nvPr/>
        </p:nvSpPr>
        <p:spPr>
          <a:xfrm>
            <a:off x="6186049" y="3979718"/>
            <a:ext cx="2831773" cy="2041814"/>
          </a:xfrm>
          <a:prstGeom prst="homePlate">
            <a:avLst>
              <a:gd name="adj" fmla="val 19935"/>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7. Adaptation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Actions  des Entreprises et des individus</a:t>
            </a:r>
          </a:p>
        </p:txBody>
      </p:sp>
      <p:sp>
        <p:nvSpPr>
          <p:cNvPr id="13" name="Flèche : pentagone 12">
            <a:extLst>
              <a:ext uri="{FF2B5EF4-FFF2-40B4-BE49-F238E27FC236}">
                <a16:creationId xmlns:a16="http://schemas.microsoft.com/office/drawing/2014/main" id="{FBE7482F-D2E3-BAA4-77B8-5039859AE879}"/>
              </a:ext>
            </a:extLst>
          </p:cNvPr>
          <p:cNvSpPr/>
          <p:nvPr/>
        </p:nvSpPr>
        <p:spPr>
          <a:xfrm>
            <a:off x="9227122" y="3979718"/>
            <a:ext cx="2831773" cy="2041814"/>
          </a:xfrm>
          <a:prstGeom prst="homePlate">
            <a:avLst>
              <a:gd name="adj" fmla="val 19935"/>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8. Bouleversements climatiques et pratiques politiques. Conclusion</a:t>
            </a:r>
          </a:p>
        </p:txBody>
      </p:sp>
      <p:sp>
        <p:nvSpPr>
          <p:cNvPr id="14" name="Flèche : pentagone 13">
            <a:extLst>
              <a:ext uri="{FF2B5EF4-FFF2-40B4-BE49-F238E27FC236}">
                <a16:creationId xmlns:a16="http://schemas.microsoft.com/office/drawing/2014/main" id="{B700B87E-F8AC-BFF8-092B-AD48E4374D1D}"/>
              </a:ext>
            </a:extLst>
          </p:cNvPr>
          <p:cNvSpPr/>
          <p:nvPr/>
        </p:nvSpPr>
        <p:spPr>
          <a:xfrm>
            <a:off x="9227122" y="1484640"/>
            <a:ext cx="2831773" cy="2041814"/>
          </a:xfrm>
          <a:prstGeom prst="homePlate">
            <a:avLst>
              <a:gd name="adj" fmla="val 19935"/>
            </a:avLst>
          </a:prstGeom>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4. Analyse critique des politiques publiques ‘climatiques’</a:t>
            </a:r>
          </a:p>
        </p:txBody>
      </p:sp>
      <p:sp>
        <p:nvSpPr>
          <p:cNvPr id="3" name="ZoneTexte 2">
            <a:extLst>
              <a:ext uri="{FF2B5EF4-FFF2-40B4-BE49-F238E27FC236}">
                <a16:creationId xmlns:a16="http://schemas.microsoft.com/office/drawing/2014/main" id="{4EFE302B-0B5B-101B-5949-CF8DFE239ED9}"/>
              </a:ext>
            </a:extLst>
          </p:cNvPr>
          <p:cNvSpPr txBox="1"/>
          <p:nvPr/>
        </p:nvSpPr>
        <p:spPr>
          <a:xfrm>
            <a:off x="1501239" y="1563408"/>
            <a:ext cx="11464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dirty="0">
                <a:ln>
                  <a:noFill/>
                </a:ln>
                <a:solidFill>
                  <a:srgbClr val="0E2841">
                    <a:lumMod val="75000"/>
                    <a:lumOff val="25000"/>
                  </a:srgbClr>
                </a:solidFill>
                <a:effectLst/>
                <a:uLnTx/>
                <a:uFillTx/>
                <a:latin typeface="Aptos" panose="02110004020202020204"/>
                <a:ea typeface="+mn-ea"/>
                <a:cs typeface="+mn-cs"/>
              </a:rPr>
              <a:t>26 février </a:t>
            </a:r>
          </a:p>
        </p:txBody>
      </p:sp>
    </p:spTree>
    <p:extLst>
      <p:ext uri="{BB962C8B-B14F-4D97-AF65-F5344CB8AC3E}">
        <p14:creationId xmlns:p14="http://schemas.microsoft.com/office/powerpoint/2010/main" val="4200990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5BA31-19C5-A1FA-5C7C-0D36AA3D53D2}"/>
              </a:ext>
            </a:extLst>
          </p:cNvPr>
          <p:cNvSpPr>
            <a:spLocks noGrp="1"/>
          </p:cNvSpPr>
          <p:nvPr>
            <p:ph type="title"/>
          </p:nvPr>
        </p:nvSpPr>
        <p:spPr>
          <a:xfrm>
            <a:off x="265870" y="234758"/>
            <a:ext cx="11678761" cy="900501"/>
          </a:xfrm>
        </p:spPr>
        <p:txBody>
          <a:bodyPr vert="horz" lIns="91440" tIns="45720" rIns="91440" bIns="45720" rtlCol="0" anchor="b">
            <a:noAutofit/>
          </a:bodyPr>
          <a:lstStyle/>
          <a:p>
            <a:pPr algn="just">
              <a:lnSpc>
                <a:spcPct val="115000"/>
              </a:lnSpc>
              <a:spcAft>
                <a:spcPts val="800"/>
              </a:spcAft>
            </a:pPr>
            <a:r>
              <a:rPr lang="en-GB" b="1" kern="100" dirty="0" err="1">
                <a:latin typeface="Aptos" panose="020B0004020202020204" pitchFamily="34" charset="0"/>
                <a:cs typeface="Times New Roman" panose="02020603050405020304" pitchFamily="18" charset="0"/>
              </a:rPr>
              <a:t>Objectifs</a:t>
            </a:r>
            <a:r>
              <a:rPr lang="en-GB" b="1" kern="100" dirty="0">
                <a:latin typeface="Aptos" panose="020B0004020202020204" pitchFamily="34" charset="0"/>
                <a:cs typeface="Times New Roman" panose="02020603050405020304" pitchFamily="18" charset="0"/>
              </a:rPr>
              <a:t> du </a:t>
            </a:r>
            <a:r>
              <a:rPr lang="en-GB" b="1" kern="100" dirty="0" err="1">
                <a:latin typeface="Aptos" panose="020B0004020202020204" pitchFamily="34" charset="0"/>
                <a:cs typeface="Times New Roman" panose="02020603050405020304" pitchFamily="18" charset="0"/>
              </a:rPr>
              <a:t>cours</a:t>
            </a:r>
            <a:r>
              <a:rPr lang="en-GB" b="1" kern="100" dirty="0">
                <a:latin typeface="Aptos" panose="020B0004020202020204" pitchFamily="34" charset="0"/>
                <a:cs typeface="Times New Roman" panose="02020603050405020304" pitchFamily="18" charset="0"/>
              </a:rPr>
              <a:t> &amp; </a:t>
            </a:r>
            <a:r>
              <a:rPr lang="en-GB" b="1" kern="100" dirty="0" err="1">
                <a:latin typeface="Aptos" panose="020B0004020202020204" pitchFamily="34" charset="0"/>
                <a:cs typeface="Times New Roman" panose="02020603050405020304" pitchFamily="18" charset="0"/>
              </a:rPr>
              <a:t>vue</a:t>
            </a:r>
            <a:r>
              <a:rPr lang="en-GB" b="1" kern="100" dirty="0">
                <a:latin typeface="Aptos" panose="020B0004020202020204" pitchFamily="34" charset="0"/>
                <a:cs typeface="Times New Roman" panose="02020603050405020304" pitchFamily="18" charset="0"/>
              </a:rPr>
              <a:t> </a:t>
            </a:r>
            <a:r>
              <a:rPr lang="en-GB" b="1" kern="100" dirty="0" err="1">
                <a:latin typeface="Aptos" panose="020B0004020202020204" pitchFamily="34" charset="0"/>
                <a:cs typeface="Times New Roman" panose="02020603050405020304" pitchFamily="18" charset="0"/>
              </a:rPr>
              <a:t>d’ensemble</a:t>
            </a:r>
            <a:endParaRPr lang="en-BE" b="1" kern="100" dirty="0">
              <a:latin typeface="Aptos" panose="020B000402020202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AF5569-6D0E-A8CE-1175-EFE452CB80B5}"/>
              </a:ext>
            </a:extLst>
          </p:cNvPr>
          <p:cNvSpPr>
            <a:spLocks noGrp="1"/>
          </p:cNvSpPr>
          <p:nvPr>
            <p:ph idx="1"/>
          </p:nvPr>
        </p:nvSpPr>
        <p:spPr>
          <a:xfrm>
            <a:off x="177179" y="1353177"/>
            <a:ext cx="11133078" cy="5391086"/>
          </a:xfrm>
        </p:spPr>
        <p:txBody>
          <a:bodyPr>
            <a:normAutofit fontScale="40000" lnSpcReduction="20000"/>
          </a:bodyPr>
          <a:lstStyle/>
          <a:p>
            <a:pPr marL="342900" lvl="0" indent="-342900" algn="just">
              <a:lnSpc>
                <a:spcPct val="150000"/>
              </a:lnSpc>
              <a:buFont typeface="Symbol" panose="05050102010706020507" pitchFamily="18" charset="2"/>
              <a:buChar char=""/>
            </a:pPr>
            <a:r>
              <a:rPr lang="fr-BE" sz="4000" kern="100" dirty="0">
                <a:effectLst/>
                <a:ea typeface="Aptos" panose="020B0004020202020204" pitchFamily="34" charset="0"/>
                <a:cs typeface="Times New Roman" panose="02020603050405020304" pitchFamily="18" charset="0"/>
              </a:rPr>
              <a:t>Comprendre les </a:t>
            </a:r>
            <a:r>
              <a:rPr lang="fr-BE" sz="4000" b="1" kern="100" dirty="0">
                <a:effectLst/>
                <a:ea typeface="Aptos" panose="020B0004020202020204" pitchFamily="34" charset="0"/>
                <a:cs typeface="Times New Roman" panose="02020603050405020304" pitchFamily="18" charset="0"/>
              </a:rPr>
              <a:t>enjeux politiques </a:t>
            </a:r>
            <a:r>
              <a:rPr lang="fr-BE" sz="4000" kern="100" dirty="0">
                <a:effectLst/>
                <a:ea typeface="Aptos" panose="020B0004020202020204" pitchFamily="34" charset="0"/>
                <a:cs typeface="Times New Roman" panose="02020603050405020304" pitchFamily="18" charset="0"/>
              </a:rPr>
              <a:t>(en termes de compétition institutionnelle, d’économie politique, d’hégémonie idéologique, ou de relations de pouvoir, entre autres) liés aux bouleversements climatiques</a:t>
            </a:r>
          </a:p>
          <a:p>
            <a:pPr marL="800100" lvl="1" indent="-342900" algn="just">
              <a:lnSpc>
                <a:spcPct val="150000"/>
              </a:lnSpc>
              <a:buFont typeface="Symbol" panose="05050102010706020507" pitchFamily="18" charset="2"/>
              <a:buChar char=""/>
            </a:pPr>
            <a:r>
              <a:rPr lang="fr-BE" sz="4000" kern="100" dirty="0">
                <a:effectLst/>
                <a:ea typeface="Aptos" panose="020B0004020202020204" pitchFamily="34" charset="0"/>
                <a:cs typeface="Times New Roman" panose="02020603050405020304" pitchFamily="18" charset="0"/>
              </a:rPr>
              <a:t>Gouvernance climatique institutionnelle</a:t>
            </a:r>
          </a:p>
          <a:p>
            <a:pPr marL="800100" lvl="1" indent="-342900" algn="just">
              <a:lnSpc>
                <a:spcPct val="150000"/>
              </a:lnSpc>
              <a:buFont typeface="Symbol" panose="05050102010706020507" pitchFamily="18" charset="2"/>
              <a:buChar char=""/>
            </a:pPr>
            <a:r>
              <a:rPr lang="fr-BE" sz="4000" kern="100" dirty="0">
                <a:effectLst/>
                <a:ea typeface="Aptos" panose="020B0004020202020204" pitchFamily="34" charset="0"/>
                <a:cs typeface="Times New Roman" panose="02020603050405020304" pitchFamily="18" charset="0"/>
              </a:rPr>
              <a:t>les accords internationaux issus des </a:t>
            </a:r>
            <a:r>
              <a:rPr lang="fr-BE" sz="4000" kern="100" dirty="0" err="1">
                <a:effectLst/>
                <a:ea typeface="Aptos" panose="020B0004020202020204" pitchFamily="34" charset="0"/>
                <a:cs typeface="Times New Roman" panose="02020603050405020304" pitchFamily="18" charset="0"/>
              </a:rPr>
              <a:t>COPs</a:t>
            </a:r>
            <a:r>
              <a:rPr lang="fr-BE" sz="4000" kern="100" dirty="0">
                <a:effectLst/>
                <a:ea typeface="Aptos" panose="020B0004020202020204" pitchFamily="34" charset="0"/>
                <a:cs typeface="Times New Roman" panose="02020603050405020304" pitchFamily="18" charset="0"/>
              </a:rPr>
              <a:t>, les politiques publiques européennes (par ex. le Green Deal de l’UE), </a:t>
            </a:r>
          </a:p>
          <a:p>
            <a:pPr marL="800100" lvl="1" indent="-342900" algn="just">
              <a:lnSpc>
                <a:spcPct val="150000"/>
              </a:lnSpc>
              <a:buFont typeface="Symbol" panose="05050102010706020507" pitchFamily="18" charset="2"/>
              <a:buChar char=""/>
            </a:pPr>
            <a:r>
              <a:rPr lang="fr-BE" sz="4000" kern="100" dirty="0">
                <a:effectLst/>
                <a:ea typeface="Aptos" panose="020B0004020202020204" pitchFamily="34" charset="0"/>
                <a:cs typeface="Times New Roman" panose="02020603050405020304" pitchFamily="18" charset="0"/>
              </a:rPr>
              <a:t>les politiques nationales et/ou régionales en réponse aux bouleversements climatiques (par ex. le Plan Air-Climat-Energie, le plan de zone à basse émission (Low Emission Zone) ou le plan Good Move, entre autres)</a:t>
            </a:r>
            <a:endParaRPr lang="en-BE" sz="4000" kern="100" dirty="0">
              <a:effectLst/>
              <a:ea typeface="Aptos" panose="020B000402020202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fr-BE" sz="4000" kern="100" dirty="0">
                <a:effectLst/>
                <a:ea typeface="Aptos" panose="020B0004020202020204" pitchFamily="34" charset="0"/>
                <a:cs typeface="Times New Roman" panose="02020603050405020304" pitchFamily="18" charset="0"/>
              </a:rPr>
              <a:t>Analyser </a:t>
            </a:r>
            <a:r>
              <a:rPr lang="fr-BE" sz="4000" b="1" kern="100" dirty="0">
                <a:effectLst/>
                <a:ea typeface="Aptos" panose="020B0004020202020204" pitchFamily="34" charset="0"/>
                <a:cs typeface="Times New Roman" panose="02020603050405020304" pitchFamily="18" charset="0"/>
              </a:rPr>
              <a:t>le rôle des individus et des collectifs, </a:t>
            </a:r>
            <a:r>
              <a:rPr lang="fr-BE" sz="4000" kern="100" dirty="0">
                <a:effectLst/>
                <a:ea typeface="Aptos" panose="020B0004020202020204" pitchFamily="34" charset="0"/>
                <a:cs typeface="Times New Roman" panose="02020603050405020304" pitchFamily="18" charset="0"/>
              </a:rPr>
              <a:t>dans les réponses politiques aux changements politiques, par ex. les mouvements sociaux environnementaux, les collectifs citoyens à l’initiative de contentieux climatiques (les ‘Affaires Climat’), et la société civile au sens large</a:t>
            </a:r>
            <a:endParaRPr lang="en-BE" sz="4000" kern="100" dirty="0">
              <a:effectLst/>
              <a:ea typeface="Aptos" panose="020B000402020202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fr-BE" sz="4000" kern="100" dirty="0">
                <a:effectLst/>
                <a:ea typeface="Aptos" panose="020B0004020202020204" pitchFamily="34" charset="0"/>
                <a:cs typeface="Times New Roman" panose="02020603050405020304" pitchFamily="18" charset="0"/>
              </a:rPr>
              <a:t>Identifier différents </a:t>
            </a:r>
            <a:r>
              <a:rPr lang="fr-BE" sz="4000" b="1" kern="100" dirty="0">
                <a:effectLst/>
                <a:ea typeface="Aptos" panose="020B0004020202020204" pitchFamily="34" charset="0"/>
                <a:cs typeface="Times New Roman" panose="02020603050405020304" pitchFamily="18" charset="0"/>
              </a:rPr>
              <a:t>discours sur les bouleversements climatiques</a:t>
            </a:r>
          </a:p>
          <a:p>
            <a:pPr marL="342900" lvl="0" indent="-342900" algn="just">
              <a:lnSpc>
                <a:spcPct val="150000"/>
              </a:lnSpc>
              <a:buFont typeface="Symbol" panose="05050102010706020507" pitchFamily="18" charset="2"/>
              <a:buChar char=""/>
            </a:pPr>
            <a:r>
              <a:rPr lang="fr-BE" sz="4000" kern="100" dirty="0">
                <a:effectLst/>
                <a:ea typeface="Aptos" panose="020B0004020202020204" pitchFamily="34" charset="0"/>
                <a:cs typeface="Times New Roman" panose="02020603050405020304" pitchFamily="18" charset="0"/>
              </a:rPr>
              <a:t>Adopter une </a:t>
            </a:r>
            <a:r>
              <a:rPr lang="fr-BE" sz="4000" b="1" kern="100" dirty="0">
                <a:effectLst/>
                <a:ea typeface="Aptos" panose="020B0004020202020204" pitchFamily="34" charset="0"/>
                <a:cs typeface="Times New Roman" panose="02020603050405020304" pitchFamily="18" charset="0"/>
              </a:rPr>
              <a:t>lecture critique de l’actualité politique </a:t>
            </a:r>
            <a:r>
              <a:rPr lang="fr-BE" sz="4000" kern="100" dirty="0">
                <a:effectLst/>
                <a:ea typeface="Aptos" panose="020B0004020202020204" pitchFamily="34" charset="0"/>
                <a:cs typeface="Times New Roman" panose="02020603050405020304" pitchFamily="18" charset="0"/>
              </a:rPr>
              <a:t>en termes de gouvernance climatique, en faisant le lien avec les concepts et théories vus en cours</a:t>
            </a:r>
            <a:endParaRPr lang="en-BE" sz="4000" kern="100" dirty="0">
              <a:effectLst/>
              <a:ea typeface="Aptos" panose="020B0004020202020204" pitchFamily="34" charset="0"/>
              <a:cs typeface="Times New Roman" panose="02020603050405020304" pitchFamily="18" charset="0"/>
            </a:endParaRPr>
          </a:p>
          <a:p>
            <a:pPr marL="0" indent="0">
              <a:buNone/>
            </a:pPr>
            <a:endParaRPr lang="en-BE" dirty="0">
              <a:highlight>
                <a:srgbClr val="FFFF00"/>
              </a:highlight>
            </a:endParaRPr>
          </a:p>
        </p:txBody>
      </p:sp>
    </p:spTree>
    <p:extLst>
      <p:ext uri="{BB962C8B-B14F-4D97-AF65-F5344CB8AC3E}">
        <p14:creationId xmlns:p14="http://schemas.microsoft.com/office/powerpoint/2010/main" val="3851167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7E4F1-C475-0A92-3CCC-D81C2A6B338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C6D9E14-A1EE-8D2F-5989-A700F7BD0621}"/>
              </a:ext>
            </a:extLst>
          </p:cNvPr>
          <p:cNvSpPr>
            <a:spLocks noGrp="1"/>
          </p:cNvSpPr>
          <p:nvPr>
            <p:ph type="ctrTitle"/>
          </p:nvPr>
        </p:nvSpPr>
        <p:spPr>
          <a:xfrm>
            <a:off x="685800" y="734787"/>
            <a:ext cx="9938656" cy="1082449"/>
          </a:xfrm>
        </p:spPr>
        <p:txBody>
          <a:bodyPr>
            <a:noAutofit/>
          </a:bodyPr>
          <a:lstStyle/>
          <a:p>
            <a:pPr algn="just">
              <a:lnSpc>
                <a:spcPct val="115000"/>
              </a:lnSpc>
              <a:spcAft>
                <a:spcPts val="800"/>
              </a:spcAft>
            </a:pPr>
            <a:r>
              <a:rPr lang="fr-BE" sz="4400" b="1" kern="100" dirty="0">
                <a:effectLst/>
                <a:latin typeface="Aptos" panose="020B0004020202020204" pitchFamily="34" charset="0"/>
                <a:ea typeface="Aptos" panose="020B0004020202020204" pitchFamily="34" charset="0"/>
                <a:cs typeface="Times New Roman" panose="02020603050405020304" pitchFamily="18" charset="0"/>
              </a:rPr>
              <a:t>Compétences développées à l’issue du cours</a:t>
            </a:r>
            <a:endParaRPr lang="fr-BE" sz="4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Sous-titre 2">
            <a:extLst>
              <a:ext uri="{FF2B5EF4-FFF2-40B4-BE49-F238E27FC236}">
                <a16:creationId xmlns:a16="http://schemas.microsoft.com/office/drawing/2014/main" id="{934D1C4D-8A54-3F27-2463-F8D01883B382}"/>
              </a:ext>
            </a:extLst>
          </p:cNvPr>
          <p:cNvSpPr>
            <a:spLocks noGrp="1"/>
          </p:cNvSpPr>
          <p:nvPr>
            <p:ph type="subTitle" idx="1"/>
          </p:nvPr>
        </p:nvSpPr>
        <p:spPr>
          <a:xfrm>
            <a:off x="685800" y="1817236"/>
            <a:ext cx="10820400" cy="4321629"/>
          </a:xfrm>
        </p:spPr>
        <p:txBody>
          <a:bodyPr>
            <a:normAutofit/>
          </a:bodyPr>
          <a:lstStyle/>
          <a:p>
            <a:pPr marL="342900" lvl="0" indent="-342900" algn="just">
              <a:lnSpc>
                <a:spcPct val="115000"/>
              </a:lnSpc>
              <a:buFont typeface="Aptos" panose="020B0004020202020204" pitchFamily="34" charset="0"/>
              <a:buChar char="-"/>
            </a:pPr>
            <a:r>
              <a:rPr lang="fr-BE" sz="1800" kern="100" dirty="0">
                <a:effectLst/>
                <a:latin typeface="Aptos" panose="020B0004020202020204" pitchFamily="34" charset="0"/>
                <a:ea typeface="Aptos" panose="020B0004020202020204" pitchFamily="34" charset="0"/>
                <a:cs typeface="Times New Roman" panose="02020603050405020304" pitchFamily="18" charset="0"/>
              </a:rPr>
              <a:t>Montrer une </a:t>
            </a:r>
            <a:r>
              <a:rPr lang="fr-BE" sz="1800" b="1" kern="100" dirty="0">
                <a:effectLst/>
                <a:latin typeface="Aptos" panose="020B0004020202020204" pitchFamily="34" charset="0"/>
                <a:ea typeface="Aptos" panose="020B0004020202020204" pitchFamily="34" charset="0"/>
                <a:cs typeface="Times New Roman" panose="02020603050405020304" pitchFamily="18" charset="0"/>
              </a:rPr>
              <a:t>clairvoyance globale, dialectique et systémique des relations entre les émissions de gaz à effet de serre et la production des systèmes économiques et sociaux</a:t>
            </a:r>
            <a:r>
              <a:rPr lang="fr-BE" sz="1800" kern="100" dirty="0">
                <a:effectLst/>
                <a:latin typeface="Aptos" panose="020B0004020202020204" pitchFamily="34" charset="0"/>
                <a:ea typeface="Aptos" panose="020B0004020202020204" pitchFamily="34" charset="0"/>
                <a:cs typeface="Times New Roman" panose="02020603050405020304" pitchFamily="18" charset="0"/>
              </a:rPr>
              <a:t>, plutôt que de privilégier une connaissance encyclopédique et uniquement factuelle.</a:t>
            </a:r>
            <a:endParaRPr lang="fr-BE"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buFont typeface="Aptos" panose="020B0004020202020204" pitchFamily="34" charset="0"/>
              <a:buChar char="-"/>
            </a:pPr>
            <a:r>
              <a:rPr lang="fr-BE" sz="1800" kern="100" dirty="0">
                <a:effectLst/>
                <a:latin typeface="Aptos" panose="020B0004020202020204" pitchFamily="34" charset="0"/>
                <a:ea typeface="Aptos" panose="020B0004020202020204" pitchFamily="34" charset="0"/>
                <a:cs typeface="Times New Roman" panose="02020603050405020304" pitchFamily="18" charset="0"/>
              </a:rPr>
              <a:t>Être en capacité de </a:t>
            </a:r>
            <a:r>
              <a:rPr lang="fr-BE" sz="1800" b="1" kern="100" dirty="0">
                <a:effectLst/>
                <a:latin typeface="Aptos" panose="020B0004020202020204" pitchFamily="34" charset="0"/>
                <a:ea typeface="Aptos" panose="020B0004020202020204" pitchFamily="34" charset="0"/>
                <a:cs typeface="Times New Roman" panose="02020603050405020304" pitchFamily="18" charset="0"/>
              </a:rPr>
              <a:t>saisir les tenants et aboutissants</a:t>
            </a:r>
            <a:r>
              <a:rPr lang="fr-BE" sz="1800" kern="100" dirty="0">
                <a:effectLst/>
                <a:latin typeface="Aptos" panose="020B0004020202020204" pitchFamily="34" charset="0"/>
                <a:ea typeface="Aptos" panose="020B0004020202020204" pitchFamily="34" charset="0"/>
                <a:cs typeface="Times New Roman" panose="02020603050405020304" pitchFamily="18" charset="0"/>
              </a:rPr>
              <a:t>, d’</a:t>
            </a:r>
            <a:r>
              <a:rPr lang="fr-BE" sz="1800" b="1" kern="100" dirty="0">
                <a:effectLst/>
                <a:latin typeface="Aptos" panose="020B0004020202020204" pitchFamily="34" charset="0"/>
                <a:ea typeface="Aptos" panose="020B0004020202020204" pitchFamily="34" charset="0"/>
                <a:cs typeface="Times New Roman" panose="02020603050405020304" pitchFamily="18" charset="0"/>
              </a:rPr>
              <a:t>évaluer et de proposer des mesures politiques </a:t>
            </a:r>
            <a:r>
              <a:rPr lang="fr-BE" sz="1800" kern="100" dirty="0">
                <a:effectLst/>
                <a:latin typeface="Aptos" panose="020B0004020202020204" pitchFamily="34" charset="0"/>
                <a:ea typeface="Aptos" panose="020B0004020202020204" pitchFamily="34" charset="0"/>
                <a:cs typeface="Times New Roman" panose="02020603050405020304" pitchFamily="18" charset="0"/>
              </a:rPr>
              <a:t>relatives à l’atténuation et l’adaptation aux bouleversements climatiques</a:t>
            </a:r>
            <a:endParaRPr lang="fr-BE"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buFont typeface="Aptos" panose="020B0004020202020204" pitchFamily="34" charset="0"/>
              <a:buChar char="-"/>
            </a:pPr>
            <a:r>
              <a:rPr lang="fr-BE" sz="1800" kern="100" dirty="0">
                <a:effectLst/>
                <a:latin typeface="Aptos" panose="020B0004020202020204" pitchFamily="34" charset="0"/>
                <a:ea typeface="Aptos" panose="020B0004020202020204" pitchFamily="34" charset="0"/>
                <a:cs typeface="Times New Roman" panose="02020603050405020304" pitchFamily="18" charset="0"/>
              </a:rPr>
              <a:t>Être en mesure </a:t>
            </a:r>
            <a:r>
              <a:rPr lang="fr-BE" sz="1800" b="1" kern="100" dirty="0">
                <a:effectLst/>
                <a:latin typeface="Aptos" panose="020B0004020202020204" pitchFamily="34" charset="0"/>
                <a:ea typeface="Aptos" panose="020B0004020202020204" pitchFamily="34" charset="0"/>
                <a:cs typeface="Times New Roman" panose="02020603050405020304" pitchFamily="18" charset="0"/>
              </a:rPr>
              <a:t>de cerner et de jauger les éléments relatifs au climat </a:t>
            </a:r>
            <a:r>
              <a:rPr lang="fr-BE" sz="1800" kern="100" dirty="0">
                <a:effectLst/>
                <a:latin typeface="Aptos" panose="020B0004020202020204" pitchFamily="34" charset="0"/>
                <a:ea typeface="Aptos" panose="020B0004020202020204" pitchFamily="34" charset="0"/>
                <a:cs typeface="Times New Roman" panose="02020603050405020304" pitchFamily="18" charset="0"/>
              </a:rPr>
              <a:t>dans un </a:t>
            </a:r>
            <a:r>
              <a:rPr lang="fr-BE" sz="1800" kern="100" dirty="0" err="1">
                <a:effectLst/>
                <a:latin typeface="Aptos" panose="020B0004020202020204" pitchFamily="34" charset="0"/>
                <a:ea typeface="Aptos" panose="020B0004020202020204" pitchFamily="34" charset="0"/>
                <a:cs typeface="Times New Roman" panose="02020603050405020304" pitchFamily="18" charset="0"/>
              </a:rPr>
              <a:t>reporting</a:t>
            </a:r>
            <a:r>
              <a:rPr lang="fr-BE" sz="1800" kern="100" dirty="0">
                <a:effectLst/>
                <a:latin typeface="Aptos" panose="020B0004020202020204" pitchFamily="34" charset="0"/>
                <a:ea typeface="Aptos" panose="020B0004020202020204" pitchFamily="34" charset="0"/>
                <a:cs typeface="Times New Roman" panose="02020603050405020304" pitchFamily="18" charset="0"/>
              </a:rPr>
              <a:t> ESG, un bilan carbone, un plan de décarbonation, un plan de résilience, … </a:t>
            </a:r>
            <a:endParaRPr lang="fr-BE"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96302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80946-AB05-1C8D-F2BE-A97E0BA02D8A}"/>
            </a:ext>
          </a:extLst>
        </p:cNvPr>
        <p:cNvGrpSpPr/>
        <p:nvPr/>
      </p:nvGrpSpPr>
      <p:grpSpPr>
        <a:xfrm>
          <a:off x="0" y="0"/>
          <a:ext cx="0" cy="0"/>
          <a:chOff x="0" y="0"/>
          <a:chExt cx="0" cy="0"/>
        </a:xfrm>
      </p:grpSpPr>
      <p:pic>
        <p:nvPicPr>
          <p:cNvPr id="15" name="Image 14">
            <a:extLst>
              <a:ext uri="{FF2B5EF4-FFF2-40B4-BE49-F238E27FC236}">
                <a16:creationId xmlns:a16="http://schemas.microsoft.com/office/drawing/2014/main" id="{2F8B3CCB-CA96-B36E-0047-6B45AB12DD93}"/>
              </a:ext>
            </a:extLst>
          </p:cNvPr>
          <p:cNvPicPr>
            <a:picLocks noChangeAspect="1"/>
          </p:cNvPicPr>
          <p:nvPr/>
        </p:nvPicPr>
        <p:blipFill>
          <a:blip r:embed="rId3"/>
          <a:stretch>
            <a:fillRect/>
          </a:stretch>
        </p:blipFill>
        <p:spPr>
          <a:xfrm>
            <a:off x="785666" y="0"/>
            <a:ext cx="10291306" cy="6143782"/>
          </a:xfrm>
          <a:prstGeom prst="rect">
            <a:avLst/>
          </a:prstGeom>
        </p:spPr>
      </p:pic>
    </p:spTree>
    <p:extLst>
      <p:ext uri="{BB962C8B-B14F-4D97-AF65-F5344CB8AC3E}">
        <p14:creationId xmlns:p14="http://schemas.microsoft.com/office/powerpoint/2010/main" val="457375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34347-7638-3873-557D-0A08203FDA5D}"/>
            </a:ext>
          </a:extLst>
        </p:cNvPr>
        <p:cNvGrpSpPr/>
        <p:nvPr/>
      </p:nvGrpSpPr>
      <p:grpSpPr>
        <a:xfrm>
          <a:off x="0" y="0"/>
          <a:ext cx="0" cy="0"/>
          <a:chOff x="0" y="0"/>
          <a:chExt cx="0" cy="0"/>
        </a:xfrm>
      </p:grpSpPr>
      <p:pic>
        <p:nvPicPr>
          <p:cNvPr id="9" name="Image 8" descr="Une image contenant texte, capture d’écran, carte, Police&#10;&#10;Le contenu généré par l’IA peut être incorrect.">
            <a:extLst>
              <a:ext uri="{FF2B5EF4-FFF2-40B4-BE49-F238E27FC236}">
                <a16:creationId xmlns:a16="http://schemas.microsoft.com/office/drawing/2014/main" id="{06D2578F-0BF6-50DE-93C2-B4579E15C3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 y="178535"/>
            <a:ext cx="12192000" cy="6780609"/>
          </a:xfrm>
          <a:prstGeom prst="rect">
            <a:avLst/>
          </a:prstGeom>
        </p:spPr>
      </p:pic>
      <p:sp>
        <p:nvSpPr>
          <p:cNvPr id="2" name="Titre 1">
            <a:extLst>
              <a:ext uri="{FF2B5EF4-FFF2-40B4-BE49-F238E27FC236}">
                <a16:creationId xmlns:a16="http://schemas.microsoft.com/office/drawing/2014/main" id="{F8BFCC7F-8BB7-AB08-F10F-364EF01776F4}"/>
              </a:ext>
            </a:extLst>
          </p:cNvPr>
          <p:cNvSpPr>
            <a:spLocks noGrp="1"/>
          </p:cNvSpPr>
          <p:nvPr>
            <p:ph type="title"/>
          </p:nvPr>
        </p:nvSpPr>
        <p:spPr>
          <a:xfrm>
            <a:off x="0" y="-268823"/>
            <a:ext cx="9916160" cy="894715"/>
          </a:xfrm>
        </p:spPr>
        <p:txBody>
          <a:bodyPr>
            <a:normAutofit/>
          </a:bodyPr>
          <a:lstStyle/>
          <a:p>
            <a:r>
              <a:rPr lang="fr-BE" sz="3600" dirty="0"/>
              <a:t>Impacts futurs (GIEC, WG II, 2022)</a:t>
            </a:r>
          </a:p>
        </p:txBody>
      </p:sp>
    </p:spTree>
    <p:extLst>
      <p:ext uri="{BB962C8B-B14F-4D97-AF65-F5344CB8AC3E}">
        <p14:creationId xmlns:p14="http://schemas.microsoft.com/office/powerpoint/2010/main" val="138652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A3B8-C766-6FDF-4AF4-3B6D0493D12F}"/>
            </a:ext>
          </a:extLst>
        </p:cNvPr>
        <p:cNvGrpSpPr/>
        <p:nvPr/>
      </p:nvGrpSpPr>
      <p:grpSpPr>
        <a:xfrm>
          <a:off x="0" y="0"/>
          <a:ext cx="0" cy="0"/>
          <a:chOff x="0" y="0"/>
          <a:chExt cx="0" cy="0"/>
        </a:xfrm>
      </p:grpSpPr>
      <p:pic>
        <p:nvPicPr>
          <p:cNvPr id="11" name="Image 10" descr="Une image contenant texte, capture d’écran, carte&#10;&#10;Le contenu généré par l’IA peut être incorrect.">
            <a:extLst>
              <a:ext uri="{FF2B5EF4-FFF2-40B4-BE49-F238E27FC236}">
                <a16:creationId xmlns:a16="http://schemas.microsoft.com/office/drawing/2014/main" id="{AE4589BF-19D3-71CC-E329-7BBAFB07DD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7200" y="201371"/>
            <a:ext cx="9119432" cy="6455257"/>
          </a:xfrm>
          <a:prstGeom prst="rect">
            <a:avLst/>
          </a:prstGeom>
        </p:spPr>
      </p:pic>
      <p:sp>
        <p:nvSpPr>
          <p:cNvPr id="5" name="Titre 1">
            <a:extLst>
              <a:ext uri="{FF2B5EF4-FFF2-40B4-BE49-F238E27FC236}">
                <a16:creationId xmlns:a16="http://schemas.microsoft.com/office/drawing/2014/main" id="{651936F9-8D95-4D31-C0AB-F9488198B595}"/>
              </a:ext>
            </a:extLst>
          </p:cNvPr>
          <p:cNvSpPr txBox="1">
            <a:spLocks/>
          </p:cNvSpPr>
          <p:nvPr/>
        </p:nvSpPr>
        <p:spPr>
          <a:xfrm>
            <a:off x="0" y="-268823"/>
            <a:ext cx="2773680" cy="3052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BE" sz="3600" b="0" i="0" u="none" strike="noStrike" kern="1200" cap="none" spc="0" normalizeH="0" baseline="0" noProof="0" dirty="0">
                <a:ln>
                  <a:noFill/>
                </a:ln>
                <a:solidFill>
                  <a:prstClr val="black"/>
                </a:solidFill>
                <a:effectLst/>
                <a:uLnTx/>
                <a:uFillTx/>
                <a:latin typeface="Aptos Display" panose="02110004020202020204"/>
                <a:ea typeface="+mj-ea"/>
                <a:cs typeface="+mj-cs"/>
              </a:rPr>
              <a:t>Impacts futurs (GIEC, WG II, 2022)</a:t>
            </a:r>
          </a:p>
        </p:txBody>
      </p:sp>
    </p:spTree>
    <p:extLst>
      <p:ext uri="{BB962C8B-B14F-4D97-AF65-F5344CB8AC3E}">
        <p14:creationId xmlns:p14="http://schemas.microsoft.com/office/powerpoint/2010/main" val="564954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32889-364F-91A3-39B5-ECC599036F73}"/>
            </a:ext>
          </a:extLst>
        </p:cNvPr>
        <p:cNvGrpSpPr/>
        <p:nvPr/>
      </p:nvGrpSpPr>
      <p:grpSpPr>
        <a:xfrm>
          <a:off x="0" y="0"/>
          <a:ext cx="0" cy="0"/>
          <a:chOff x="0" y="0"/>
          <a:chExt cx="0" cy="0"/>
        </a:xfrm>
      </p:grpSpPr>
      <p:sp>
        <p:nvSpPr>
          <p:cNvPr id="5" name="Titre 1">
            <a:extLst>
              <a:ext uri="{FF2B5EF4-FFF2-40B4-BE49-F238E27FC236}">
                <a16:creationId xmlns:a16="http://schemas.microsoft.com/office/drawing/2014/main" id="{CB018069-A3B2-9FD5-64E2-AC7F0506DDEC}"/>
              </a:ext>
            </a:extLst>
          </p:cNvPr>
          <p:cNvSpPr txBox="1">
            <a:spLocks/>
          </p:cNvSpPr>
          <p:nvPr/>
        </p:nvSpPr>
        <p:spPr>
          <a:xfrm>
            <a:off x="0" y="-268823"/>
            <a:ext cx="1951196" cy="41499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BE" sz="3600" b="0" i="0" u="none" strike="noStrike" kern="1200" cap="none" spc="0" normalizeH="0" baseline="0" noProof="0" dirty="0">
                <a:ln>
                  <a:noFill/>
                </a:ln>
                <a:solidFill>
                  <a:prstClr val="black"/>
                </a:solidFill>
                <a:effectLst/>
                <a:uLnTx/>
                <a:uFillTx/>
                <a:latin typeface="Aptos Display" panose="02110004020202020204"/>
                <a:ea typeface="+mj-ea"/>
                <a:cs typeface="+mj-cs"/>
              </a:rPr>
              <a:t>Impacts futurs (GIEC, WG II, 2022)</a:t>
            </a:r>
          </a:p>
        </p:txBody>
      </p:sp>
      <p:pic>
        <p:nvPicPr>
          <p:cNvPr id="9" name="Image 8">
            <a:extLst>
              <a:ext uri="{FF2B5EF4-FFF2-40B4-BE49-F238E27FC236}">
                <a16:creationId xmlns:a16="http://schemas.microsoft.com/office/drawing/2014/main" id="{B2546B92-D0AC-97B4-7473-E9BE55795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1434" y="4838418"/>
            <a:ext cx="10240804" cy="2019582"/>
          </a:xfrm>
          <a:prstGeom prst="rect">
            <a:avLst/>
          </a:prstGeom>
        </p:spPr>
      </p:pic>
      <p:pic>
        <p:nvPicPr>
          <p:cNvPr id="11" name="Image 10">
            <a:extLst>
              <a:ext uri="{FF2B5EF4-FFF2-40B4-BE49-F238E27FC236}">
                <a16:creationId xmlns:a16="http://schemas.microsoft.com/office/drawing/2014/main" id="{C7F64EA7-4D3F-8F76-59D2-4B7C26C7C1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1196" y="165420"/>
            <a:ext cx="10240804" cy="4515480"/>
          </a:xfrm>
          <a:prstGeom prst="rect">
            <a:avLst/>
          </a:prstGeom>
        </p:spPr>
      </p:pic>
    </p:spTree>
    <p:extLst>
      <p:ext uri="{BB962C8B-B14F-4D97-AF65-F5344CB8AC3E}">
        <p14:creationId xmlns:p14="http://schemas.microsoft.com/office/powerpoint/2010/main" val="2722351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249A8-F335-CB83-4913-81CAA05ABE8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945D14A-A998-E8DF-4F92-8D5ACBF3555E}"/>
              </a:ext>
            </a:extLst>
          </p:cNvPr>
          <p:cNvSpPr>
            <a:spLocks noGrp="1"/>
          </p:cNvSpPr>
          <p:nvPr>
            <p:ph type="title"/>
          </p:nvPr>
        </p:nvSpPr>
        <p:spPr>
          <a:xfrm>
            <a:off x="134158" y="415925"/>
            <a:ext cx="2184400" cy="2733675"/>
          </a:xfrm>
        </p:spPr>
        <p:txBody>
          <a:bodyPr>
            <a:normAutofit fontScale="90000"/>
          </a:bodyPr>
          <a:lstStyle/>
          <a:p>
            <a:r>
              <a:rPr lang="fr-BE" dirty="0"/>
              <a:t>Impacts futurs (GIEC, WG II, 2022)</a:t>
            </a:r>
          </a:p>
        </p:txBody>
      </p:sp>
      <p:pic>
        <p:nvPicPr>
          <p:cNvPr id="4" name="Image 3">
            <a:extLst>
              <a:ext uri="{FF2B5EF4-FFF2-40B4-BE49-F238E27FC236}">
                <a16:creationId xmlns:a16="http://schemas.microsoft.com/office/drawing/2014/main" id="{D7781DD1-9AD7-524A-2755-E74F00A5B3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1599" y="0"/>
            <a:ext cx="8146243" cy="6858000"/>
          </a:xfrm>
          <a:prstGeom prst="rect">
            <a:avLst/>
          </a:prstGeom>
        </p:spPr>
      </p:pic>
    </p:spTree>
    <p:extLst>
      <p:ext uri="{BB962C8B-B14F-4D97-AF65-F5344CB8AC3E}">
        <p14:creationId xmlns:p14="http://schemas.microsoft.com/office/powerpoint/2010/main" val="2472576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403D3-D3F1-AB8D-EC91-5F176FB0E00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70A98B-30F6-B8A7-9D77-F5FB842F4DBB}"/>
              </a:ext>
            </a:extLst>
          </p:cNvPr>
          <p:cNvSpPr>
            <a:spLocks noGrp="1"/>
          </p:cNvSpPr>
          <p:nvPr>
            <p:ph type="title"/>
          </p:nvPr>
        </p:nvSpPr>
        <p:spPr>
          <a:xfrm>
            <a:off x="134158" y="415925"/>
            <a:ext cx="1805853" cy="2733675"/>
          </a:xfrm>
        </p:spPr>
        <p:txBody>
          <a:bodyPr>
            <a:noAutofit/>
          </a:bodyPr>
          <a:lstStyle/>
          <a:p>
            <a:r>
              <a:rPr lang="fr-BE" sz="2400" dirty="0"/>
              <a:t>Trajets futurs possibles</a:t>
            </a:r>
            <a:br>
              <a:rPr lang="fr-BE" sz="2400" dirty="0"/>
            </a:br>
            <a:r>
              <a:rPr lang="fr-BE" sz="2400" dirty="0"/>
              <a:t>(GIEC, WG II, 2022)</a:t>
            </a:r>
          </a:p>
        </p:txBody>
      </p:sp>
      <p:pic>
        <p:nvPicPr>
          <p:cNvPr id="5" name="Image 4" descr="Une image contenant texte, capture d’écran, diagramme, cercle&#10;&#10;Le contenu généré par l’IA peut être incorrect.">
            <a:extLst>
              <a:ext uri="{FF2B5EF4-FFF2-40B4-BE49-F238E27FC236}">
                <a16:creationId xmlns:a16="http://schemas.microsoft.com/office/drawing/2014/main" id="{43BFEA70-8AB7-9017-900E-A9F75A97B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8288" y="0"/>
            <a:ext cx="10113712" cy="6858000"/>
          </a:xfrm>
          <a:prstGeom prst="rect">
            <a:avLst/>
          </a:prstGeom>
        </p:spPr>
      </p:pic>
    </p:spTree>
    <p:extLst>
      <p:ext uri="{BB962C8B-B14F-4D97-AF65-F5344CB8AC3E}">
        <p14:creationId xmlns:p14="http://schemas.microsoft.com/office/powerpoint/2010/main" val="1096524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17604-E1FB-54AE-F1B8-235F7E36695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BA25690-D1E5-03E0-415E-8BAC00B0FF45}"/>
              </a:ext>
            </a:extLst>
          </p:cNvPr>
          <p:cNvSpPr>
            <a:spLocks noGrp="1"/>
          </p:cNvSpPr>
          <p:nvPr>
            <p:ph type="title"/>
          </p:nvPr>
        </p:nvSpPr>
        <p:spPr>
          <a:xfrm>
            <a:off x="134158" y="415925"/>
            <a:ext cx="2184400" cy="2733675"/>
          </a:xfrm>
        </p:spPr>
        <p:txBody>
          <a:bodyPr>
            <a:normAutofit fontScale="90000"/>
          </a:bodyPr>
          <a:lstStyle/>
          <a:p>
            <a:r>
              <a:rPr lang="fr-BE" dirty="0"/>
              <a:t>Impacts futurs (GIEC, WG II, 2022)</a:t>
            </a:r>
          </a:p>
        </p:txBody>
      </p:sp>
      <p:pic>
        <p:nvPicPr>
          <p:cNvPr id="5" name="Image 4" descr="Une image contenant dessin, croquis, texte, diagramme&#10;&#10;Le contenu généré par l’IA peut être incorrect.">
            <a:extLst>
              <a:ext uri="{FF2B5EF4-FFF2-40B4-BE49-F238E27FC236}">
                <a16:creationId xmlns:a16="http://schemas.microsoft.com/office/drawing/2014/main" id="{323472F5-4DE6-81B3-644E-648C533318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379"/>
            <a:ext cx="12192000" cy="6729241"/>
          </a:xfrm>
          <a:prstGeom prst="rect">
            <a:avLst/>
          </a:prstGeom>
        </p:spPr>
      </p:pic>
    </p:spTree>
    <p:extLst>
      <p:ext uri="{BB962C8B-B14F-4D97-AF65-F5344CB8AC3E}">
        <p14:creationId xmlns:p14="http://schemas.microsoft.com/office/powerpoint/2010/main" val="2370289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9DC32-7B2D-77C8-3FDC-515447DE507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5816633-C8D7-38DC-972B-EEDB9D740EFB}"/>
              </a:ext>
            </a:extLst>
          </p:cNvPr>
          <p:cNvSpPr>
            <a:spLocks noGrp="1"/>
          </p:cNvSpPr>
          <p:nvPr>
            <p:ph type="title"/>
          </p:nvPr>
        </p:nvSpPr>
        <p:spPr>
          <a:xfrm>
            <a:off x="134158" y="415925"/>
            <a:ext cx="2184400" cy="2733675"/>
          </a:xfrm>
        </p:spPr>
        <p:txBody>
          <a:bodyPr>
            <a:normAutofit fontScale="90000"/>
          </a:bodyPr>
          <a:lstStyle/>
          <a:p>
            <a:r>
              <a:rPr lang="fr-BE" dirty="0"/>
              <a:t>Impacts futurs (GIEC, WG II, 2022)</a:t>
            </a:r>
          </a:p>
        </p:txBody>
      </p:sp>
      <p:pic>
        <p:nvPicPr>
          <p:cNvPr id="5" name="Image 4" descr="Une image contenant texte, carte, capture d’écran&#10;&#10;Le contenu généré par l’IA peut être incorrect.">
            <a:extLst>
              <a:ext uri="{FF2B5EF4-FFF2-40B4-BE49-F238E27FC236}">
                <a16:creationId xmlns:a16="http://schemas.microsoft.com/office/drawing/2014/main" id="{0FB3C84D-04DB-A6A6-C451-023703B5D8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255" y="0"/>
            <a:ext cx="11153490" cy="6858000"/>
          </a:xfrm>
          <a:prstGeom prst="rect">
            <a:avLst/>
          </a:prstGeom>
        </p:spPr>
      </p:pic>
    </p:spTree>
    <p:extLst>
      <p:ext uri="{BB962C8B-B14F-4D97-AF65-F5344CB8AC3E}">
        <p14:creationId xmlns:p14="http://schemas.microsoft.com/office/powerpoint/2010/main" val="63296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F4208-A8FB-1E44-87DF-AEADBF690182}"/>
              </a:ext>
            </a:extLst>
          </p:cNvPr>
          <p:cNvSpPr>
            <a:spLocks noGrp="1"/>
          </p:cNvSpPr>
          <p:nvPr>
            <p:ph type="title"/>
          </p:nvPr>
        </p:nvSpPr>
        <p:spPr>
          <a:xfrm>
            <a:off x="1215246" y="396219"/>
            <a:ext cx="7886700" cy="539335"/>
          </a:xfrm>
        </p:spPr>
        <p:txBody>
          <a:bodyPr>
            <a:normAutofit/>
          </a:bodyPr>
          <a:lstStyle/>
          <a:p>
            <a:r>
              <a:rPr lang="fr-FR" sz="2900" b="1" dirty="0">
                <a:latin typeface="Arial" panose="020B0604020202020204" pitchFamily="34" charset="0"/>
                <a:ea typeface="ヒラギノ角ゴ Pro W3" panose="020B0300000000000000" pitchFamily="34" charset="-128"/>
              </a:rPr>
              <a:t>Qui sont les victimes ?</a:t>
            </a:r>
          </a:p>
        </p:txBody>
      </p:sp>
      <p:sp>
        <p:nvSpPr>
          <p:cNvPr id="3" name="Espace réservé du contenu 2">
            <a:extLst>
              <a:ext uri="{FF2B5EF4-FFF2-40B4-BE49-F238E27FC236}">
                <a16:creationId xmlns:a16="http://schemas.microsoft.com/office/drawing/2014/main" id="{9AAB6787-06D1-AC4D-94A1-9998EF4DB624}"/>
              </a:ext>
            </a:extLst>
          </p:cNvPr>
          <p:cNvSpPr>
            <a:spLocks noGrp="1"/>
          </p:cNvSpPr>
          <p:nvPr>
            <p:ph idx="1"/>
          </p:nvPr>
        </p:nvSpPr>
        <p:spPr>
          <a:xfrm>
            <a:off x="1076446" y="1232935"/>
            <a:ext cx="10277354" cy="5123415"/>
          </a:xfrm>
        </p:spPr>
        <p:txBody>
          <a:bodyPr>
            <a:normAutofit/>
          </a:bodyPr>
          <a:lstStyle/>
          <a:p>
            <a:pPr marL="342900" indent="-342900" algn="just" defTabSz="457200">
              <a:buFont typeface="Arial"/>
              <a:buChar char="•"/>
            </a:pPr>
            <a:r>
              <a:rPr lang="fr-FR" sz="2400" dirty="0">
                <a:latin typeface="Arial" panose="020B0604020202020204" pitchFamily="34" charset="0"/>
                <a:ea typeface="Avenir Book" charset="0"/>
                <a:cs typeface="Arial" panose="020B0604020202020204" pitchFamily="34" charset="0"/>
              </a:rPr>
              <a:t>Les pertes liées aux événements climatiques se répartissent de manière très inégale dans le monde :</a:t>
            </a:r>
          </a:p>
          <a:p>
            <a:pPr marL="800100" lvl="1" indent="-342900" algn="just" defTabSz="457200">
              <a:buFont typeface="Arial"/>
              <a:buChar char="•"/>
            </a:pPr>
            <a:r>
              <a:rPr lang="fr-FR" sz="2000" dirty="0">
                <a:latin typeface="Arial" panose="020B0604020202020204" pitchFamily="34" charset="0"/>
                <a:ea typeface="Avenir Book" charset="0"/>
                <a:cs typeface="Arial" panose="020B0604020202020204" pitchFamily="34" charset="0"/>
              </a:rPr>
              <a:t>En termes absolus, les pertes économiques sont plus importantes dans les pays riches du fait de la valeur des biens exposés ;</a:t>
            </a:r>
          </a:p>
          <a:p>
            <a:pPr marL="800100" lvl="1" indent="-342900" algn="just" defTabSz="457200">
              <a:buFont typeface="Arial"/>
              <a:buChar char="•"/>
            </a:pPr>
            <a:r>
              <a:rPr lang="fr-FR" sz="2000" dirty="0">
                <a:latin typeface="Arial" panose="020B0604020202020204" pitchFamily="34" charset="0"/>
                <a:ea typeface="Avenir Book" charset="0"/>
                <a:cs typeface="Arial" panose="020B0604020202020204" pitchFamily="34" charset="0"/>
              </a:rPr>
              <a:t>Les pertes économiques en proportion de la richesse, ainsi que les taux de mortalité, sont par contre beaucoup plus grands dans les pays pauvres. </a:t>
            </a:r>
          </a:p>
          <a:p>
            <a:pPr marL="342900" indent="-342900" algn="just" defTabSz="457200">
              <a:buFont typeface="Arial"/>
              <a:buChar char="•"/>
            </a:pPr>
            <a:endParaRPr lang="fr-FR" sz="2400" dirty="0">
              <a:latin typeface="Arial" panose="020B0604020202020204" pitchFamily="34" charset="0"/>
              <a:ea typeface="Avenir Book" charset="0"/>
              <a:cs typeface="Arial" panose="020B0604020202020204" pitchFamily="34" charset="0"/>
            </a:endParaRPr>
          </a:p>
          <a:p>
            <a:pPr marL="342900" indent="-342900" algn="just" defTabSz="457200">
              <a:buFont typeface="Arial"/>
              <a:buChar char="•"/>
            </a:pPr>
            <a:r>
              <a:rPr lang="fr-FR" sz="2400" dirty="0">
                <a:latin typeface="Arial" panose="020B0604020202020204" pitchFamily="34" charset="0"/>
                <a:ea typeface="Avenir Book" charset="0"/>
                <a:cs typeface="Arial" panose="020B0604020202020204" pitchFamily="34" charset="0"/>
              </a:rPr>
              <a:t>Entre 1970 et 2008, 95% des décès dus aux catastrophes naturelles (événements géophysiques compris) ont eu lieu dans les pays en développement.</a:t>
            </a:r>
          </a:p>
          <a:p>
            <a:pPr algn="just">
              <a:spcAft>
                <a:spcPts val="865"/>
              </a:spcAft>
            </a:pPr>
            <a:endParaRPr lang="fr-FR" sz="2400" dirty="0">
              <a:latin typeface="Arial" panose="020B0604020202020204" pitchFamily="34" charset="0"/>
              <a:ea typeface="Times New Roman" panose="02020603050405020304" pitchFamily="18" charset="0"/>
              <a:cs typeface="Arial" panose="020B0604020202020204" pitchFamily="34" charset="0"/>
            </a:endParaRPr>
          </a:p>
          <a:p>
            <a:pPr algn="just" defTabSz="457200">
              <a:spcBef>
                <a:spcPts val="0"/>
              </a:spcBef>
              <a:defRPr/>
            </a:pPr>
            <a:endParaRPr lang="fr-FR" sz="2400" dirty="0">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5D6D18D8-D0E9-9440-8394-16D3F5A09959}"/>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275DA7C-6029-4D47-B08A-2D747AA892A8}" type="slidenum">
              <a:rPr kumimoji="0" lang="fr-FR"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1859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43C2A-A709-C162-9FA0-74FA0C78B19D}"/>
              </a:ext>
            </a:extLst>
          </p:cNvPr>
          <p:cNvSpPr>
            <a:spLocks noGrp="1"/>
          </p:cNvSpPr>
          <p:nvPr>
            <p:ph type="title"/>
          </p:nvPr>
        </p:nvSpPr>
        <p:spPr>
          <a:xfrm>
            <a:off x="288471" y="312810"/>
            <a:ext cx="12179574" cy="959754"/>
          </a:xfrm>
        </p:spPr>
        <p:txBody>
          <a:bodyPr>
            <a:normAutofit fontScale="90000"/>
          </a:bodyPr>
          <a:lstStyle/>
          <a:p>
            <a:r>
              <a:rPr lang="en-GB" dirty="0"/>
              <a:t>Les pays et </a:t>
            </a:r>
            <a:r>
              <a:rPr lang="en-GB" dirty="0" err="1"/>
              <a:t>régions</a:t>
            </a:r>
            <a:r>
              <a:rPr lang="en-GB" dirty="0"/>
              <a:t> les plus pauvres </a:t>
            </a:r>
            <a:r>
              <a:rPr lang="en-GB" dirty="0" err="1"/>
              <a:t>sont</a:t>
            </a:r>
            <a:r>
              <a:rPr lang="en-GB" dirty="0"/>
              <a:t> (et </a:t>
            </a:r>
            <a:r>
              <a:rPr lang="en-GB" dirty="0" err="1"/>
              <a:t>seront</a:t>
            </a:r>
            <a:r>
              <a:rPr lang="en-GB" dirty="0"/>
              <a:t>) les plus </a:t>
            </a:r>
            <a:r>
              <a:rPr lang="en-GB" dirty="0" err="1"/>
              <a:t>affectés</a:t>
            </a:r>
            <a:r>
              <a:rPr lang="en-GB" dirty="0"/>
              <a:t> par les pics de </a:t>
            </a:r>
            <a:r>
              <a:rPr lang="en-GB" dirty="0" err="1"/>
              <a:t>chaleur</a:t>
            </a:r>
            <a:endParaRPr lang="en-BE" dirty="0"/>
          </a:p>
        </p:txBody>
      </p:sp>
      <p:pic>
        <p:nvPicPr>
          <p:cNvPr id="6" name="Content Placeholder 5">
            <a:extLst>
              <a:ext uri="{FF2B5EF4-FFF2-40B4-BE49-F238E27FC236}">
                <a16:creationId xmlns:a16="http://schemas.microsoft.com/office/drawing/2014/main" id="{C73A9108-23B1-F09E-427C-B4C528692E6B}"/>
              </a:ext>
            </a:extLst>
          </p:cNvPr>
          <p:cNvPicPr>
            <a:picLocks noGrp="1" noChangeAspect="1"/>
          </p:cNvPicPr>
          <p:nvPr>
            <p:ph sz="half" idx="1"/>
          </p:nvPr>
        </p:nvPicPr>
        <p:blipFill>
          <a:blip r:embed="rId3"/>
          <a:stretch>
            <a:fillRect/>
          </a:stretch>
        </p:blipFill>
        <p:spPr>
          <a:xfrm>
            <a:off x="957990" y="1543483"/>
            <a:ext cx="4648277" cy="3987550"/>
          </a:xfrm>
        </p:spPr>
      </p:pic>
      <p:sp>
        <p:nvSpPr>
          <p:cNvPr id="4" name="Content Placeholder 3">
            <a:extLst>
              <a:ext uri="{FF2B5EF4-FFF2-40B4-BE49-F238E27FC236}">
                <a16:creationId xmlns:a16="http://schemas.microsoft.com/office/drawing/2014/main" id="{69A08FAE-D374-CB7B-F1C5-B12083A5EE8C}"/>
              </a:ext>
            </a:extLst>
          </p:cNvPr>
          <p:cNvSpPr>
            <a:spLocks noGrp="1"/>
          </p:cNvSpPr>
          <p:nvPr>
            <p:ph sz="half" idx="2"/>
          </p:nvPr>
        </p:nvSpPr>
        <p:spPr>
          <a:xfrm>
            <a:off x="6378258" y="2024744"/>
            <a:ext cx="4648277" cy="1216814"/>
          </a:xfrm>
        </p:spPr>
        <p:txBody>
          <a:bodyPr>
            <a:normAutofit fontScale="92500" lnSpcReduction="10000"/>
          </a:bodyPr>
          <a:lstStyle/>
          <a:p>
            <a:pPr marL="0" indent="0" algn="ctr">
              <a:buNone/>
            </a:pPr>
            <a:r>
              <a:rPr lang="en-GB" sz="2400" dirty="0"/>
              <a:t>Les classes les plus </a:t>
            </a:r>
            <a:r>
              <a:rPr lang="en-GB" sz="2400" dirty="0" err="1"/>
              <a:t>défavorisées</a:t>
            </a:r>
            <a:r>
              <a:rPr lang="en-GB" sz="2400" dirty="0"/>
              <a:t> </a:t>
            </a:r>
            <a:r>
              <a:rPr lang="en-GB" sz="2400" dirty="0" err="1"/>
              <a:t>sont</a:t>
            </a:r>
            <a:r>
              <a:rPr lang="en-GB" sz="2400" dirty="0"/>
              <a:t> plus </a:t>
            </a:r>
            <a:r>
              <a:rPr lang="en-GB" sz="2400" dirty="0" err="1"/>
              <a:t>vulnérables</a:t>
            </a:r>
            <a:r>
              <a:rPr lang="en-GB" sz="2400" dirty="0"/>
              <a:t> face aux impacts des </a:t>
            </a:r>
            <a:r>
              <a:rPr lang="en-GB" sz="2400" dirty="0" err="1"/>
              <a:t>changements</a:t>
            </a:r>
            <a:r>
              <a:rPr lang="en-GB" sz="2400" dirty="0"/>
              <a:t> </a:t>
            </a:r>
            <a:r>
              <a:rPr lang="en-GB" sz="2400" dirty="0" err="1"/>
              <a:t>climatiques</a:t>
            </a:r>
            <a:endParaRPr lang="en-BE" sz="2400" dirty="0"/>
          </a:p>
        </p:txBody>
      </p:sp>
      <p:sp>
        <p:nvSpPr>
          <p:cNvPr id="8" name="TextBox 7">
            <a:extLst>
              <a:ext uri="{FF2B5EF4-FFF2-40B4-BE49-F238E27FC236}">
                <a16:creationId xmlns:a16="http://schemas.microsoft.com/office/drawing/2014/main" id="{8512F5C4-4F3A-09E2-1DA3-A39E2DF7D097}"/>
              </a:ext>
            </a:extLst>
          </p:cNvPr>
          <p:cNvSpPr txBox="1"/>
          <p:nvPr/>
        </p:nvSpPr>
        <p:spPr>
          <a:xfrm>
            <a:off x="7081156" y="4833256"/>
            <a:ext cx="464827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prstClr val="black"/>
                </a:solidFill>
                <a:effectLst/>
                <a:uLnTx/>
                <a:uFillTx/>
                <a:latin typeface="Aptos" panose="02110004020202020204"/>
                <a:ea typeface="+mn-ea"/>
                <a:cs typeface="+mn-cs"/>
              </a:rPr>
              <a:t> </a:t>
            </a:r>
            <a:endPar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11EAA3DF-ECC2-E73C-AB76-0DBF445FFB9D}"/>
              </a:ext>
            </a:extLst>
          </p:cNvPr>
          <p:cNvSpPr txBox="1"/>
          <p:nvPr/>
        </p:nvSpPr>
        <p:spPr>
          <a:xfrm>
            <a:off x="4020535" y="5531033"/>
            <a:ext cx="194735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Oxfam, 2023</a:t>
            </a:r>
            <a:endParaRPr kumimoji="0" lang="en-B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3827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D87EE-EE7B-5515-CE48-D1084DBFB0A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B877DE-E4D5-207D-9A6B-0FD566CF33B5}"/>
              </a:ext>
            </a:extLst>
          </p:cNvPr>
          <p:cNvSpPr>
            <a:spLocks noGrp="1"/>
          </p:cNvSpPr>
          <p:nvPr>
            <p:ph type="title"/>
          </p:nvPr>
        </p:nvSpPr>
        <p:spPr/>
        <p:txBody>
          <a:bodyPr/>
          <a:lstStyle/>
          <a:p>
            <a:r>
              <a:rPr lang="fr-FR" dirty="0"/>
              <a:t>Un événement climatique extrême dans un pays riche</a:t>
            </a:r>
          </a:p>
        </p:txBody>
      </p:sp>
      <p:sp>
        <p:nvSpPr>
          <p:cNvPr id="3" name="Espace réservé du contenu 2">
            <a:extLst>
              <a:ext uri="{FF2B5EF4-FFF2-40B4-BE49-F238E27FC236}">
                <a16:creationId xmlns:a16="http://schemas.microsoft.com/office/drawing/2014/main" id="{FE5E932E-E31F-3CCC-BAA3-AEEF269726BB}"/>
              </a:ext>
            </a:extLst>
          </p:cNvPr>
          <p:cNvSpPr>
            <a:spLocks noGrp="1"/>
          </p:cNvSpPr>
          <p:nvPr>
            <p:ph idx="1"/>
          </p:nvPr>
        </p:nvSpPr>
        <p:spPr>
          <a:xfrm>
            <a:off x="532058" y="1937295"/>
            <a:ext cx="11101142" cy="4351338"/>
          </a:xfrm>
        </p:spPr>
        <p:txBody>
          <a:bodyPr>
            <a:normAutofit/>
          </a:bodyPr>
          <a:lstStyle/>
          <a:p>
            <a:pPr marL="0" indent="0">
              <a:buNone/>
            </a:pPr>
            <a:r>
              <a:rPr lang="fr-FR" sz="4800" dirty="0"/>
              <a:t>L’exemple des inondations de 2021 dans les </a:t>
            </a:r>
            <a:r>
              <a:rPr lang="fr-FR" sz="4800"/>
              <a:t>vallées liégeoises</a:t>
            </a:r>
            <a:endParaRPr lang="fr-FR" sz="4800" i="1" dirty="0">
              <a:highlight>
                <a:srgbClr val="FFFF00"/>
              </a:highlight>
            </a:endParaRPr>
          </a:p>
        </p:txBody>
      </p:sp>
    </p:spTree>
    <p:extLst>
      <p:ext uri="{BB962C8B-B14F-4D97-AF65-F5344CB8AC3E}">
        <p14:creationId xmlns:p14="http://schemas.microsoft.com/office/powerpoint/2010/main" val="482853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A78F7-2DF0-D951-1A56-3CE06E4AECE5}"/>
              </a:ext>
            </a:extLst>
          </p:cNvPr>
          <p:cNvSpPr>
            <a:spLocks noGrp="1"/>
          </p:cNvSpPr>
          <p:nvPr>
            <p:ph type="title"/>
          </p:nvPr>
        </p:nvSpPr>
        <p:spPr>
          <a:xfrm>
            <a:off x="561667" y="-278177"/>
            <a:ext cx="11012320" cy="1325563"/>
          </a:xfrm>
        </p:spPr>
        <p:txBody>
          <a:bodyPr>
            <a:normAutofit/>
          </a:bodyPr>
          <a:lstStyle/>
          <a:p>
            <a:r>
              <a:rPr lang="fr-FR" sz="3200" dirty="0"/>
              <a:t>14 juillet, il pleut … comme souvent en Belgique , il « drache » !</a:t>
            </a:r>
          </a:p>
        </p:txBody>
      </p:sp>
      <p:pic>
        <p:nvPicPr>
          <p:cNvPr id="2050" name="Picture 2" descr="Le roi Philippe et la reine Mathilde à Liège auprès des victimes des  inondations">
            <a:extLst>
              <a:ext uri="{FF2B5EF4-FFF2-40B4-BE49-F238E27FC236}">
                <a16:creationId xmlns:a16="http://schemas.microsoft.com/office/drawing/2014/main" id="{C1D2B3D3-CDE0-FD39-35AC-2F975DDAD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708" y="575036"/>
            <a:ext cx="5119964" cy="269211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our éviter d'être trempé, c'est mieux de marcher ou de courir sous la pluie  ? - rtbf.be">
            <a:extLst>
              <a:ext uri="{FF2B5EF4-FFF2-40B4-BE49-F238E27FC236}">
                <a16:creationId xmlns:a16="http://schemas.microsoft.com/office/drawing/2014/main" id="{F06EBFF2-AAAA-6B15-9D43-D70486AD1B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352" y="575036"/>
            <a:ext cx="5609475" cy="3141306"/>
          </a:xfrm>
          <a:prstGeom prst="rect">
            <a:avLst/>
          </a:prstGeom>
          <a:noFill/>
          <a:extLst>
            <a:ext uri="{909E8E84-426E-40DD-AFC4-6F175D3DCCD1}">
              <a14:hiddenFill xmlns:a14="http://schemas.microsoft.com/office/drawing/2010/main">
                <a:solidFill>
                  <a:srgbClr val="FFFFFF"/>
                </a:solidFill>
              </a14:hiddenFill>
            </a:ext>
          </a:extLst>
        </p:spPr>
      </p:pic>
      <p:sp>
        <p:nvSpPr>
          <p:cNvPr id="5" name="Titre 1">
            <a:extLst>
              <a:ext uri="{FF2B5EF4-FFF2-40B4-BE49-F238E27FC236}">
                <a16:creationId xmlns:a16="http://schemas.microsoft.com/office/drawing/2014/main" id="{E9D09D91-1E03-5AEA-2126-E86A0A0883D2}"/>
              </a:ext>
            </a:extLst>
          </p:cNvPr>
          <p:cNvSpPr txBox="1">
            <a:spLocks/>
          </p:cNvSpPr>
          <p:nvPr/>
        </p:nvSpPr>
        <p:spPr>
          <a:xfrm>
            <a:off x="721327" y="4269087"/>
            <a:ext cx="560947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chemeClr val="tx1"/>
                </a:solidFill>
                <a:latin typeface="Archivo Black" pitchFamily="2" charset="77"/>
                <a:ea typeface="+mj-ea"/>
                <a:cs typeface="Archivo Black" pitchFamily="2" charset="77"/>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200" b="1" i="0" u="none" strike="noStrike" kern="1200" cap="none" spc="0" normalizeH="0" baseline="0" noProof="0" dirty="0">
                <a:ln>
                  <a:noFill/>
                </a:ln>
                <a:solidFill>
                  <a:prstClr val="black"/>
                </a:solidFill>
                <a:effectLst/>
                <a:uLnTx/>
                <a:uFillTx/>
                <a:latin typeface="Aptos" panose="02110004020202020204"/>
                <a:ea typeface="+mj-ea"/>
              </a:rPr>
              <a:t>Nuit du 14 au 15, la situation devient incontrôlable </a:t>
            </a:r>
          </a:p>
        </p:txBody>
      </p:sp>
      <p:pic>
        <p:nvPicPr>
          <p:cNvPr id="6" name="Picture 4" descr="Inondations de juillet 2021 en Belgique : le résumé des événements heure  par heure (ligne du temps) - rtbf.be">
            <a:extLst>
              <a:ext uri="{FF2B5EF4-FFF2-40B4-BE49-F238E27FC236}">
                <a16:creationId xmlns:a16="http://schemas.microsoft.com/office/drawing/2014/main" id="{CF01D4D8-6687-C6E2-813D-0FABB4F8AE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6611" y="3477897"/>
            <a:ext cx="4709466" cy="2637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7383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4C9DD925-5351-9B72-99B5-22CF91FC32E4}"/>
              </a:ext>
            </a:extLst>
          </p:cNvPr>
          <p:cNvSpPr>
            <a:spLocks noGrp="1"/>
          </p:cNvSpPr>
          <p:nvPr>
            <p:ph type="body" idx="10"/>
          </p:nvPr>
        </p:nvSpPr>
        <p:spPr>
          <a:xfrm>
            <a:off x="186460" y="-36480"/>
            <a:ext cx="5909540" cy="3096079"/>
          </a:xfrm>
        </p:spPr>
        <p:txBody>
          <a:bodyPr>
            <a:normAutofit/>
          </a:bodyPr>
          <a:lstStyle/>
          <a:p>
            <a:r>
              <a:rPr lang="fr-FR" sz="2000" b="1" dirty="0">
                <a:latin typeface="+mn-lt"/>
              </a:rPr>
              <a:t>Défis immédiats:</a:t>
            </a:r>
          </a:p>
          <a:p>
            <a:r>
              <a:rPr lang="fr-FR" sz="2000" b="1" dirty="0">
                <a:latin typeface="+mn-lt"/>
              </a:rPr>
              <a:t>- Installations électriques endommagées;</a:t>
            </a:r>
          </a:p>
          <a:p>
            <a:r>
              <a:rPr lang="fr-FR" sz="2000" b="1" dirty="0">
                <a:latin typeface="+mn-lt"/>
              </a:rPr>
              <a:t>- les coupures d’électricité partout … y compris pour  certaines pompes;</a:t>
            </a:r>
          </a:p>
          <a:p>
            <a:r>
              <a:rPr lang="fr-FR" sz="2000" b="1" dirty="0">
                <a:latin typeface="+mn-lt"/>
              </a:rPr>
              <a:t>- les accès bloqués.</a:t>
            </a:r>
          </a:p>
        </p:txBody>
      </p:sp>
      <p:pic>
        <p:nvPicPr>
          <p:cNvPr id="6" name="Image 5">
            <a:extLst>
              <a:ext uri="{FF2B5EF4-FFF2-40B4-BE49-F238E27FC236}">
                <a16:creationId xmlns:a16="http://schemas.microsoft.com/office/drawing/2014/main" id="{C31A7389-5606-B1F8-C939-A2534ECF82F0}"/>
              </a:ext>
            </a:extLst>
          </p:cNvPr>
          <p:cNvPicPr>
            <a:picLocks noChangeAspect="1"/>
          </p:cNvPicPr>
          <p:nvPr/>
        </p:nvPicPr>
        <p:blipFill>
          <a:blip r:embed="rId2"/>
          <a:stretch>
            <a:fillRect/>
          </a:stretch>
        </p:blipFill>
        <p:spPr>
          <a:xfrm>
            <a:off x="7474642" y="249574"/>
            <a:ext cx="4253606" cy="5620049"/>
          </a:xfrm>
          <a:prstGeom prst="rect">
            <a:avLst/>
          </a:prstGeom>
        </p:spPr>
      </p:pic>
      <p:pic>
        <p:nvPicPr>
          <p:cNvPr id="8" name="Image 7">
            <a:extLst>
              <a:ext uri="{FF2B5EF4-FFF2-40B4-BE49-F238E27FC236}">
                <a16:creationId xmlns:a16="http://schemas.microsoft.com/office/drawing/2014/main" id="{EC645CBC-6ACB-186B-3A21-CCD39846FF6B}"/>
              </a:ext>
            </a:extLst>
          </p:cNvPr>
          <p:cNvPicPr>
            <a:picLocks noChangeAspect="1"/>
          </p:cNvPicPr>
          <p:nvPr/>
        </p:nvPicPr>
        <p:blipFill>
          <a:blip r:embed="rId3"/>
          <a:stretch>
            <a:fillRect/>
          </a:stretch>
        </p:blipFill>
        <p:spPr>
          <a:xfrm>
            <a:off x="608330" y="2687320"/>
            <a:ext cx="4435224" cy="3284505"/>
          </a:xfrm>
          <a:prstGeom prst="rect">
            <a:avLst/>
          </a:prstGeom>
        </p:spPr>
      </p:pic>
    </p:spTree>
    <p:extLst>
      <p:ext uri="{BB962C8B-B14F-4D97-AF65-F5344CB8AC3E}">
        <p14:creationId xmlns:p14="http://schemas.microsoft.com/office/powerpoint/2010/main" val="2092494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A78F7-2DF0-D951-1A56-3CE06E4AECE5}"/>
              </a:ext>
            </a:extLst>
          </p:cNvPr>
          <p:cNvSpPr>
            <a:spLocks noGrp="1"/>
          </p:cNvSpPr>
          <p:nvPr>
            <p:ph type="title"/>
          </p:nvPr>
        </p:nvSpPr>
        <p:spPr>
          <a:xfrm>
            <a:off x="405822" y="138219"/>
            <a:ext cx="10941627" cy="1325563"/>
          </a:xfrm>
        </p:spPr>
        <p:txBody>
          <a:bodyPr>
            <a:normAutofit fontScale="90000"/>
          </a:bodyPr>
          <a:lstStyle/>
          <a:p>
            <a:r>
              <a:rPr lang="fr-FR" dirty="0"/>
              <a:t>Le chaos est présent … mais la catastrophe aurait pu être beaucoup plus grave si la Meuse avait débordé à Liège</a:t>
            </a:r>
          </a:p>
        </p:txBody>
      </p:sp>
      <p:pic>
        <p:nvPicPr>
          <p:cNvPr id="1026" name="Picture 2" descr="Le Palais des Congrès a été sous eaux: les événements prévus sont déprogrammés">
            <a:extLst>
              <a:ext uri="{FF2B5EF4-FFF2-40B4-BE49-F238E27FC236}">
                <a16:creationId xmlns:a16="http://schemas.microsoft.com/office/drawing/2014/main" id="{022CD552-D986-DCAC-6DE9-14804F96A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1711" y="1401621"/>
            <a:ext cx="7210138" cy="4506336"/>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B6FB4CC1-BA02-FD87-5F4D-21D9CF691DC7}"/>
              </a:ext>
            </a:extLst>
          </p:cNvPr>
          <p:cNvSpPr txBox="1"/>
          <p:nvPr/>
        </p:nvSpPr>
        <p:spPr>
          <a:xfrm>
            <a:off x="613888" y="3429000"/>
            <a:ext cx="3978431"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400" b="0" i="1" u="none" strike="noStrike" kern="1200" cap="none" spc="0" normalizeH="0" baseline="0" noProof="0" dirty="0">
                <a:ln>
                  <a:noFill/>
                </a:ln>
                <a:solidFill>
                  <a:srgbClr val="0A0A0A"/>
                </a:solidFill>
                <a:effectLst/>
                <a:uLnTx/>
                <a:uFillTx/>
                <a:latin typeface="Aptos" panose="02110004020202020204"/>
                <a:ea typeface="+mn-ea"/>
                <a:cs typeface="+mn-cs"/>
              </a:rPr>
              <a:t>« Le 15 juillet, lors des inondations où la Meuse a légèrement débordé près de la passerelle du parc de la Boverie, le Palais des congrès n’a pas été épargné par les eaux. Les14 salles de sous-commission dénommées Salles Mosanes au niveau -1 du bâtiment (avec vue sur le fleuve) ont été noyées, tout comme le bar des congressistes, le foyer, le parking, une partie du système de ventilation et la chaufferie. Il y en a pour plusieurs centaines de milliers d’euros de dégâts. »</a:t>
            </a:r>
            <a:endParaRPr kumimoji="0" lang="fr-BE" sz="1400" b="0" i="1"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ZoneTexte 4">
            <a:extLst>
              <a:ext uri="{FF2B5EF4-FFF2-40B4-BE49-F238E27FC236}">
                <a16:creationId xmlns:a16="http://schemas.microsoft.com/office/drawing/2014/main" id="{D5323937-350D-3039-05B4-86DBCCC74928}"/>
              </a:ext>
            </a:extLst>
          </p:cNvPr>
          <p:cNvSpPr txBox="1"/>
          <p:nvPr/>
        </p:nvSpPr>
        <p:spPr>
          <a:xfrm>
            <a:off x="426633" y="1316150"/>
            <a:ext cx="4274267" cy="14927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dirty="0">
                <a:ln>
                  <a:noFill/>
                </a:ln>
                <a:solidFill>
                  <a:prstClr val="black"/>
                </a:solidFill>
                <a:effectLst/>
                <a:uLnTx/>
                <a:uFillTx/>
                <a:latin typeface="Aptos" panose="02110004020202020204"/>
                <a:ea typeface="+mn-ea"/>
                <a:cs typeface="+mn-cs"/>
              </a:rPr>
              <a:t>- postes HT Elia HS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dirty="0">
                <a:ln>
                  <a:noFill/>
                </a:ln>
                <a:solidFill>
                  <a:prstClr val="black"/>
                </a:solidFill>
                <a:effectLst/>
                <a:uLnTx/>
                <a:uFillTx/>
                <a:latin typeface="Aptos" panose="02110004020202020204"/>
                <a:ea typeface="+mn-ea"/>
                <a:cs typeface="+mn-cs"/>
              </a:rPr>
              <a:t>- des centaines de cabines en caves HS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dirty="0">
                <a:ln>
                  <a:noFill/>
                </a:ln>
                <a:solidFill>
                  <a:prstClr val="black"/>
                </a:solidFill>
                <a:effectLst/>
                <a:uLnTx/>
                <a:uFillTx/>
                <a:latin typeface="Aptos" panose="02110004020202020204"/>
                <a:ea typeface="+mn-ea"/>
                <a:cs typeface="+mn-cs"/>
              </a:rPr>
              <a:t>- Black Out sur la province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dirty="0">
                <a:ln>
                  <a:noFill/>
                </a:ln>
                <a:solidFill>
                  <a:prstClr val="black"/>
                </a:solidFill>
                <a:effectLst/>
                <a:uLnTx/>
                <a:uFillTx/>
                <a:latin typeface="Aptos" panose="02110004020202020204"/>
                <a:ea typeface="+mn-ea"/>
                <a:cs typeface="+mn-cs"/>
              </a:rPr>
              <a:t>- conséquences en cascade avec stations de démergement à l’arrêt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1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0433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BA3E68-46C8-1A45-8198-DC9F67F89DD5}"/>
              </a:ext>
            </a:extLst>
          </p:cNvPr>
          <p:cNvSpPr>
            <a:spLocks noGrp="1"/>
          </p:cNvSpPr>
          <p:nvPr>
            <p:ph type="title"/>
          </p:nvPr>
        </p:nvSpPr>
        <p:spPr>
          <a:xfrm>
            <a:off x="7363481" y="317546"/>
            <a:ext cx="6973204" cy="1261872"/>
          </a:xfrm>
        </p:spPr>
        <p:txBody>
          <a:bodyPr vert="horz" lIns="91440" tIns="45720" rIns="91440" bIns="45720" rtlCol="0" anchor="ctr">
            <a:normAutofit/>
          </a:bodyPr>
          <a:lstStyle/>
          <a:p>
            <a:r>
              <a:rPr lang="en-US" sz="4800" i="1" dirty="0" err="1">
                <a:solidFill>
                  <a:schemeClr val="accent6"/>
                </a:solidFill>
                <a:latin typeface="+mj-lt"/>
                <a:cs typeface="+mj-cs"/>
              </a:rPr>
              <a:t>Trooz</a:t>
            </a:r>
            <a:r>
              <a:rPr lang="en-US" sz="4800" i="1" dirty="0">
                <a:solidFill>
                  <a:schemeClr val="accent6"/>
                </a:solidFill>
                <a:latin typeface="+mj-lt"/>
                <a:cs typeface="+mj-cs"/>
              </a:rPr>
              <a:t>, La </a:t>
            </a:r>
            <a:r>
              <a:rPr lang="en-US" sz="4800" i="1" dirty="0" err="1">
                <a:solidFill>
                  <a:schemeClr val="accent6"/>
                </a:solidFill>
                <a:latin typeface="+mj-lt"/>
                <a:cs typeface="+mj-cs"/>
              </a:rPr>
              <a:t>Brouck</a:t>
            </a:r>
            <a:endParaRPr lang="en-US" sz="4800" i="1" dirty="0">
              <a:solidFill>
                <a:schemeClr val="accent6"/>
              </a:solidFill>
              <a:latin typeface="+mj-lt"/>
              <a:cs typeface="+mj-cs"/>
            </a:endParaRPr>
          </a:p>
        </p:txBody>
      </p:sp>
      <p:pic>
        <p:nvPicPr>
          <p:cNvPr id="1026" name="Picture 2" descr="ALE/Resa : un ouvrage pour saluer un siècle d'électricité liégeoise - La  DH/Les Sports+">
            <a:extLst>
              <a:ext uri="{FF2B5EF4-FFF2-40B4-BE49-F238E27FC236}">
                <a16:creationId xmlns:a16="http://schemas.microsoft.com/office/drawing/2014/main" id="{46D59520-82FC-562F-2AF7-39A8B10C53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4737" y="0"/>
            <a:ext cx="7917873" cy="5278582"/>
          </a:xfrm>
          <a:prstGeom prst="rect">
            <a:avLst/>
          </a:prstGeom>
          <a:noFill/>
          <a:extLst>
            <a:ext uri="{909E8E84-426E-40DD-AFC4-6F175D3DCCD1}">
              <a14:hiddenFill xmlns:a14="http://schemas.microsoft.com/office/drawing/2010/main">
                <a:solidFill>
                  <a:srgbClr val="FFFFFF"/>
                </a:solidFill>
              </a14:hiddenFill>
            </a:ext>
          </a:extLst>
        </p:spPr>
      </p:pic>
      <p:pic>
        <p:nvPicPr>
          <p:cNvPr id="2052" name="01C3428D-FA88-4BF2-8F6C-57C8C1405055">
            <a:extLst>
              <a:ext uri="{FF2B5EF4-FFF2-40B4-BE49-F238E27FC236}">
                <a16:creationId xmlns:a16="http://schemas.microsoft.com/office/drawing/2014/main" id="{3B3DB01E-C196-45FA-9337-66A1336A560C}"/>
              </a:ext>
            </a:extLst>
          </p:cNvPr>
          <p:cNvPicPr>
            <a:picLocks noChangeAspect="1" noChangeArrowheads="1"/>
          </p:cNvPicPr>
          <p:nvPr/>
        </p:nvPicPr>
        <p:blipFill rotWithShape="1">
          <a:blip r:embed="rId3" cstate="email">
            <a:alphaModFix/>
            <a:extLst>
              <a:ext uri="{28A0092B-C50C-407E-A947-70E740481C1C}">
                <a14:useLocalDpi xmlns:a14="http://schemas.microsoft.com/office/drawing/2010/main"/>
              </a:ext>
            </a:extLst>
          </a:blip>
          <a:srcRect/>
          <a:stretch/>
        </p:blipFill>
        <p:spPr bwMode="auto">
          <a:xfrm rot="5400000">
            <a:off x="6487562" y="1105280"/>
            <a:ext cx="4141958" cy="736348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9846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BA3E68-46C8-1A45-8198-DC9F67F89DD5}"/>
              </a:ext>
            </a:extLst>
          </p:cNvPr>
          <p:cNvSpPr>
            <a:spLocks noGrp="1"/>
          </p:cNvSpPr>
          <p:nvPr>
            <p:ph type="title"/>
          </p:nvPr>
        </p:nvSpPr>
        <p:spPr>
          <a:xfrm>
            <a:off x="5846286" y="4580545"/>
            <a:ext cx="6638806" cy="1292433"/>
          </a:xfrm>
        </p:spPr>
        <p:txBody>
          <a:bodyPr vert="horz" lIns="91440" tIns="45720" rIns="91440" bIns="45720" rtlCol="0" anchor="ctr">
            <a:normAutofit fontScale="90000"/>
          </a:bodyPr>
          <a:lstStyle/>
          <a:p>
            <a:br>
              <a:rPr lang="en-US" sz="4800" i="1" kern="1200" dirty="0">
                <a:solidFill>
                  <a:schemeClr val="tx1"/>
                </a:solidFill>
                <a:latin typeface="+mj-lt"/>
                <a:ea typeface="+mj-ea"/>
                <a:cs typeface="+mj-cs"/>
              </a:rPr>
            </a:br>
            <a:br>
              <a:rPr lang="en-US" sz="4800" i="1" kern="1200" dirty="0">
                <a:solidFill>
                  <a:schemeClr val="tx1"/>
                </a:solidFill>
                <a:latin typeface="+mj-lt"/>
                <a:ea typeface="+mj-ea"/>
                <a:cs typeface="+mj-cs"/>
              </a:rPr>
            </a:br>
            <a:r>
              <a:rPr lang="en-US" sz="4800" i="1" kern="1200" dirty="0" err="1">
                <a:solidFill>
                  <a:schemeClr val="tx1"/>
                </a:solidFill>
                <a:latin typeface="+mj-lt"/>
                <a:ea typeface="+mj-ea"/>
                <a:cs typeface="+mj-cs"/>
              </a:rPr>
              <a:t>Trooz</a:t>
            </a:r>
            <a:r>
              <a:rPr lang="en-US" sz="4800" i="1" kern="1200" dirty="0">
                <a:solidFill>
                  <a:schemeClr val="tx1"/>
                </a:solidFill>
                <a:latin typeface="+mj-lt"/>
                <a:ea typeface="+mj-ea"/>
                <a:cs typeface="+mj-cs"/>
              </a:rPr>
              <a:t>, </a:t>
            </a:r>
            <a:r>
              <a:rPr lang="en-US" sz="4800" i="1" kern="1200" dirty="0" err="1">
                <a:solidFill>
                  <a:schemeClr val="tx1"/>
                </a:solidFill>
                <a:latin typeface="+mj-lt"/>
                <a:ea typeface="+mj-ea"/>
                <a:cs typeface="+mj-cs"/>
              </a:rPr>
              <a:t>Chaudfontaine</a:t>
            </a:r>
            <a:r>
              <a:rPr lang="en-US" sz="4800" i="1" kern="1200" dirty="0">
                <a:solidFill>
                  <a:schemeClr val="tx1"/>
                </a:solidFill>
                <a:latin typeface="+mj-lt"/>
                <a:ea typeface="+mj-ea"/>
                <a:cs typeface="+mj-cs"/>
              </a:rPr>
              <a:t>, </a:t>
            </a:r>
            <a:r>
              <a:rPr lang="en-US" sz="4800" i="1" kern="1200" dirty="0" err="1">
                <a:solidFill>
                  <a:schemeClr val="tx1"/>
                </a:solidFill>
                <a:latin typeface="+mj-lt"/>
                <a:ea typeface="+mj-ea"/>
                <a:cs typeface="+mj-cs"/>
              </a:rPr>
              <a:t>Esneux</a:t>
            </a:r>
            <a:endParaRPr lang="en-US" sz="4800" i="1" kern="1200" dirty="0">
              <a:solidFill>
                <a:schemeClr val="tx1"/>
              </a:solidFill>
              <a:latin typeface="+mj-lt"/>
              <a:ea typeface="+mj-ea"/>
              <a:cs typeface="+mj-cs"/>
            </a:endParaRPr>
          </a:p>
        </p:txBody>
      </p:sp>
      <p:pic>
        <p:nvPicPr>
          <p:cNvPr id="3074" name="8C8A3990-77E7-4267-889B-034BAEC25034">
            <a:extLst>
              <a:ext uri="{FF2B5EF4-FFF2-40B4-BE49-F238E27FC236}">
                <a16:creationId xmlns:a16="http://schemas.microsoft.com/office/drawing/2014/main" id="{33EEC1AA-FC28-4873-811A-BC389DCC1B4E}"/>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rot="5400000">
            <a:off x="244433" y="-244432"/>
            <a:ext cx="4359438" cy="48483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5ADF0B87-DAA8-46B8-A072-5B165A6CB2FF">
            <a:extLst>
              <a:ext uri="{FF2B5EF4-FFF2-40B4-BE49-F238E27FC236}">
                <a16:creationId xmlns:a16="http://schemas.microsoft.com/office/drawing/2014/main" id="{DA658E10-933E-420A-AEA4-473F5B7B005D}"/>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r="-1"/>
          <a:stretch/>
        </p:blipFill>
        <p:spPr bwMode="auto">
          <a:xfrm>
            <a:off x="4317385" y="-1"/>
            <a:ext cx="7871567" cy="508883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 2">
            <a:extLst>
              <a:ext uri="{FF2B5EF4-FFF2-40B4-BE49-F238E27FC236}">
                <a16:creationId xmlns:a16="http://schemas.microsoft.com/office/drawing/2014/main" id="{44699938-0B0F-4102-955A-2AAD30D55DE8}"/>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5400000">
            <a:off x="1231457" y="3241153"/>
            <a:ext cx="2385390" cy="4848304"/>
          </a:xfrm>
          <a:prstGeom prst="rect">
            <a:avLst/>
          </a:prstGeom>
        </p:spPr>
      </p:pic>
    </p:spTree>
    <p:extLst>
      <p:ext uri="{BB962C8B-B14F-4D97-AF65-F5344CB8AC3E}">
        <p14:creationId xmlns:p14="http://schemas.microsoft.com/office/powerpoint/2010/main" val="1651973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553DC99F-05AF-4BE6-9B87-F0E5130EF12A">
            <a:extLst>
              <a:ext uri="{FF2B5EF4-FFF2-40B4-BE49-F238E27FC236}">
                <a16:creationId xmlns:a16="http://schemas.microsoft.com/office/drawing/2014/main" id="{8C811093-1E00-4353-ADB2-2C23510FB03B}"/>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rot="5400000">
            <a:off x="-381000" y="381000"/>
            <a:ext cx="6858000" cy="609600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8C6E9A3A-2685-4650-B1BC-3AB794DCA1D3">
            <a:extLst>
              <a:ext uri="{FF2B5EF4-FFF2-40B4-BE49-F238E27FC236}">
                <a16:creationId xmlns:a16="http://schemas.microsoft.com/office/drawing/2014/main" id="{E33F8D28-8466-48E4-8A8E-CC64FA3953EA}"/>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6094476" y="10"/>
            <a:ext cx="6094477" cy="685799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re 1">
            <a:extLst>
              <a:ext uri="{FF2B5EF4-FFF2-40B4-BE49-F238E27FC236}">
                <a16:creationId xmlns:a16="http://schemas.microsoft.com/office/drawing/2014/main" id="{1CBA3E68-46C8-1A45-8198-DC9F67F89DD5}"/>
              </a:ext>
            </a:extLst>
          </p:cNvPr>
          <p:cNvSpPr>
            <a:spLocks noGrp="1"/>
          </p:cNvSpPr>
          <p:nvPr>
            <p:ph type="title"/>
          </p:nvPr>
        </p:nvSpPr>
        <p:spPr>
          <a:xfrm>
            <a:off x="62486" y="0"/>
            <a:ext cx="9079991" cy="1393303"/>
          </a:xfrm>
        </p:spPr>
        <p:txBody>
          <a:bodyPr vert="horz" lIns="91440" tIns="45720" rIns="91440" bIns="45720" rtlCol="0" anchor="b">
            <a:normAutofit/>
          </a:bodyPr>
          <a:lstStyle/>
          <a:p>
            <a:r>
              <a:rPr lang="en-US" sz="7200" i="1" kern="1200" dirty="0" err="1">
                <a:solidFill>
                  <a:schemeClr val="bg1"/>
                </a:solidFill>
                <a:latin typeface="+mj-lt"/>
                <a:ea typeface="+mj-ea"/>
                <a:cs typeface="+mj-cs"/>
              </a:rPr>
              <a:t>Chênée</a:t>
            </a:r>
            <a:r>
              <a:rPr lang="en-US" sz="7200" i="1" kern="1200" dirty="0">
                <a:solidFill>
                  <a:schemeClr val="bg1"/>
                </a:solidFill>
                <a:latin typeface="+mj-lt"/>
                <a:ea typeface="+mj-ea"/>
                <a:cs typeface="+mj-cs"/>
              </a:rPr>
              <a:t>, </a:t>
            </a:r>
            <a:r>
              <a:rPr lang="en-US" sz="7200" i="1" kern="1200" dirty="0" err="1">
                <a:solidFill>
                  <a:schemeClr val="bg1"/>
                </a:solidFill>
                <a:latin typeface="+mj-lt"/>
                <a:ea typeface="+mj-ea"/>
                <a:cs typeface="+mj-cs"/>
              </a:rPr>
              <a:t>Angleur</a:t>
            </a:r>
            <a:endParaRPr lang="en-US" sz="7200" i="1" kern="1200" dirty="0">
              <a:solidFill>
                <a:schemeClr val="bg1"/>
              </a:solidFill>
              <a:latin typeface="+mj-lt"/>
              <a:ea typeface="+mj-ea"/>
              <a:cs typeface="+mj-cs"/>
            </a:endParaRPr>
          </a:p>
        </p:txBody>
      </p:sp>
    </p:spTree>
    <p:extLst>
      <p:ext uri="{BB962C8B-B14F-4D97-AF65-F5344CB8AC3E}">
        <p14:creationId xmlns:p14="http://schemas.microsoft.com/office/powerpoint/2010/main" val="538434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A78F7-2DF0-D951-1A56-3CE06E4AECE5}"/>
              </a:ext>
            </a:extLst>
          </p:cNvPr>
          <p:cNvSpPr>
            <a:spLocks noGrp="1"/>
          </p:cNvSpPr>
          <p:nvPr>
            <p:ph type="title"/>
          </p:nvPr>
        </p:nvSpPr>
        <p:spPr/>
        <p:txBody>
          <a:bodyPr/>
          <a:lstStyle/>
          <a:p>
            <a:endParaRPr lang="fr-FR"/>
          </a:p>
        </p:txBody>
      </p:sp>
      <p:sp>
        <p:nvSpPr>
          <p:cNvPr id="3" name="Espace réservé du texte 2">
            <a:extLst>
              <a:ext uri="{FF2B5EF4-FFF2-40B4-BE49-F238E27FC236}">
                <a16:creationId xmlns:a16="http://schemas.microsoft.com/office/drawing/2014/main" id="{FC961CFB-D50C-7D72-5774-70E48355D5D6}"/>
              </a:ext>
            </a:extLst>
          </p:cNvPr>
          <p:cNvSpPr>
            <a:spLocks noGrp="1"/>
          </p:cNvSpPr>
          <p:nvPr>
            <p:ph type="body" idx="1"/>
          </p:nvPr>
        </p:nvSpPr>
        <p:spPr/>
        <p:txBody>
          <a:bodyPr/>
          <a:lstStyle/>
          <a:p>
            <a:endParaRPr lang="fr-FR"/>
          </a:p>
        </p:txBody>
      </p:sp>
      <p:sp>
        <p:nvSpPr>
          <p:cNvPr id="4" name="Espace réservé du texte 3">
            <a:extLst>
              <a:ext uri="{FF2B5EF4-FFF2-40B4-BE49-F238E27FC236}">
                <a16:creationId xmlns:a16="http://schemas.microsoft.com/office/drawing/2014/main" id="{4C9DD925-5351-9B72-99B5-22CF91FC32E4}"/>
              </a:ext>
            </a:extLst>
          </p:cNvPr>
          <p:cNvSpPr>
            <a:spLocks noGrp="1"/>
          </p:cNvSpPr>
          <p:nvPr>
            <p:ph type="body" idx="10"/>
          </p:nvPr>
        </p:nvSpPr>
        <p:spPr>
          <a:xfrm>
            <a:off x="831850" y="2939813"/>
            <a:ext cx="10515600" cy="3096079"/>
          </a:xfrm>
        </p:spPr>
        <p:txBody>
          <a:bodyPr/>
          <a:lstStyle/>
          <a:p>
            <a:endParaRPr lang="fr-FR" dirty="0"/>
          </a:p>
        </p:txBody>
      </p:sp>
      <p:pic>
        <p:nvPicPr>
          <p:cNvPr id="5" name="Image 4" descr="Une image contenant extérieur, arbre, eau, pont&#10;&#10;Description générée automatiquement">
            <a:extLst>
              <a:ext uri="{FF2B5EF4-FFF2-40B4-BE49-F238E27FC236}">
                <a16:creationId xmlns:a16="http://schemas.microsoft.com/office/drawing/2014/main" id="{F371EF50-4DF1-5C54-A734-9C4D1AAA56A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7746" y="93773"/>
            <a:ext cx="6539490" cy="4904618"/>
          </a:xfrm>
          <a:prstGeom prst="rect">
            <a:avLst/>
          </a:prstGeom>
        </p:spPr>
      </p:pic>
      <p:pic>
        <p:nvPicPr>
          <p:cNvPr id="6" name="Image 5" descr="Une image contenant bâtiment, extérieur, maison, vieux&#10;&#10;Description générée automatiquement">
            <a:extLst>
              <a:ext uri="{FF2B5EF4-FFF2-40B4-BE49-F238E27FC236}">
                <a16:creationId xmlns:a16="http://schemas.microsoft.com/office/drawing/2014/main" id="{D20245EE-4D31-AF1E-F02F-384C6ADFF2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747011" y="167640"/>
            <a:ext cx="3836716" cy="5752198"/>
          </a:xfrm>
          <a:prstGeom prst="rect">
            <a:avLst/>
          </a:prstGeom>
        </p:spPr>
      </p:pic>
      <p:sp>
        <p:nvSpPr>
          <p:cNvPr id="7" name="Titre 1">
            <a:extLst>
              <a:ext uri="{FF2B5EF4-FFF2-40B4-BE49-F238E27FC236}">
                <a16:creationId xmlns:a16="http://schemas.microsoft.com/office/drawing/2014/main" id="{7AED4A3D-C176-34B1-BEF4-1DF862F85993}"/>
              </a:ext>
            </a:extLst>
          </p:cNvPr>
          <p:cNvSpPr txBox="1">
            <a:spLocks/>
          </p:cNvSpPr>
          <p:nvPr/>
        </p:nvSpPr>
        <p:spPr>
          <a:xfrm>
            <a:off x="454024" y="4998391"/>
            <a:ext cx="7056709" cy="1292433"/>
          </a:xfrm>
          <a:prstGeom prst="rect">
            <a:avLst/>
          </a:prstGeom>
        </p:spPr>
        <p:txBody>
          <a:bodyPr vert="horz" lIns="91440" tIns="45720" rIns="91440" bIns="45720" rtlCol="0" anchor="ctr">
            <a:normAutofit fontScale="52500" lnSpcReduction="20000"/>
          </a:bodyPr>
          <a:lstStyle>
            <a:lvl1pPr algn="l" defTabSz="914400" rtl="0" eaLnBrk="1" latinLnBrk="0" hangingPunct="1">
              <a:lnSpc>
                <a:spcPct val="90000"/>
              </a:lnSpc>
              <a:spcBef>
                <a:spcPct val="0"/>
              </a:spcBef>
              <a:buNone/>
              <a:defRPr sz="4000" b="1" i="0" kern="1200">
                <a:solidFill>
                  <a:schemeClr val="tx1"/>
                </a:solidFill>
                <a:latin typeface="Archivo Black" pitchFamily="2" charset="77"/>
                <a:ea typeface="+mj-ea"/>
                <a:cs typeface="Archivo Black" pitchFamily="2" charset="77"/>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br>
              <a:rPr kumimoji="0" lang="en-US" sz="4800" b="1" i="1" u="none" strike="noStrike" kern="1200" cap="none" spc="0" normalizeH="0" baseline="0" noProof="0" dirty="0">
                <a:ln>
                  <a:noFill/>
                </a:ln>
                <a:solidFill>
                  <a:prstClr val="black"/>
                </a:solidFill>
                <a:effectLst/>
                <a:uLnTx/>
                <a:uFillTx/>
                <a:latin typeface="Aptos Display" panose="02110004020202020204"/>
                <a:ea typeface="+mj-ea"/>
                <a:cs typeface="+mj-cs"/>
              </a:rPr>
            </a:br>
            <a:r>
              <a:rPr kumimoji="0" lang="en-US" sz="4800" b="1" i="1" u="none" strike="noStrike" kern="1200" cap="none" spc="0" normalizeH="0" baseline="0" noProof="0" dirty="0" err="1">
                <a:ln>
                  <a:noFill/>
                </a:ln>
                <a:solidFill>
                  <a:prstClr val="black"/>
                </a:solidFill>
                <a:effectLst/>
                <a:uLnTx/>
                <a:uFillTx/>
                <a:latin typeface="Aptos Display" panose="02110004020202020204"/>
                <a:ea typeface="+mj-ea"/>
                <a:cs typeface="+mj-cs"/>
              </a:rPr>
              <a:t>Majorité</a:t>
            </a:r>
            <a:r>
              <a:rPr kumimoji="0" lang="en-US" sz="4800" b="1" i="1" u="none" strike="noStrike" kern="1200" cap="none" spc="0" normalizeH="0" baseline="0" noProof="0" dirty="0">
                <a:ln>
                  <a:noFill/>
                </a:ln>
                <a:solidFill>
                  <a:prstClr val="black"/>
                </a:solidFill>
                <a:effectLst/>
                <a:uLnTx/>
                <a:uFillTx/>
                <a:latin typeface="Aptos Display" panose="02110004020202020204"/>
                <a:ea typeface="+mj-ea"/>
                <a:cs typeface="+mj-cs"/>
              </a:rPr>
              <a:t> des </a:t>
            </a:r>
            <a:r>
              <a:rPr kumimoji="0" lang="en-US" sz="4800" b="1" i="1" u="none" strike="noStrike" kern="1200" cap="none" spc="0" normalizeH="0" baseline="0" noProof="0" dirty="0" err="1">
                <a:ln>
                  <a:noFill/>
                </a:ln>
                <a:solidFill>
                  <a:prstClr val="black"/>
                </a:solidFill>
                <a:effectLst/>
                <a:uLnTx/>
                <a:uFillTx/>
                <a:latin typeface="Aptos Display" panose="02110004020202020204"/>
                <a:ea typeface="+mj-ea"/>
                <a:cs typeface="+mj-cs"/>
              </a:rPr>
              <a:t>ponts</a:t>
            </a:r>
            <a:r>
              <a:rPr kumimoji="0" lang="en-US" sz="4800" b="1" i="1" u="none" strike="noStrike" kern="1200" cap="none" spc="0" normalizeH="0" baseline="0" noProof="0" dirty="0">
                <a:ln>
                  <a:noFill/>
                </a:ln>
                <a:solidFill>
                  <a:prstClr val="black"/>
                </a:solidFill>
                <a:effectLst/>
                <a:uLnTx/>
                <a:uFillTx/>
                <a:latin typeface="Aptos Display" panose="02110004020202020204"/>
                <a:ea typeface="+mj-ea"/>
                <a:cs typeface="+mj-cs"/>
              </a:rPr>
              <a:t> de la </a:t>
            </a:r>
            <a:r>
              <a:rPr kumimoji="0" lang="en-US" sz="4800" b="1" i="1" u="none" strike="noStrike" kern="1200" cap="none" spc="0" normalizeH="0" baseline="0" noProof="0" dirty="0" err="1">
                <a:ln>
                  <a:noFill/>
                </a:ln>
                <a:solidFill>
                  <a:prstClr val="black"/>
                </a:solidFill>
                <a:effectLst/>
                <a:uLnTx/>
                <a:uFillTx/>
                <a:latin typeface="Aptos Display" panose="02110004020202020204"/>
                <a:ea typeface="+mj-ea"/>
                <a:cs typeface="+mj-cs"/>
              </a:rPr>
              <a:t>vallée</a:t>
            </a:r>
            <a:r>
              <a:rPr kumimoji="0" lang="en-US" sz="4800" b="1" i="1" u="none" strike="noStrike" kern="1200" cap="none" spc="0" normalizeH="0" baseline="0" noProof="0" dirty="0">
                <a:ln>
                  <a:noFill/>
                </a:ln>
                <a:solidFill>
                  <a:prstClr val="black"/>
                </a:solidFill>
                <a:effectLst/>
                <a:uLnTx/>
                <a:uFillTx/>
                <a:latin typeface="Aptos Display" panose="02110004020202020204"/>
                <a:ea typeface="+mj-ea"/>
                <a:cs typeface="+mj-cs"/>
              </a:rPr>
              <a:t> de la </a:t>
            </a:r>
            <a:r>
              <a:rPr kumimoji="0" lang="en-US" sz="4800" b="1" i="1" u="none" strike="noStrike" kern="1200" cap="none" spc="0" normalizeH="0" baseline="0" noProof="0" dirty="0" err="1">
                <a:ln>
                  <a:noFill/>
                </a:ln>
                <a:solidFill>
                  <a:prstClr val="black"/>
                </a:solidFill>
                <a:effectLst/>
                <a:uLnTx/>
                <a:uFillTx/>
                <a:latin typeface="Aptos Display" panose="02110004020202020204"/>
                <a:ea typeface="+mj-ea"/>
                <a:cs typeface="+mj-cs"/>
              </a:rPr>
              <a:t>Vesdre</a:t>
            </a:r>
            <a:r>
              <a:rPr kumimoji="0" lang="en-US" sz="4800" b="1" i="1" u="none" strike="noStrike" kern="1200" cap="none" spc="0" normalizeH="0" baseline="0" noProof="0" dirty="0">
                <a:ln>
                  <a:noFill/>
                </a:ln>
                <a:solidFill>
                  <a:prstClr val="black"/>
                </a:solidFill>
                <a:effectLst/>
                <a:uLnTx/>
                <a:uFillTx/>
                <a:latin typeface="Aptos Display" panose="02110004020202020204"/>
                <a:ea typeface="+mj-ea"/>
                <a:cs typeface="+mj-cs"/>
              </a:rPr>
              <a:t> </a:t>
            </a:r>
            <a:r>
              <a:rPr kumimoji="0" lang="en-US" sz="4800" b="1" i="1" u="none" strike="noStrike" kern="1200" cap="none" spc="0" normalizeH="0" baseline="0" noProof="0" dirty="0" err="1">
                <a:ln>
                  <a:noFill/>
                </a:ln>
                <a:solidFill>
                  <a:prstClr val="black"/>
                </a:solidFill>
                <a:effectLst/>
                <a:uLnTx/>
                <a:uFillTx/>
                <a:latin typeface="Aptos Display" panose="02110004020202020204"/>
                <a:ea typeface="+mj-ea"/>
                <a:cs typeface="+mj-cs"/>
              </a:rPr>
              <a:t>endommagés</a:t>
            </a:r>
            <a:r>
              <a:rPr kumimoji="0" lang="en-US" sz="4800" b="1" i="1" u="none" strike="noStrike" kern="1200" cap="none" spc="0" normalizeH="0" baseline="0" noProof="0" dirty="0">
                <a:ln>
                  <a:noFill/>
                </a:ln>
                <a:solidFill>
                  <a:prstClr val="black"/>
                </a:solidFill>
                <a:effectLst/>
                <a:uLnTx/>
                <a:uFillTx/>
                <a:latin typeface="Aptos Display" panose="02110004020202020204"/>
                <a:ea typeface="+mj-ea"/>
                <a:cs typeface="+mj-cs"/>
              </a:rPr>
              <a:t> avec </a:t>
            </a:r>
            <a:r>
              <a:rPr kumimoji="0" lang="en-US" sz="4800" b="1" i="1" u="none" strike="noStrike" kern="1200" cap="none" spc="0" normalizeH="0" baseline="0" noProof="0" dirty="0" err="1">
                <a:ln>
                  <a:noFill/>
                </a:ln>
                <a:solidFill>
                  <a:prstClr val="black"/>
                </a:solidFill>
                <a:effectLst/>
                <a:uLnTx/>
                <a:uFillTx/>
                <a:latin typeface="Aptos Display" panose="02110004020202020204"/>
                <a:ea typeface="+mj-ea"/>
                <a:cs typeface="+mj-cs"/>
              </a:rPr>
              <a:t>dégâts</a:t>
            </a:r>
            <a:r>
              <a:rPr kumimoji="0" lang="en-US" sz="4800" b="1" i="1" u="none" strike="noStrike" kern="1200" cap="none" spc="0" normalizeH="0" baseline="0" noProof="0" dirty="0">
                <a:ln>
                  <a:noFill/>
                </a:ln>
                <a:solidFill>
                  <a:prstClr val="black"/>
                </a:solidFill>
                <a:effectLst/>
                <a:uLnTx/>
                <a:uFillTx/>
                <a:latin typeface="Aptos Display" panose="02110004020202020204"/>
                <a:ea typeface="+mj-ea"/>
                <a:cs typeface="+mj-cs"/>
              </a:rPr>
              <a:t> sur les installations </a:t>
            </a:r>
            <a:r>
              <a:rPr kumimoji="0" lang="en-US" sz="4800" b="1" i="1" u="none" strike="noStrike" kern="1200" cap="none" spc="0" normalizeH="0" baseline="0" noProof="0" dirty="0" err="1">
                <a:ln>
                  <a:noFill/>
                </a:ln>
                <a:solidFill>
                  <a:prstClr val="black"/>
                </a:solidFill>
                <a:effectLst/>
                <a:uLnTx/>
                <a:uFillTx/>
                <a:latin typeface="Aptos Display" panose="02110004020202020204"/>
                <a:ea typeface="+mj-ea"/>
                <a:cs typeface="+mj-cs"/>
              </a:rPr>
              <a:t>gaz</a:t>
            </a:r>
            <a:endParaRPr kumimoji="0" lang="en-US" sz="4800" b="1" i="1" u="none" strike="noStrike" kern="1200" cap="none" spc="0" normalizeH="0" baseline="0" noProof="0" dirty="0">
              <a:ln>
                <a:noFill/>
              </a:ln>
              <a:solidFill>
                <a:prstClr val="black"/>
              </a:solidFill>
              <a:effectLst/>
              <a:uLnTx/>
              <a:uFillTx/>
              <a:latin typeface="Aptos Display" panose="02110004020202020204"/>
              <a:ea typeface="+mj-ea"/>
              <a:cs typeface="+mj-cs"/>
            </a:endParaRPr>
          </a:p>
        </p:txBody>
      </p:sp>
    </p:spTree>
    <p:extLst>
      <p:ext uri="{BB962C8B-B14F-4D97-AF65-F5344CB8AC3E}">
        <p14:creationId xmlns:p14="http://schemas.microsoft.com/office/powerpoint/2010/main" val="461168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8E7FC-0457-BBD0-E47F-54FB1B76498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04058F7-5DFE-AE96-8489-834DD19F6D62}"/>
              </a:ext>
            </a:extLst>
          </p:cNvPr>
          <p:cNvSpPr>
            <a:spLocks noGrp="1"/>
          </p:cNvSpPr>
          <p:nvPr>
            <p:ph type="title"/>
          </p:nvPr>
        </p:nvSpPr>
        <p:spPr>
          <a:xfrm>
            <a:off x="838200" y="660836"/>
            <a:ext cx="11473544" cy="1325563"/>
          </a:xfrm>
        </p:spPr>
        <p:txBody>
          <a:bodyPr>
            <a:normAutofit fontScale="90000"/>
          </a:bodyPr>
          <a:lstStyle/>
          <a:p>
            <a:r>
              <a:rPr lang="fr-BE" sz="4900" b="1" kern="100" dirty="0">
                <a:latin typeface="Aptos" panose="020B0004020202020204" pitchFamily="34" charset="0"/>
                <a:cs typeface="Times New Roman" panose="02020603050405020304" pitchFamily="18" charset="0"/>
              </a:rPr>
              <a:t>Gouvernance climatique : la nécessité de prendre en charge un problème planétaire</a:t>
            </a:r>
            <a:br>
              <a:rPr lang="fr-BE" kern="100" dirty="0">
                <a:effectLst/>
                <a:latin typeface="Aptos" panose="020B0004020202020204" pitchFamily="34" charset="0"/>
                <a:ea typeface="Aptos" panose="020B0004020202020204" pitchFamily="34" charset="0"/>
                <a:cs typeface="Times New Roman" panose="02020603050405020304" pitchFamily="18" charset="0"/>
              </a:rPr>
            </a:br>
            <a:r>
              <a:rPr lang="fr-BE" dirty="0"/>
              <a:t> </a:t>
            </a:r>
          </a:p>
        </p:txBody>
      </p:sp>
      <p:sp>
        <p:nvSpPr>
          <p:cNvPr id="5" name="Sous-titre 2">
            <a:extLst>
              <a:ext uri="{FF2B5EF4-FFF2-40B4-BE49-F238E27FC236}">
                <a16:creationId xmlns:a16="http://schemas.microsoft.com/office/drawing/2014/main" id="{CBF6C838-1DC0-CB07-32B3-8173638DFE46}"/>
              </a:ext>
            </a:extLst>
          </p:cNvPr>
          <p:cNvSpPr txBox="1">
            <a:spLocks/>
          </p:cNvSpPr>
          <p:nvPr/>
        </p:nvSpPr>
        <p:spPr>
          <a:xfrm>
            <a:off x="762000" y="2186895"/>
            <a:ext cx="9818914" cy="165576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BE" sz="2400" b="0" i="0" u="none" strike="noStrike" kern="1200" cap="none" spc="0" normalizeH="0" baseline="0" noProof="0" dirty="0">
                <a:ln>
                  <a:noFill/>
                </a:ln>
                <a:solidFill>
                  <a:prstClr val="black"/>
                </a:solidFill>
                <a:effectLst/>
                <a:uLnTx/>
                <a:uFillTx/>
                <a:latin typeface="Aptos" panose="02110004020202020204"/>
                <a:ea typeface="+mn-ea"/>
                <a:cs typeface="+mn-cs"/>
              </a:rPr>
              <a:t>Le problème du climat est planétaire. Il est donc nécessaire de s’entendre au niveau international. Comment fait-on ? </a:t>
            </a:r>
          </a:p>
          <a:p>
            <a:pPr marL="51435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kumimoji="0" lang="fr-BE" sz="2400" b="0" i="0" u="none" strike="noStrike" kern="1200" cap="none" spc="0" normalizeH="0" baseline="0" noProof="0" dirty="0">
                <a:ln>
                  <a:noFill/>
                </a:ln>
                <a:solidFill>
                  <a:prstClr val="black"/>
                </a:solidFill>
                <a:effectLst/>
                <a:uLnTx/>
                <a:uFillTx/>
                <a:latin typeface="Aptos" panose="02110004020202020204"/>
                <a:ea typeface="+mn-ea"/>
                <a:cs typeface="+mn-cs"/>
              </a:rPr>
              <a:t>Un problème identifié par la Science mais fondamentalement politique</a:t>
            </a:r>
          </a:p>
          <a:p>
            <a:pPr marL="51435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kumimoji="0" lang="fr-BE" sz="2400" b="0" i="0" u="none" strike="noStrike" kern="1200" cap="none" spc="0" normalizeH="0" baseline="0" noProof="0" dirty="0">
                <a:ln>
                  <a:noFill/>
                </a:ln>
                <a:solidFill>
                  <a:prstClr val="black"/>
                </a:solidFill>
                <a:effectLst/>
                <a:uLnTx/>
                <a:uFillTx/>
                <a:latin typeface="Aptos" panose="02110004020202020204"/>
                <a:ea typeface="+mn-ea"/>
                <a:cs typeface="+mn-cs"/>
              </a:rPr>
              <a:t>Les outils de coopération internationale : intérêts, avantages et limites</a:t>
            </a:r>
          </a:p>
        </p:txBody>
      </p:sp>
    </p:spTree>
    <p:extLst>
      <p:ext uri="{BB962C8B-B14F-4D97-AF65-F5344CB8AC3E}">
        <p14:creationId xmlns:p14="http://schemas.microsoft.com/office/powerpoint/2010/main" val="2898517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FA698-3338-ED14-B52E-C3F690412BC9}"/>
              </a:ext>
            </a:extLst>
          </p:cNvPr>
          <p:cNvSpPr>
            <a:spLocks noGrp="1"/>
          </p:cNvSpPr>
          <p:nvPr>
            <p:ph type="title"/>
          </p:nvPr>
        </p:nvSpPr>
        <p:spPr/>
        <p:txBody>
          <a:bodyPr/>
          <a:lstStyle/>
          <a:p>
            <a:r>
              <a:rPr lang="en-GB" dirty="0"/>
              <a:t>Les bouleversements </a:t>
            </a:r>
            <a:r>
              <a:rPr lang="en-GB" dirty="0" err="1"/>
              <a:t>climatiques</a:t>
            </a:r>
            <a:r>
              <a:rPr lang="en-GB" dirty="0"/>
              <a:t> </a:t>
            </a:r>
            <a:r>
              <a:rPr lang="en-GB" dirty="0" err="1"/>
              <a:t>comme</a:t>
            </a:r>
            <a:r>
              <a:rPr lang="en-GB" dirty="0"/>
              <a:t> </a:t>
            </a:r>
            <a:r>
              <a:rPr lang="en-GB" dirty="0" err="1"/>
              <a:t>problème</a:t>
            </a:r>
            <a:r>
              <a:rPr lang="en-GB" dirty="0"/>
              <a:t> politique (1)</a:t>
            </a:r>
            <a:endParaRPr lang="en-BE" dirty="0"/>
          </a:p>
        </p:txBody>
      </p:sp>
      <p:sp>
        <p:nvSpPr>
          <p:cNvPr id="3" name="Content Placeholder 2">
            <a:extLst>
              <a:ext uri="{FF2B5EF4-FFF2-40B4-BE49-F238E27FC236}">
                <a16:creationId xmlns:a16="http://schemas.microsoft.com/office/drawing/2014/main" id="{567B38A8-AEE3-3EBF-A9F2-49487802455A}"/>
              </a:ext>
            </a:extLst>
          </p:cNvPr>
          <p:cNvSpPr>
            <a:spLocks noGrp="1"/>
          </p:cNvSpPr>
          <p:nvPr>
            <p:ph idx="1"/>
          </p:nvPr>
        </p:nvSpPr>
        <p:spPr>
          <a:xfrm>
            <a:off x="622972" y="1690688"/>
            <a:ext cx="10946055" cy="4802261"/>
          </a:xfrm>
        </p:spPr>
        <p:txBody>
          <a:bodyPr>
            <a:normAutofit/>
          </a:bodyPr>
          <a:lstStyle/>
          <a:p>
            <a:pPr marL="514350" indent="-514350" algn="just">
              <a:buAutoNum type="arabicPeriod"/>
            </a:pPr>
            <a:r>
              <a:rPr lang="fr-FR" b="1" i="1" dirty="0"/>
              <a:t>Un problème de gouvernance globale</a:t>
            </a:r>
          </a:p>
          <a:p>
            <a:pPr marL="0" indent="0" algn="just">
              <a:buNone/>
            </a:pPr>
            <a:r>
              <a:rPr lang="fr-FR" dirty="0"/>
              <a:t>Des externalités à la fois </a:t>
            </a:r>
          </a:p>
          <a:p>
            <a:pPr algn="just">
              <a:buFontTx/>
              <a:buChar char="-"/>
            </a:pPr>
            <a:r>
              <a:rPr lang="fr-FR" dirty="0"/>
              <a:t>globales,</a:t>
            </a:r>
          </a:p>
          <a:p>
            <a:pPr algn="just">
              <a:buFontTx/>
              <a:buChar char="-"/>
            </a:pPr>
            <a:r>
              <a:rPr lang="fr-FR" dirty="0"/>
              <a:t>cumul dans l’atmosphère sur le long terme, </a:t>
            </a:r>
          </a:p>
          <a:p>
            <a:pPr algn="just">
              <a:buFontTx/>
              <a:buChar char="-"/>
            </a:pPr>
            <a:r>
              <a:rPr lang="fr-FR" dirty="0"/>
              <a:t>impacts futurs incertains,</a:t>
            </a:r>
          </a:p>
          <a:p>
            <a:pPr algn="just">
              <a:buFontTx/>
              <a:buChar char="-"/>
            </a:pPr>
            <a:r>
              <a:rPr lang="fr-FR" dirty="0"/>
              <a:t>simultanément ils sont d’une ampleur inédite (Stern, 2006). </a:t>
            </a:r>
          </a:p>
          <a:p>
            <a:pPr marL="0" indent="0" algn="just">
              <a:buNone/>
            </a:pPr>
            <a:r>
              <a:rPr lang="fr-FR" i="1" dirty="0"/>
              <a:t>=&gt; Une économie à faible teneur en carbone exige la mise en place d’un système d’engagements international effectif qui implique les émetteurs historiques et les pays en développement. (Abbas, 2011).</a:t>
            </a:r>
            <a:endParaRPr lang="fr-FR" b="1" i="1" dirty="0"/>
          </a:p>
        </p:txBody>
      </p:sp>
    </p:spTree>
    <p:extLst>
      <p:ext uri="{BB962C8B-B14F-4D97-AF65-F5344CB8AC3E}">
        <p14:creationId xmlns:p14="http://schemas.microsoft.com/office/powerpoint/2010/main" val="3730623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A1FC8-EA41-DB2F-C94B-A03EF9B29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6CDA5-42FF-AE26-6795-D7BE1CEE6B5F}"/>
              </a:ext>
            </a:extLst>
          </p:cNvPr>
          <p:cNvSpPr>
            <a:spLocks noGrp="1"/>
          </p:cNvSpPr>
          <p:nvPr>
            <p:ph type="title"/>
          </p:nvPr>
        </p:nvSpPr>
        <p:spPr/>
        <p:txBody>
          <a:bodyPr/>
          <a:lstStyle/>
          <a:p>
            <a:r>
              <a:rPr lang="en-GB" dirty="0"/>
              <a:t>Les bouleversements </a:t>
            </a:r>
            <a:r>
              <a:rPr lang="en-GB" dirty="0" err="1"/>
              <a:t>climatiques</a:t>
            </a:r>
            <a:r>
              <a:rPr lang="en-GB" dirty="0"/>
              <a:t> </a:t>
            </a:r>
            <a:r>
              <a:rPr lang="en-GB" dirty="0" err="1"/>
              <a:t>comme</a:t>
            </a:r>
            <a:r>
              <a:rPr lang="en-GB" dirty="0"/>
              <a:t> </a:t>
            </a:r>
            <a:r>
              <a:rPr lang="en-GB" dirty="0" err="1"/>
              <a:t>problème</a:t>
            </a:r>
            <a:r>
              <a:rPr lang="en-GB" dirty="0"/>
              <a:t> politique (2)</a:t>
            </a:r>
            <a:endParaRPr lang="en-BE" dirty="0"/>
          </a:p>
        </p:txBody>
      </p:sp>
      <p:sp>
        <p:nvSpPr>
          <p:cNvPr id="3" name="Content Placeholder 2">
            <a:extLst>
              <a:ext uri="{FF2B5EF4-FFF2-40B4-BE49-F238E27FC236}">
                <a16:creationId xmlns:a16="http://schemas.microsoft.com/office/drawing/2014/main" id="{E6F07C6A-4DC8-F6F1-CA2C-35AB0710734A}"/>
              </a:ext>
            </a:extLst>
          </p:cNvPr>
          <p:cNvSpPr>
            <a:spLocks noGrp="1"/>
          </p:cNvSpPr>
          <p:nvPr>
            <p:ph idx="1"/>
          </p:nvPr>
        </p:nvSpPr>
        <p:spPr>
          <a:xfrm>
            <a:off x="622972" y="1690688"/>
            <a:ext cx="10946055" cy="4802261"/>
          </a:xfrm>
        </p:spPr>
        <p:txBody>
          <a:bodyPr>
            <a:normAutofit/>
          </a:bodyPr>
          <a:lstStyle/>
          <a:p>
            <a:pPr marL="0" indent="0" algn="just">
              <a:buNone/>
            </a:pPr>
            <a:r>
              <a:rPr lang="fr-FR" b="1" i="1" dirty="0"/>
              <a:t>2. Un problème structurel </a:t>
            </a:r>
          </a:p>
          <a:p>
            <a:pPr marL="0" indent="0" algn="just">
              <a:buNone/>
            </a:pPr>
            <a:r>
              <a:rPr lang="fr-FR" dirty="0"/>
              <a:t>Découplage entre croissance économique et émission de GES (surtout CO2 des énergies fossiles).</a:t>
            </a:r>
          </a:p>
          <a:p>
            <a:pPr marL="0" indent="0" algn="just">
              <a:buNone/>
            </a:pPr>
            <a:r>
              <a:rPr lang="fr-FR" dirty="0"/>
              <a:t>Quelles dynamiques sociopolitiques nécessaires pour enclencher la réorientation des économies ?  </a:t>
            </a:r>
          </a:p>
        </p:txBody>
      </p:sp>
    </p:spTree>
    <p:extLst>
      <p:ext uri="{BB962C8B-B14F-4D97-AF65-F5344CB8AC3E}">
        <p14:creationId xmlns:p14="http://schemas.microsoft.com/office/powerpoint/2010/main" val="3471848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BD391-6BD5-5317-AB39-3A90504D3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19BD1-7E80-9521-514D-E797A1D19CDD}"/>
              </a:ext>
            </a:extLst>
          </p:cNvPr>
          <p:cNvSpPr>
            <a:spLocks noGrp="1"/>
          </p:cNvSpPr>
          <p:nvPr>
            <p:ph type="title"/>
          </p:nvPr>
        </p:nvSpPr>
        <p:spPr/>
        <p:txBody>
          <a:bodyPr/>
          <a:lstStyle/>
          <a:p>
            <a:r>
              <a:rPr lang="en-GB" dirty="0"/>
              <a:t>Les bouleversements </a:t>
            </a:r>
            <a:r>
              <a:rPr lang="en-GB" dirty="0" err="1"/>
              <a:t>climatiques</a:t>
            </a:r>
            <a:r>
              <a:rPr lang="en-GB" dirty="0"/>
              <a:t> </a:t>
            </a:r>
            <a:r>
              <a:rPr lang="en-GB" dirty="0" err="1"/>
              <a:t>comme</a:t>
            </a:r>
            <a:r>
              <a:rPr lang="en-GB" dirty="0"/>
              <a:t> </a:t>
            </a:r>
            <a:r>
              <a:rPr lang="en-GB" dirty="0" err="1"/>
              <a:t>problème</a:t>
            </a:r>
            <a:r>
              <a:rPr lang="en-GB" dirty="0"/>
              <a:t> politique(3)</a:t>
            </a:r>
            <a:endParaRPr lang="en-BE" dirty="0"/>
          </a:p>
        </p:txBody>
      </p:sp>
      <p:sp>
        <p:nvSpPr>
          <p:cNvPr id="3" name="Content Placeholder 2">
            <a:extLst>
              <a:ext uri="{FF2B5EF4-FFF2-40B4-BE49-F238E27FC236}">
                <a16:creationId xmlns:a16="http://schemas.microsoft.com/office/drawing/2014/main" id="{E3422FBE-6552-7A99-B1FE-608FFB963289}"/>
              </a:ext>
            </a:extLst>
          </p:cNvPr>
          <p:cNvSpPr>
            <a:spLocks noGrp="1"/>
          </p:cNvSpPr>
          <p:nvPr>
            <p:ph idx="1"/>
          </p:nvPr>
        </p:nvSpPr>
        <p:spPr>
          <a:xfrm>
            <a:off x="622972" y="1690688"/>
            <a:ext cx="10946055" cy="4802261"/>
          </a:xfrm>
        </p:spPr>
        <p:txBody>
          <a:bodyPr>
            <a:normAutofit/>
          </a:bodyPr>
          <a:lstStyle/>
          <a:p>
            <a:pPr marL="0" indent="0" algn="just">
              <a:buNone/>
            </a:pPr>
            <a:r>
              <a:rPr lang="fr-FR" b="1" i="1" dirty="0"/>
              <a:t>3. Un problème systémique de rapports Nord-Sud </a:t>
            </a:r>
          </a:p>
          <a:p>
            <a:pPr marL="0" indent="0" algn="just">
              <a:buNone/>
            </a:pPr>
            <a:r>
              <a:rPr lang="fr-FR" dirty="0"/>
              <a:t>Deux priorités se télescopent : la limitation des émissions mondiales de GES et le développement des pays du Sud qui, automatiquement, les accroît.</a:t>
            </a:r>
          </a:p>
          <a:p>
            <a:pPr marL="0" indent="0" algn="just">
              <a:buNone/>
            </a:pPr>
            <a:r>
              <a:rPr lang="fr-FR" dirty="0"/>
              <a:t>Des besoins en adaptation différents</a:t>
            </a:r>
          </a:p>
        </p:txBody>
      </p:sp>
    </p:spTree>
    <p:extLst>
      <p:ext uri="{BB962C8B-B14F-4D97-AF65-F5344CB8AC3E}">
        <p14:creationId xmlns:p14="http://schemas.microsoft.com/office/powerpoint/2010/main" val="3539256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0D04C-B763-7983-0FA6-E6D88CF0A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D3CB2-C855-8DCD-0925-93C61B1CF2FD}"/>
              </a:ext>
            </a:extLst>
          </p:cNvPr>
          <p:cNvSpPr>
            <a:spLocks noGrp="1"/>
          </p:cNvSpPr>
          <p:nvPr>
            <p:ph type="title"/>
          </p:nvPr>
        </p:nvSpPr>
        <p:spPr/>
        <p:txBody>
          <a:bodyPr/>
          <a:lstStyle/>
          <a:p>
            <a:r>
              <a:rPr lang="en-GB" dirty="0"/>
              <a:t>Les bouleversements </a:t>
            </a:r>
            <a:r>
              <a:rPr lang="en-GB" dirty="0" err="1"/>
              <a:t>climatiques</a:t>
            </a:r>
            <a:r>
              <a:rPr lang="en-GB" dirty="0"/>
              <a:t> </a:t>
            </a:r>
            <a:r>
              <a:rPr lang="en-GB" dirty="0" err="1"/>
              <a:t>comme</a:t>
            </a:r>
            <a:r>
              <a:rPr lang="en-GB" dirty="0"/>
              <a:t> </a:t>
            </a:r>
            <a:r>
              <a:rPr lang="en-GB" dirty="0" err="1"/>
              <a:t>problème</a:t>
            </a:r>
            <a:r>
              <a:rPr lang="en-GB" dirty="0"/>
              <a:t> politique (4)</a:t>
            </a:r>
            <a:endParaRPr lang="en-BE" dirty="0"/>
          </a:p>
        </p:txBody>
      </p:sp>
      <p:sp>
        <p:nvSpPr>
          <p:cNvPr id="3" name="Content Placeholder 2">
            <a:extLst>
              <a:ext uri="{FF2B5EF4-FFF2-40B4-BE49-F238E27FC236}">
                <a16:creationId xmlns:a16="http://schemas.microsoft.com/office/drawing/2014/main" id="{6E220004-9D68-F006-D27A-B4E0A041B1CC}"/>
              </a:ext>
            </a:extLst>
          </p:cNvPr>
          <p:cNvSpPr>
            <a:spLocks noGrp="1"/>
          </p:cNvSpPr>
          <p:nvPr>
            <p:ph idx="1"/>
          </p:nvPr>
        </p:nvSpPr>
        <p:spPr>
          <a:xfrm>
            <a:off x="622972" y="1690688"/>
            <a:ext cx="10946055" cy="4802261"/>
          </a:xfrm>
        </p:spPr>
        <p:txBody>
          <a:bodyPr>
            <a:normAutofit/>
          </a:bodyPr>
          <a:lstStyle/>
          <a:p>
            <a:pPr marL="0" indent="0" algn="just">
              <a:buNone/>
            </a:pPr>
            <a:r>
              <a:rPr lang="fr-BE" dirty="0"/>
              <a:t>La stabilisation du climat est la première question à solidarité obligatoire qui englobe toute la population humaine.</a:t>
            </a:r>
          </a:p>
          <a:p>
            <a:pPr marL="0" indent="0" algn="just">
              <a:buNone/>
            </a:pPr>
            <a:r>
              <a:rPr lang="fr-BE" dirty="0"/>
              <a:t>Ce n’est donc plus l’Etat national mais bien une collaboration, une coordination, une solidarité qui permettront de stabiliser le climat.</a:t>
            </a:r>
          </a:p>
          <a:p>
            <a:pPr marL="0" indent="0" algn="just">
              <a:buNone/>
            </a:pPr>
            <a:r>
              <a:rPr lang="fr-BE" dirty="0"/>
              <a:t>Et à travers cet objectif commun se trouve la question du partage plus équitable du pouvoir et des richesses dans l’ensemble de la communauté internationale. </a:t>
            </a:r>
            <a:endParaRPr lang="fr-FR" dirty="0"/>
          </a:p>
        </p:txBody>
      </p:sp>
    </p:spTree>
    <p:extLst>
      <p:ext uri="{BB962C8B-B14F-4D97-AF65-F5344CB8AC3E}">
        <p14:creationId xmlns:p14="http://schemas.microsoft.com/office/powerpoint/2010/main" val="3921999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9E403-ADC3-B342-DA81-4F9B31BF5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D4B96-ADF1-AEA5-EB5D-C89F60C3E7AD}"/>
              </a:ext>
            </a:extLst>
          </p:cNvPr>
          <p:cNvSpPr>
            <a:spLocks noGrp="1"/>
          </p:cNvSpPr>
          <p:nvPr>
            <p:ph type="title"/>
          </p:nvPr>
        </p:nvSpPr>
        <p:spPr/>
        <p:txBody>
          <a:bodyPr/>
          <a:lstStyle/>
          <a:p>
            <a:r>
              <a:rPr lang="en-GB" dirty="0"/>
              <a:t>Les bouleversements </a:t>
            </a:r>
            <a:r>
              <a:rPr lang="en-GB" dirty="0" err="1"/>
              <a:t>climatiques</a:t>
            </a:r>
            <a:r>
              <a:rPr lang="en-GB" dirty="0"/>
              <a:t> </a:t>
            </a:r>
            <a:r>
              <a:rPr lang="en-GB" dirty="0" err="1"/>
              <a:t>comme</a:t>
            </a:r>
            <a:r>
              <a:rPr lang="en-GB" dirty="0"/>
              <a:t> </a:t>
            </a:r>
            <a:r>
              <a:rPr lang="en-GB" dirty="0" err="1"/>
              <a:t>problème</a:t>
            </a:r>
            <a:r>
              <a:rPr lang="en-GB" dirty="0"/>
              <a:t> politique (5)</a:t>
            </a:r>
            <a:endParaRPr lang="en-BE" dirty="0"/>
          </a:p>
        </p:txBody>
      </p:sp>
      <p:sp>
        <p:nvSpPr>
          <p:cNvPr id="3" name="Content Placeholder 2">
            <a:extLst>
              <a:ext uri="{FF2B5EF4-FFF2-40B4-BE49-F238E27FC236}">
                <a16:creationId xmlns:a16="http://schemas.microsoft.com/office/drawing/2014/main" id="{9CA6900F-3939-84E5-737F-E637A74AC595}"/>
              </a:ext>
            </a:extLst>
          </p:cNvPr>
          <p:cNvSpPr>
            <a:spLocks noGrp="1"/>
          </p:cNvSpPr>
          <p:nvPr>
            <p:ph idx="1"/>
          </p:nvPr>
        </p:nvSpPr>
        <p:spPr>
          <a:xfrm>
            <a:off x="622972" y="1690688"/>
            <a:ext cx="10946055" cy="4802261"/>
          </a:xfrm>
        </p:spPr>
        <p:txBody>
          <a:bodyPr>
            <a:normAutofit/>
          </a:bodyPr>
          <a:lstStyle/>
          <a:p>
            <a:pPr marL="0" indent="0" algn="just">
              <a:buNone/>
            </a:pPr>
            <a:r>
              <a:rPr lang="fr-BE" dirty="0"/>
              <a:t>Les négociations sur les moyens de lutter contre les bouleversements climatiques sont en fait des négociations de mise en place d’une nouvelle gouvernance mondiale.</a:t>
            </a:r>
          </a:p>
          <a:p>
            <a:pPr marL="0" indent="0" algn="just">
              <a:buNone/>
            </a:pPr>
            <a:r>
              <a:rPr lang="fr-BE" dirty="0"/>
              <a:t>Une gouvernance qui devrait faire la part belle à des mécanismes de solidarité et d’équité.</a:t>
            </a:r>
          </a:p>
          <a:p>
            <a:pPr marL="0" indent="0" algn="just">
              <a:buNone/>
            </a:pPr>
            <a:r>
              <a:rPr lang="fr-BE" dirty="0"/>
              <a:t>Notre société devra se montrer plus efficace, partageuse (la question des biens communs sera cruciale) et respectueuse du bien-être des générations futures. </a:t>
            </a:r>
            <a:endParaRPr lang="fr-FR" dirty="0"/>
          </a:p>
        </p:txBody>
      </p:sp>
    </p:spTree>
    <p:extLst>
      <p:ext uri="{BB962C8B-B14F-4D97-AF65-F5344CB8AC3E}">
        <p14:creationId xmlns:p14="http://schemas.microsoft.com/office/powerpoint/2010/main" val="862881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rme libre : forme 1">
            <a:extLst>
              <a:ext uri="{FF2B5EF4-FFF2-40B4-BE49-F238E27FC236}">
                <a16:creationId xmlns:a16="http://schemas.microsoft.com/office/drawing/2014/main" id="{4E6A5855-209E-0F6E-970D-26FBE1C01921}"/>
              </a:ext>
            </a:extLst>
          </p:cNvPr>
          <p:cNvSpPr/>
          <p:nvPr/>
        </p:nvSpPr>
        <p:spPr>
          <a:xfrm>
            <a:off x="6353040" y="1676519"/>
            <a:ext cx="3667320" cy="232884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0E9CDC"/>
          </a:solidFill>
          <a:ln w="19080" cap="sq">
            <a:solidFill>
              <a:srgbClr val="FFFFFF"/>
            </a:solidFill>
            <a:prstDash val="solid"/>
            <a:miter/>
          </a:ln>
        </p:spPr>
        <p:txBody>
          <a:bodyPr vert="horz" wrap="none" lIns="90000" tIns="46800" rIns="90000" bIns="4680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BE" sz="1800" b="0" i="0" u="none" strike="noStrike" kern="1200" cap="none" spc="0" normalizeH="0" baseline="0" noProof="0">
              <a:ln>
                <a:noFill/>
              </a:ln>
              <a:solidFill>
                <a:prstClr val="black"/>
              </a:solidFill>
              <a:effectLst/>
              <a:uLnTx/>
              <a:uFillTx/>
              <a:latin typeface="Aptos  "/>
              <a:ea typeface="Droid Sans Fallback" pitchFamily="2"/>
              <a:cs typeface="FreeSans" pitchFamily="2"/>
            </a:endParaRPr>
          </a:p>
        </p:txBody>
      </p:sp>
      <p:sp>
        <p:nvSpPr>
          <p:cNvPr id="3" name="Forme libre : forme 2">
            <a:extLst>
              <a:ext uri="{FF2B5EF4-FFF2-40B4-BE49-F238E27FC236}">
                <a16:creationId xmlns:a16="http://schemas.microsoft.com/office/drawing/2014/main" id="{F33C7669-69AD-9C0B-B0D1-1DF4F1E79951}"/>
              </a:ext>
            </a:extLst>
          </p:cNvPr>
          <p:cNvSpPr/>
          <p:nvPr/>
        </p:nvSpPr>
        <p:spPr>
          <a:xfrm>
            <a:off x="7239000" y="4883040"/>
            <a:ext cx="2781360" cy="106704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0E9CDC"/>
          </a:solidFill>
          <a:ln w="19080" cap="sq">
            <a:solidFill>
              <a:srgbClr val="FFFFFF"/>
            </a:solidFill>
            <a:prstDash val="solid"/>
            <a:miter/>
          </a:ln>
        </p:spPr>
        <p:txBody>
          <a:bodyPr vert="horz" wrap="none" lIns="90000" tIns="46800" rIns="90000" bIns="4680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BE" sz="1800" b="0" i="0" u="none" strike="noStrike" kern="1200" cap="none" spc="0" normalizeH="0" baseline="0" noProof="0">
              <a:ln>
                <a:noFill/>
              </a:ln>
              <a:solidFill>
                <a:prstClr val="black"/>
              </a:solidFill>
              <a:effectLst/>
              <a:uLnTx/>
              <a:uFillTx/>
              <a:latin typeface="Aptos  "/>
              <a:ea typeface="Droid Sans Fallback" pitchFamily="2"/>
              <a:cs typeface="FreeSans" pitchFamily="2"/>
            </a:endParaRPr>
          </a:p>
        </p:txBody>
      </p:sp>
      <p:sp>
        <p:nvSpPr>
          <p:cNvPr id="4" name="Forme libre : forme 3">
            <a:extLst>
              <a:ext uri="{FF2B5EF4-FFF2-40B4-BE49-F238E27FC236}">
                <a16:creationId xmlns:a16="http://schemas.microsoft.com/office/drawing/2014/main" id="{78F74002-5267-6402-A59F-5BCFA50FED93}"/>
              </a:ext>
            </a:extLst>
          </p:cNvPr>
          <p:cNvSpPr/>
          <p:nvPr/>
        </p:nvSpPr>
        <p:spPr>
          <a:xfrm>
            <a:off x="1811280" y="1573201"/>
            <a:ext cx="3354480" cy="1855799"/>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0000"/>
          </a:solidFill>
          <a:ln w="19080" cap="sq">
            <a:solidFill>
              <a:srgbClr val="FFFFFF"/>
            </a:solidFill>
            <a:prstDash val="solid"/>
            <a:miter/>
          </a:ln>
        </p:spPr>
        <p:txBody>
          <a:bodyPr vert="horz" wrap="none" lIns="90000" tIns="46800" rIns="90000" bIns="4680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BE" sz="1800" b="0" i="0" u="none" strike="noStrike" kern="1200" cap="none" spc="0" normalizeH="0" baseline="0" noProof="0">
              <a:ln>
                <a:noFill/>
              </a:ln>
              <a:solidFill>
                <a:prstClr val="black"/>
              </a:solidFill>
              <a:effectLst/>
              <a:uLnTx/>
              <a:uFillTx/>
              <a:latin typeface="Aptos  "/>
              <a:ea typeface="Droid Sans Fallback" pitchFamily="2"/>
              <a:cs typeface="FreeSans" pitchFamily="2"/>
            </a:endParaRPr>
          </a:p>
        </p:txBody>
      </p:sp>
      <p:sp>
        <p:nvSpPr>
          <p:cNvPr id="5" name="Forme libre : forme 4">
            <a:extLst>
              <a:ext uri="{FF2B5EF4-FFF2-40B4-BE49-F238E27FC236}">
                <a16:creationId xmlns:a16="http://schemas.microsoft.com/office/drawing/2014/main" id="{31440489-C594-5946-82FD-B6422C47D13D}"/>
              </a:ext>
            </a:extLst>
          </p:cNvPr>
          <p:cNvSpPr/>
          <p:nvPr/>
        </p:nvSpPr>
        <p:spPr>
          <a:xfrm>
            <a:off x="1811280" y="4483080"/>
            <a:ext cx="3354480" cy="153828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solidFill>
            <a:srgbClr val="FF0000"/>
          </a:solidFill>
          <a:ln w="19080" cap="sq">
            <a:solidFill>
              <a:srgbClr val="FFFFFF"/>
            </a:solidFill>
            <a:prstDash val="solid"/>
            <a:miter/>
          </a:ln>
        </p:spPr>
        <p:txBody>
          <a:bodyPr vert="horz" wrap="none" lIns="90000" tIns="46800" rIns="90000" bIns="46800" anchor="ctr"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kumimoji="0" lang="fr-BE" sz="1800" b="0" i="0" u="none" strike="noStrike" kern="1200" cap="none" spc="0" normalizeH="0" baseline="0" noProof="0">
              <a:ln>
                <a:noFill/>
              </a:ln>
              <a:solidFill>
                <a:prstClr val="black"/>
              </a:solidFill>
              <a:effectLst/>
              <a:uLnTx/>
              <a:uFillTx/>
              <a:latin typeface="Aptos  "/>
              <a:ea typeface="Droid Sans Fallback" pitchFamily="2"/>
              <a:cs typeface="FreeSans" pitchFamily="2"/>
            </a:endParaRPr>
          </a:p>
        </p:txBody>
      </p:sp>
      <p:sp>
        <p:nvSpPr>
          <p:cNvPr id="6" name="Forme libre : forme 5">
            <a:extLst>
              <a:ext uri="{FF2B5EF4-FFF2-40B4-BE49-F238E27FC236}">
                <a16:creationId xmlns:a16="http://schemas.microsoft.com/office/drawing/2014/main" id="{6EA59245-5A1C-5FF7-4BE5-0F2D6EC698A7}"/>
              </a:ext>
            </a:extLst>
          </p:cNvPr>
          <p:cNvSpPr/>
          <p:nvPr/>
        </p:nvSpPr>
        <p:spPr>
          <a:xfrm>
            <a:off x="1882920" y="2193840"/>
            <a:ext cx="3262320" cy="614356"/>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spAutoFit/>
          </a:bodyPr>
          <a:lstStyle/>
          <a:p>
            <a:pPr marL="0" marR="0" lvl="0" indent="0" algn="ctr" defTabSz="914400" rtl="0" eaLnBrk="1" fontAlgn="auto" latinLnBrk="0" hangingPunct="0">
              <a:lnSpc>
                <a:spcPct val="84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kumimoji="0" lang="en-GB" sz="20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Maîtriser les émissions</a:t>
            </a:r>
          </a:p>
          <a:p>
            <a:pPr marL="0" marR="0" lvl="0" indent="0" algn="ctr" defTabSz="914400" rtl="0" eaLnBrk="1" fontAlgn="auto" latinLnBrk="0" hangingPunct="0">
              <a:lnSpc>
                <a:spcPct val="84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kumimoji="0" lang="en-GB" sz="20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de gaz à effet de serre</a:t>
            </a:r>
          </a:p>
        </p:txBody>
      </p:sp>
      <p:sp>
        <p:nvSpPr>
          <p:cNvPr id="7" name="Forme libre : forme 6">
            <a:extLst>
              <a:ext uri="{FF2B5EF4-FFF2-40B4-BE49-F238E27FC236}">
                <a16:creationId xmlns:a16="http://schemas.microsoft.com/office/drawing/2014/main" id="{2E921686-89AF-F15A-65EF-435AEF902157}"/>
              </a:ext>
            </a:extLst>
          </p:cNvPr>
          <p:cNvSpPr/>
          <p:nvPr/>
        </p:nvSpPr>
        <p:spPr>
          <a:xfrm>
            <a:off x="2692958" y="411120"/>
            <a:ext cx="6451162" cy="52322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333333"/>
                </a:solidFill>
                <a:effectLst/>
                <a:uLnTx/>
                <a:uFillTx/>
                <a:latin typeface="Aptos" panose="02110004020202020204"/>
                <a:ea typeface="+mn-ea"/>
                <a:cs typeface="+mn-cs"/>
              </a:rPr>
              <a:t>En résumé : les Solutions</a:t>
            </a:r>
          </a:p>
        </p:txBody>
      </p:sp>
      <p:sp>
        <p:nvSpPr>
          <p:cNvPr id="8" name="Forme libre : forme 7">
            <a:extLst>
              <a:ext uri="{FF2B5EF4-FFF2-40B4-BE49-F238E27FC236}">
                <a16:creationId xmlns:a16="http://schemas.microsoft.com/office/drawing/2014/main" id="{25866CB3-7D53-837B-F159-79C0EA06306E}"/>
              </a:ext>
            </a:extLst>
          </p:cNvPr>
          <p:cNvSpPr/>
          <p:nvPr/>
        </p:nvSpPr>
        <p:spPr>
          <a:xfrm>
            <a:off x="1666920" y="4894200"/>
            <a:ext cx="3262320" cy="614356"/>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spAutoFit/>
          </a:bodyPr>
          <a:lstStyle/>
          <a:p>
            <a:pPr marL="0" marR="0" lvl="0" indent="0" algn="ctr" defTabSz="914400" rtl="0" eaLnBrk="1" fontAlgn="auto" latinLnBrk="0" hangingPunct="0">
              <a:lnSpc>
                <a:spcPct val="84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kumimoji="0" lang="en-GB" sz="20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    S’adapter aux</a:t>
            </a:r>
          </a:p>
          <a:p>
            <a:pPr marL="457200" marR="0" lvl="1" indent="0" algn="ctr" defTabSz="914400" rtl="0" eaLnBrk="1" fontAlgn="auto" latinLnBrk="0" hangingPunct="0">
              <a:lnSpc>
                <a:spcPct val="84000"/>
              </a:lnSpc>
              <a:spcBef>
                <a:spcPts val="0"/>
              </a:spcBef>
              <a:spcAft>
                <a:spcPts val="0"/>
              </a:spcAft>
              <a:buClrTx/>
              <a:buSzTx/>
              <a:buFontTx/>
              <a:buNone/>
              <a:tabLst>
                <a:tab pos="457200" algn="l"/>
                <a:tab pos="1371600" algn="l"/>
                <a:tab pos="2286000" algn="l"/>
                <a:tab pos="3200399" algn="l"/>
                <a:tab pos="4114800" algn="l"/>
                <a:tab pos="5029200" algn="l"/>
                <a:tab pos="5943599" algn="l"/>
                <a:tab pos="6857999" algn="l"/>
                <a:tab pos="7772400" algn="l"/>
                <a:tab pos="8686800" algn="l"/>
                <a:tab pos="9601200" algn="l"/>
                <a:tab pos="10515600" algn="l"/>
              </a:tabLst>
              <a:defRPr/>
            </a:pPr>
            <a:r>
              <a:rPr kumimoji="0" lang="en-GB" sz="20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changements en cours</a:t>
            </a:r>
          </a:p>
        </p:txBody>
      </p:sp>
      <p:sp>
        <p:nvSpPr>
          <p:cNvPr id="9" name="Forme libre : forme 8">
            <a:extLst>
              <a:ext uri="{FF2B5EF4-FFF2-40B4-BE49-F238E27FC236}">
                <a16:creationId xmlns:a16="http://schemas.microsoft.com/office/drawing/2014/main" id="{6DA04A33-6EE3-5749-D003-A085AF3239AA}"/>
              </a:ext>
            </a:extLst>
          </p:cNvPr>
          <p:cNvSpPr/>
          <p:nvPr/>
        </p:nvSpPr>
        <p:spPr>
          <a:xfrm>
            <a:off x="6900960" y="1905120"/>
            <a:ext cx="3262320" cy="2010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spAutoFit/>
          </a:bodyPr>
          <a:lstStyle/>
          <a:p>
            <a:pPr marL="0" marR="0" lvl="0" indent="0" algn="l" defTabSz="914400" rtl="0" eaLnBrk="1" fontAlgn="auto" latinLnBrk="0" hangingPunct="0">
              <a:lnSpc>
                <a:spcPct val="100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kumimoji="0" lang="en-GB" sz="18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       Société humaine</a:t>
            </a:r>
          </a:p>
          <a:p>
            <a:pPr marL="457200" marR="0" lvl="1" indent="0" algn="l" defTabSz="914400" rtl="0" eaLnBrk="1" fontAlgn="auto" latinLnBrk="0" hangingPunct="0">
              <a:lnSpc>
                <a:spcPct val="100000"/>
              </a:lnSpc>
              <a:spcBef>
                <a:spcPts val="0"/>
              </a:spcBef>
              <a:spcAft>
                <a:spcPts val="0"/>
              </a:spcAft>
              <a:buClrTx/>
              <a:buSzTx/>
              <a:buFontTx/>
              <a:buNone/>
              <a:tabLst>
                <a:tab pos="457200" algn="l"/>
                <a:tab pos="1371600" algn="l"/>
                <a:tab pos="2286000" algn="l"/>
                <a:tab pos="3200399" algn="l"/>
                <a:tab pos="4114800" algn="l"/>
                <a:tab pos="5029200" algn="l"/>
                <a:tab pos="5943599" algn="l"/>
                <a:tab pos="6857999" algn="l"/>
                <a:tab pos="7772400" algn="l"/>
                <a:tab pos="8686800" algn="l"/>
                <a:tab pos="9601200" algn="l"/>
                <a:tab pos="10515600" algn="l"/>
              </a:tabLst>
              <a:defRPr/>
            </a:pPr>
            <a:r>
              <a:rPr kumimoji="0" lang="en-GB" sz="18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Niveaux</a:t>
            </a:r>
          </a:p>
          <a:p>
            <a:pPr marL="0" marR="0" lvl="1" indent="0" algn="l" defTabSz="914400" rtl="0" eaLnBrk="1" fontAlgn="auto" latinLnBrk="0" hangingPunct="0">
              <a:lnSpc>
                <a:spcPct val="100000"/>
              </a:lnSpc>
              <a:spcBef>
                <a:spcPts val="0"/>
              </a:spcBef>
              <a:spcAft>
                <a:spcPts val="0"/>
              </a:spcAft>
              <a:buClr>
                <a:srgbClr val="FFFFFF"/>
              </a:buClr>
              <a:buSzPct val="100000"/>
              <a:buFont typeface="Arial" pitchFamily="34"/>
              <a:buChar char="•"/>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kumimoji="0" lang="en-GB" sz="18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    mondial</a:t>
            </a:r>
          </a:p>
          <a:p>
            <a:pPr marL="0" marR="0" lvl="1" indent="0" algn="l" defTabSz="914400" rtl="0" eaLnBrk="1" fontAlgn="auto" latinLnBrk="0" hangingPunct="0">
              <a:lnSpc>
                <a:spcPct val="100000"/>
              </a:lnSpc>
              <a:spcBef>
                <a:spcPts val="0"/>
              </a:spcBef>
              <a:spcAft>
                <a:spcPts val="0"/>
              </a:spcAft>
              <a:buClr>
                <a:srgbClr val="FFFFFF"/>
              </a:buClr>
              <a:buSzPct val="100000"/>
              <a:buFont typeface="Arial" pitchFamily="34"/>
              <a:buChar char="•"/>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kumimoji="0" lang="en-GB" sz="18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    européen</a:t>
            </a:r>
          </a:p>
          <a:p>
            <a:pPr marL="0" marR="0" lvl="1" indent="0" algn="l" defTabSz="914400" rtl="0" eaLnBrk="1" fontAlgn="auto" latinLnBrk="0" hangingPunct="0">
              <a:lnSpc>
                <a:spcPct val="100000"/>
              </a:lnSpc>
              <a:spcBef>
                <a:spcPts val="0"/>
              </a:spcBef>
              <a:spcAft>
                <a:spcPts val="0"/>
              </a:spcAft>
              <a:buClr>
                <a:srgbClr val="FFFFFF"/>
              </a:buClr>
              <a:buSzPct val="100000"/>
              <a:buFont typeface="Arial" pitchFamily="34"/>
              <a:buChar char="•"/>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kumimoji="0" lang="en-GB" sz="18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    national</a:t>
            </a:r>
          </a:p>
          <a:p>
            <a:pPr marL="0" marR="0" lvl="1" indent="0" algn="l" defTabSz="914400" rtl="0" eaLnBrk="1" fontAlgn="auto" latinLnBrk="0" hangingPunct="0">
              <a:lnSpc>
                <a:spcPct val="100000"/>
              </a:lnSpc>
              <a:spcBef>
                <a:spcPts val="0"/>
              </a:spcBef>
              <a:spcAft>
                <a:spcPts val="0"/>
              </a:spcAft>
              <a:buClr>
                <a:srgbClr val="FFFFFF"/>
              </a:buClr>
              <a:buSzPct val="100000"/>
              <a:buFont typeface="Arial" pitchFamily="34"/>
              <a:buChar char="•"/>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kumimoji="0" lang="en-GB" sz="18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    régional</a:t>
            </a:r>
          </a:p>
          <a:p>
            <a:pPr marL="0" marR="0" lvl="1" indent="0" algn="l" defTabSz="914400" rtl="0" eaLnBrk="1" fontAlgn="auto" latinLnBrk="0" hangingPunct="0">
              <a:lnSpc>
                <a:spcPct val="100000"/>
              </a:lnSpc>
              <a:spcBef>
                <a:spcPts val="0"/>
              </a:spcBef>
              <a:spcAft>
                <a:spcPts val="0"/>
              </a:spcAft>
              <a:buClr>
                <a:srgbClr val="FFFFFF"/>
              </a:buClr>
              <a:buSzPct val="100000"/>
              <a:buFont typeface="Arial" pitchFamily="34"/>
              <a:buChar char="•"/>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kumimoji="0" lang="en-GB" sz="1800" b="0" i="0" u="none" strike="noStrike" kern="1200" cap="none" spc="0" normalizeH="0" baseline="0" noProof="0">
                <a:ln>
                  <a:noFill/>
                </a:ln>
                <a:solidFill>
                  <a:prstClr val="black"/>
                </a:solidFill>
                <a:effectLst/>
                <a:uLnTx/>
                <a:uFillTx/>
                <a:latin typeface="Aptos  "/>
                <a:ea typeface="Lucida Sans Unicode" pitchFamily="34"/>
                <a:cs typeface="Lucida Sans Unicode" pitchFamily="34"/>
              </a:rPr>
              <a:t>    local</a:t>
            </a:r>
          </a:p>
        </p:txBody>
      </p:sp>
      <p:sp>
        <p:nvSpPr>
          <p:cNvPr id="10" name="Forme libre : forme 9">
            <a:extLst>
              <a:ext uri="{FF2B5EF4-FFF2-40B4-BE49-F238E27FC236}">
                <a16:creationId xmlns:a16="http://schemas.microsoft.com/office/drawing/2014/main" id="{838EEAFF-72A4-A146-40B2-DCCA78E73572}"/>
              </a:ext>
            </a:extLst>
          </p:cNvPr>
          <p:cNvSpPr/>
          <p:nvPr/>
        </p:nvSpPr>
        <p:spPr>
          <a:xfrm>
            <a:off x="7405680" y="5249881"/>
            <a:ext cx="3262320" cy="32934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1">
            <a:spAutoFit/>
          </a:bodyPr>
          <a:lstStyle/>
          <a:p>
            <a:pPr marL="0" marR="0" lvl="0" indent="0" algn="l" defTabSz="914400" rtl="0" eaLnBrk="1" fontAlgn="auto" latinLnBrk="0" hangingPunct="0">
              <a:lnSpc>
                <a:spcPct val="84000"/>
              </a:lnSpc>
              <a:spcBef>
                <a:spcPts val="0"/>
              </a:spcBef>
              <a:spcAft>
                <a:spcPts val="0"/>
              </a:spcAft>
              <a:buClrTx/>
              <a:buSzTx/>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kumimoji="0" lang="en-GB" sz="1800" b="0" i="0" u="none" strike="noStrike" kern="1200" cap="none" spc="0" normalizeH="0" baseline="0" noProof="0" dirty="0">
                <a:ln>
                  <a:noFill/>
                </a:ln>
                <a:solidFill>
                  <a:prstClr val="black"/>
                </a:solidFill>
                <a:effectLst/>
                <a:uLnTx/>
                <a:uFillTx/>
                <a:latin typeface="Aptos  "/>
                <a:ea typeface="Lucida Sans Unicode" pitchFamily="34"/>
                <a:cs typeface="Lucida Sans Unicode" pitchFamily="34"/>
              </a:rPr>
              <a:t>    Les choix </a:t>
            </a:r>
            <a:r>
              <a:rPr kumimoji="0" lang="en-GB" sz="1800" b="0" i="0" u="none" strike="noStrike" kern="1200" cap="none" spc="0" normalizeH="0" baseline="0" noProof="0" dirty="0" err="1">
                <a:ln>
                  <a:noFill/>
                </a:ln>
                <a:solidFill>
                  <a:prstClr val="black"/>
                </a:solidFill>
                <a:effectLst/>
                <a:uLnTx/>
                <a:uFillTx/>
                <a:latin typeface="Aptos  "/>
                <a:ea typeface="Lucida Sans Unicode" pitchFamily="34"/>
                <a:cs typeface="Lucida Sans Unicode" pitchFamily="34"/>
              </a:rPr>
              <a:t>individuels</a:t>
            </a:r>
            <a:endParaRPr kumimoji="0" lang="en-GB" sz="1800" b="0" i="0" u="none" strike="noStrike" kern="1200" cap="none" spc="0" normalizeH="0" baseline="0" noProof="0" dirty="0">
              <a:ln>
                <a:noFill/>
              </a:ln>
              <a:solidFill>
                <a:prstClr val="black"/>
              </a:solidFill>
              <a:effectLst/>
              <a:uLnTx/>
              <a:uFillTx/>
              <a:latin typeface="Aptos  "/>
              <a:ea typeface="Lucida Sans Unicode" pitchFamily="34"/>
              <a:cs typeface="Lucida Sans Unicode" pitchFamily="34"/>
            </a:endParaRPr>
          </a:p>
        </p:txBody>
      </p:sp>
      <p:cxnSp>
        <p:nvCxnSpPr>
          <p:cNvPr id="11" name="Connecteur droit avec flèche 10">
            <a:extLst>
              <a:ext uri="{FF2B5EF4-FFF2-40B4-BE49-F238E27FC236}">
                <a16:creationId xmlns:a16="http://schemas.microsoft.com/office/drawing/2014/main" id="{362A329A-ABDF-17BD-2C84-FFD344180ED2}"/>
              </a:ext>
            </a:extLst>
          </p:cNvPr>
          <p:cNvCxnSpPr>
            <a:stCxn id="5" idx="10"/>
            <a:endCxn id="2" idx="7"/>
          </p:cNvCxnSpPr>
          <p:nvPr/>
        </p:nvCxnSpPr>
        <p:spPr>
          <a:xfrm flipV="1">
            <a:off x="5165761" y="3664336"/>
            <a:ext cx="1724305" cy="1587885"/>
          </a:xfrm>
          <a:prstGeom prst="straightConnector1">
            <a:avLst/>
          </a:prstGeom>
          <a:noFill/>
          <a:ln w="28440" cap="sq">
            <a:solidFill>
              <a:srgbClr val="009999"/>
            </a:solidFill>
            <a:prstDash val="solid"/>
            <a:miter/>
            <a:tailEnd type="arrow"/>
          </a:ln>
        </p:spPr>
      </p:cxnSp>
      <p:cxnSp>
        <p:nvCxnSpPr>
          <p:cNvPr id="12" name="Connecteur droit avec flèche 11">
            <a:extLst>
              <a:ext uri="{FF2B5EF4-FFF2-40B4-BE49-F238E27FC236}">
                <a16:creationId xmlns:a16="http://schemas.microsoft.com/office/drawing/2014/main" id="{1A090887-D0FA-BF3E-835B-8EED88B3DA7D}"/>
              </a:ext>
            </a:extLst>
          </p:cNvPr>
          <p:cNvCxnSpPr>
            <a:stCxn id="4" idx="10"/>
            <a:endCxn id="2" idx="6"/>
          </p:cNvCxnSpPr>
          <p:nvPr/>
        </p:nvCxnSpPr>
        <p:spPr>
          <a:xfrm>
            <a:off x="5165760" y="2501101"/>
            <a:ext cx="1187280" cy="339839"/>
          </a:xfrm>
          <a:prstGeom prst="straightConnector1">
            <a:avLst/>
          </a:prstGeom>
          <a:noFill/>
          <a:ln w="28440" cap="sq">
            <a:solidFill>
              <a:srgbClr val="009999"/>
            </a:solidFill>
            <a:prstDash val="solid"/>
            <a:miter/>
            <a:tailEnd type="arrow"/>
          </a:ln>
        </p:spPr>
      </p:cxnSp>
      <p:cxnSp>
        <p:nvCxnSpPr>
          <p:cNvPr id="13" name="Connecteur droit avec flèche 12">
            <a:extLst>
              <a:ext uri="{FF2B5EF4-FFF2-40B4-BE49-F238E27FC236}">
                <a16:creationId xmlns:a16="http://schemas.microsoft.com/office/drawing/2014/main" id="{76E0CD63-6B5E-6C9D-0DC2-9E5DAA421431}"/>
              </a:ext>
            </a:extLst>
          </p:cNvPr>
          <p:cNvCxnSpPr>
            <a:cxnSpLocks/>
            <a:stCxn id="4" idx="9"/>
            <a:endCxn id="3" idx="6"/>
          </p:cNvCxnSpPr>
          <p:nvPr/>
        </p:nvCxnSpPr>
        <p:spPr>
          <a:xfrm>
            <a:off x="4674546" y="3157246"/>
            <a:ext cx="2564454" cy="2259314"/>
          </a:xfrm>
          <a:prstGeom prst="straightConnector1">
            <a:avLst/>
          </a:prstGeom>
          <a:noFill/>
          <a:ln w="28440" cap="sq">
            <a:solidFill>
              <a:srgbClr val="009999"/>
            </a:solidFill>
            <a:prstDash val="solid"/>
            <a:miter/>
            <a:tailEnd type="arrow"/>
          </a:ln>
        </p:spPr>
      </p:cxnSp>
    </p:spTree>
    <p:extLst>
      <p:ext uri="{BB962C8B-B14F-4D97-AF65-F5344CB8AC3E}">
        <p14:creationId xmlns:p14="http://schemas.microsoft.com/office/powerpoint/2010/main" val="1431727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AA9E9-F051-0A4C-BE09-198413DDD0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8DDE3-BB0C-D35C-F312-30C1AE1EF2F8}"/>
              </a:ext>
            </a:extLst>
          </p:cNvPr>
          <p:cNvSpPr>
            <a:spLocks noGrp="1"/>
          </p:cNvSpPr>
          <p:nvPr>
            <p:ph type="title"/>
          </p:nvPr>
        </p:nvSpPr>
        <p:spPr>
          <a:xfrm>
            <a:off x="8882449" y="1085699"/>
            <a:ext cx="3054178" cy="3659296"/>
          </a:xfrm>
        </p:spPr>
        <p:txBody>
          <a:bodyPr/>
          <a:lstStyle/>
          <a:p>
            <a:r>
              <a:rPr lang="fr-BE" dirty="0"/>
              <a:t>Où en sommes nous ?</a:t>
            </a:r>
            <a:endParaRPr lang="en-BE" dirty="0"/>
          </a:p>
        </p:txBody>
      </p:sp>
      <p:sp>
        <p:nvSpPr>
          <p:cNvPr id="3" name="Slide Number Placeholder 2">
            <a:extLst>
              <a:ext uri="{FF2B5EF4-FFF2-40B4-BE49-F238E27FC236}">
                <a16:creationId xmlns:a16="http://schemas.microsoft.com/office/drawing/2014/main" id="{8026ADAE-8DE6-A23F-D1F1-EE79612B3068}"/>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1026" name="Picture 2">
            <a:extLst>
              <a:ext uri="{FF2B5EF4-FFF2-40B4-BE49-F238E27FC236}">
                <a16:creationId xmlns:a16="http://schemas.microsoft.com/office/drawing/2014/main" id="{D99F1085-7446-D763-D52D-19B4456DF2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08" y="-1"/>
            <a:ext cx="83835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074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421BF-62D5-2DEC-7297-3E5B0B552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C0097-D1CD-32A5-D353-100D0F634F18}"/>
              </a:ext>
            </a:extLst>
          </p:cNvPr>
          <p:cNvSpPr>
            <a:spLocks noGrp="1"/>
          </p:cNvSpPr>
          <p:nvPr>
            <p:ph type="title"/>
          </p:nvPr>
        </p:nvSpPr>
        <p:spPr>
          <a:xfrm>
            <a:off x="0" y="0"/>
            <a:ext cx="10515600" cy="1069975"/>
          </a:xfrm>
        </p:spPr>
        <p:txBody>
          <a:bodyPr/>
          <a:lstStyle/>
          <a:p>
            <a:r>
              <a:rPr lang="fr-BE" dirty="0"/>
              <a:t>Où en sommes nous ?</a:t>
            </a:r>
            <a:endParaRPr lang="en-BE" dirty="0"/>
          </a:p>
        </p:txBody>
      </p:sp>
      <p:sp>
        <p:nvSpPr>
          <p:cNvPr id="3" name="Slide Number Placeholder 2">
            <a:extLst>
              <a:ext uri="{FF2B5EF4-FFF2-40B4-BE49-F238E27FC236}">
                <a16:creationId xmlns:a16="http://schemas.microsoft.com/office/drawing/2014/main" id="{DBD08633-78DA-7BC6-79CF-9EF6D97B913D}"/>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2050" name="Picture 2">
            <a:extLst>
              <a:ext uri="{FF2B5EF4-FFF2-40B4-BE49-F238E27FC236}">
                <a16:creationId xmlns:a16="http://schemas.microsoft.com/office/drawing/2014/main" id="{CF0F58D8-9662-5705-EFCC-A75A0E5D1C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054" y="785812"/>
            <a:ext cx="10572750" cy="528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032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AD9E9-1346-0220-4B72-C4C464E7A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3D51C5-D3A6-1874-E789-93465DB5F5D3}"/>
              </a:ext>
            </a:extLst>
          </p:cNvPr>
          <p:cNvSpPr>
            <a:spLocks noGrp="1"/>
          </p:cNvSpPr>
          <p:nvPr>
            <p:ph type="title"/>
          </p:nvPr>
        </p:nvSpPr>
        <p:spPr>
          <a:xfrm>
            <a:off x="0" y="1"/>
            <a:ext cx="10515600" cy="951470"/>
          </a:xfrm>
        </p:spPr>
        <p:txBody>
          <a:bodyPr/>
          <a:lstStyle/>
          <a:p>
            <a:r>
              <a:rPr lang="fr-BE" dirty="0"/>
              <a:t>Où en sommes nous ?</a:t>
            </a:r>
            <a:endParaRPr lang="en-BE" dirty="0"/>
          </a:p>
        </p:txBody>
      </p:sp>
      <p:sp>
        <p:nvSpPr>
          <p:cNvPr id="3" name="Slide Number Placeholder 2">
            <a:extLst>
              <a:ext uri="{FF2B5EF4-FFF2-40B4-BE49-F238E27FC236}">
                <a16:creationId xmlns:a16="http://schemas.microsoft.com/office/drawing/2014/main" id="{CE482A0D-F529-3423-84FC-E139270BE252}"/>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3074" name="Picture 2">
            <a:extLst>
              <a:ext uri="{FF2B5EF4-FFF2-40B4-BE49-F238E27FC236}">
                <a16:creationId xmlns:a16="http://schemas.microsoft.com/office/drawing/2014/main" id="{57D76AD3-00EC-1B75-0DEC-A2E9363DF0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489" y="951471"/>
            <a:ext cx="10572750" cy="528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0257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B7CA-5808-E1B2-F029-E3EAF1336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FD1BC-66BF-AA63-0FC5-B0FEFBD14B88}"/>
              </a:ext>
            </a:extLst>
          </p:cNvPr>
          <p:cNvSpPr>
            <a:spLocks noGrp="1"/>
          </p:cNvSpPr>
          <p:nvPr>
            <p:ph type="title"/>
          </p:nvPr>
        </p:nvSpPr>
        <p:spPr/>
        <p:txBody>
          <a:bodyPr/>
          <a:lstStyle/>
          <a:p>
            <a:r>
              <a:rPr lang="fr-BE" dirty="0"/>
              <a:t>Où en sommes nous ?</a:t>
            </a:r>
            <a:endParaRPr lang="en-BE" dirty="0"/>
          </a:p>
        </p:txBody>
      </p:sp>
      <p:sp>
        <p:nvSpPr>
          <p:cNvPr id="3" name="Slide Number Placeholder 2">
            <a:extLst>
              <a:ext uri="{FF2B5EF4-FFF2-40B4-BE49-F238E27FC236}">
                <a16:creationId xmlns:a16="http://schemas.microsoft.com/office/drawing/2014/main" id="{BCA1C5E7-CA77-F8FC-78EE-DD73E7E1ACEA}"/>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8" name="Image 7" descr="Une image contenant texte, capture d’écran, carte&#10;&#10;Le contenu généré par l’IA peut être incorrect.">
            <a:extLst>
              <a:ext uri="{FF2B5EF4-FFF2-40B4-BE49-F238E27FC236}">
                <a16:creationId xmlns:a16="http://schemas.microsoft.com/office/drawing/2014/main" id="{97D7E98E-0CAC-0B58-37FE-8D2B435F0BB8}"/>
              </a:ext>
            </a:extLst>
          </p:cNvPr>
          <p:cNvPicPr>
            <a:picLocks noChangeAspect="1"/>
          </p:cNvPicPr>
          <p:nvPr/>
        </p:nvPicPr>
        <p:blipFill>
          <a:blip r:embed="rId3"/>
          <a:stretch>
            <a:fillRect/>
          </a:stretch>
        </p:blipFill>
        <p:spPr>
          <a:xfrm>
            <a:off x="0" y="685170"/>
            <a:ext cx="12192000" cy="5487659"/>
          </a:xfrm>
          <a:prstGeom prst="rect">
            <a:avLst/>
          </a:prstGeom>
        </p:spPr>
      </p:pic>
      <p:pic>
        <p:nvPicPr>
          <p:cNvPr id="12" name="Image 11" descr="Une image contenant conception, outil&#10;&#10;Le contenu généré par l’IA peut être incorrect.">
            <a:extLst>
              <a:ext uri="{FF2B5EF4-FFF2-40B4-BE49-F238E27FC236}">
                <a16:creationId xmlns:a16="http://schemas.microsoft.com/office/drawing/2014/main" id="{3506D780-9956-DCB8-0992-5470B2EEC5D2}"/>
              </a:ext>
            </a:extLst>
          </p:cNvPr>
          <p:cNvPicPr>
            <a:picLocks noChangeAspect="1"/>
          </p:cNvPicPr>
          <p:nvPr/>
        </p:nvPicPr>
        <p:blipFill>
          <a:blip r:embed="rId4"/>
          <a:stretch>
            <a:fillRect/>
          </a:stretch>
        </p:blipFill>
        <p:spPr>
          <a:xfrm>
            <a:off x="10672762" y="3926230"/>
            <a:ext cx="1362075" cy="809625"/>
          </a:xfrm>
          <a:prstGeom prst="rect">
            <a:avLst/>
          </a:prstGeom>
        </p:spPr>
      </p:pic>
    </p:spTree>
    <p:extLst>
      <p:ext uri="{BB962C8B-B14F-4D97-AF65-F5344CB8AC3E}">
        <p14:creationId xmlns:p14="http://schemas.microsoft.com/office/powerpoint/2010/main" val="40496922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719B0-6231-C3E5-0A52-9916CFC33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A6A98-4BBF-F657-1DF4-4217D3E1F887}"/>
              </a:ext>
            </a:extLst>
          </p:cNvPr>
          <p:cNvSpPr>
            <a:spLocks noGrp="1"/>
          </p:cNvSpPr>
          <p:nvPr>
            <p:ph type="title"/>
          </p:nvPr>
        </p:nvSpPr>
        <p:spPr/>
        <p:txBody>
          <a:bodyPr/>
          <a:lstStyle/>
          <a:p>
            <a:r>
              <a:rPr lang="fr-BE" dirty="0"/>
              <a:t>Type d’acteurs de la gouvernance climatique</a:t>
            </a:r>
            <a:endParaRPr lang="en-BE" dirty="0"/>
          </a:p>
        </p:txBody>
      </p:sp>
      <p:graphicFrame>
        <p:nvGraphicFramePr>
          <p:cNvPr id="7" name="Table 6">
            <a:extLst>
              <a:ext uri="{FF2B5EF4-FFF2-40B4-BE49-F238E27FC236}">
                <a16:creationId xmlns:a16="http://schemas.microsoft.com/office/drawing/2014/main" id="{E93A6C86-B4AC-8E95-801E-9F503E138AF6}"/>
              </a:ext>
            </a:extLst>
          </p:cNvPr>
          <p:cNvGraphicFramePr>
            <a:graphicFrameLocks noGrp="1"/>
          </p:cNvGraphicFramePr>
          <p:nvPr/>
        </p:nvGraphicFramePr>
        <p:xfrm>
          <a:off x="974558" y="2248092"/>
          <a:ext cx="9877926" cy="2489200"/>
        </p:xfrm>
        <a:graphic>
          <a:graphicData uri="http://schemas.openxmlformats.org/drawingml/2006/table">
            <a:tbl>
              <a:tblPr firstRow="1" bandRow="1">
                <a:tableStyleId>{5C22544A-7EE6-4342-B048-85BDC9FD1C3A}</a:tableStyleId>
              </a:tblPr>
              <a:tblGrid>
                <a:gridCol w="5438274">
                  <a:extLst>
                    <a:ext uri="{9D8B030D-6E8A-4147-A177-3AD203B41FA5}">
                      <a16:colId xmlns:a16="http://schemas.microsoft.com/office/drawing/2014/main" val="4247180788"/>
                    </a:ext>
                  </a:extLst>
                </a:gridCol>
                <a:gridCol w="4439652">
                  <a:extLst>
                    <a:ext uri="{9D8B030D-6E8A-4147-A177-3AD203B41FA5}">
                      <a16:colId xmlns:a16="http://schemas.microsoft.com/office/drawing/2014/main" val="2359870212"/>
                    </a:ext>
                  </a:extLst>
                </a:gridCol>
              </a:tblGrid>
              <a:tr h="370840">
                <a:tc>
                  <a:txBody>
                    <a:bodyPr/>
                    <a:lstStyle/>
                    <a:p>
                      <a:r>
                        <a:rPr lang="fr-BE" dirty="0"/>
                        <a:t>Institutionnels</a:t>
                      </a:r>
                      <a:endParaRPr lang="en-BE" dirty="0"/>
                    </a:p>
                  </a:txBody>
                  <a:tcPr/>
                </a:tc>
                <a:tc>
                  <a:txBody>
                    <a:bodyPr/>
                    <a:lstStyle/>
                    <a:p>
                      <a:r>
                        <a:rPr lang="fr-BE" dirty="0"/>
                        <a:t>Non-institutionnels</a:t>
                      </a:r>
                      <a:endParaRPr lang="en-BE" dirty="0"/>
                    </a:p>
                  </a:txBody>
                  <a:tcPr/>
                </a:tc>
                <a:extLst>
                  <a:ext uri="{0D108BD9-81ED-4DB2-BD59-A6C34878D82A}">
                    <a16:rowId xmlns:a16="http://schemas.microsoft.com/office/drawing/2014/main" val="3590536759"/>
                  </a:ext>
                </a:extLst>
              </a:tr>
              <a:tr h="370840">
                <a:tc>
                  <a:txBody>
                    <a:bodyPr/>
                    <a:lstStyle/>
                    <a:p>
                      <a:r>
                        <a:rPr lang="fr-BE" dirty="0"/>
                        <a:t>La CCNUCC, la COP</a:t>
                      </a:r>
                      <a:endParaRPr lang="en-BE" dirty="0"/>
                    </a:p>
                  </a:txBody>
                  <a:tcPr/>
                </a:tc>
                <a:tc>
                  <a:txBody>
                    <a:bodyPr/>
                    <a:lstStyle/>
                    <a:p>
                      <a:r>
                        <a:rPr lang="fr-BE" dirty="0"/>
                        <a:t>Société civile organisée (</a:t>
                      </a:r>
                      <a:r>
                        <a:rPr lang="fr-BE" dirty="0" err="1"/>
                        <a:t>ONGs</a:t>
                      </a:r>
                      <a:r>
                        <a:rPr lang="fr-BE" dirty="0"/>
                        <a:t>)</a:t>
                      </a:r>
                      <a:endParaRPr lang="en-BE" dirty="0"/>
                    </a:p>
                  </a:txBody>
                  <a:tcPr/>
                </a:tc>
                <a:extLst>
                  <a:ext uri="{0D108BD9-81ED-4DB2-BD59-A6C34878D82A}">
                    <a16:rowId xmlns:a16="http://schemas.microsoft.com/office/drawing/2014/main" val="718885441"/>
                  </a:ext>
                </a:extLst>
              </a:tr>
              <a:tr h="294017">
                <a:tc>
                  <a:txBody>
                    <a:bodyPr/>
                    <a:lstStyle/>
                    <a:p>
                      <a:r>
                        <a:rPr lang="fr-BE" dirty="0"/>
                        <a:t>L’UE</a:t>
                      </a:r>
                      <a:endParaRPr lang="en-BE" dirty="0"/>
                    </a:p>
                  </a:txBody>
                  <a:tcPr/>
                </a:tc>
                <a:tc>
                  <a:txBody>
                    <a:bodyPr/>
                    <a:lstStyle/>
                    <a:p>
                      <a:r>
                        <a:rPr lang="fr-BE" dirty="0"/>
                        <a:t>Mouvements sociaux</a:t>
                      </a:r>
                      <a:endParaRPr lang="en-BE" dirty="0"/>
                    </a:p>
                  </a:txBody>
                  <a:tcPr/>
                </a:tc>
                <a:extLst>
                  <a:ext uri="{0D108BD9-81ED-4DB2-BD59-A6C34878D82A}">
                    <a16:rowId xmlns:a16="http://schemas.microsoft.com/office/drawing/2014/main" val="4232406868"/>
                  </a:ext>
                </a:extLst>
              </a:tr>
              <a:tr h="370840">
                <a:tc>
                  <a:txBody>
                    <a:bodyPr/>
                    <a:lstStyle/>
                    <a:p>
                      <a:r>
                        <a:rPr lang="fr-BE" dirty="0"/>
                        <a:t>Gouvernements nationaux, Parlements, les Régions et entités fédérées</a:t>
                      </a:r>
                      <a:endParaRPr lang="en-BE" dirty="0"/>
                    </a:p>
                  </a:txBody>
                  <a:tcPr/>
                </a:tc>
                <a:tc>
                  <a:txBody>
                    <a:bodyPr/>
                    <a:lstStyle/>
                    <a:p>
                      <a:r>
                        <a:rPr lang="fr-BE" dirty="0"/>
                        <a:t>Contentieux juridiques (Affaires Climat)</a:t>
                      </a:r>
                      <a:endParaRPr lang="en-BE" dirty="0"/>
                    </a:p>
                  </a:txBody>
                  <a:tcPr/>
                </a:tc>
                <a:extLst>
                  <a:ext uri="{0D108BD9-81ED-4DB2-BD59-A6C34878D82A}">
                    <a16:rowId xmlns:a16="http://schemas.microsoft.com/office/drawing/2014/main" val="2641993600"/>
                  </a:ext>
                </a:extLst>
              </a:tr>
              <a:tr h="370840">
                <a:tc>
                  <a:txBody>
                    <a:bodyPr/>
                    <a:lstStyle/>
                    <a:p>
                      <a:r>
                        <a:rPr lang="fr-BE" dirty="0"/>
                        <a:t>Nouvelles instances (assemblées citoyennes)</a:t>
                      </a:r>
                      <a:endParaRPr lang="en-BE" dirty="0"/>
                    </a:p>
                  </a:txBody>
                  <a:tcPr/>
                </a:tc>
                <a:tc>
                  <a:txBody>
                    <a:bodyPr/>
                    <a:lstStyle/>
                    <a:p>
                      <a:r>
                        <a:rPr lang="fr-BE" dirty="0" err="1"/>
                        <a:t>Citoyen.ne.s</a:t>
                      </a:r>
                      <a:endParaRPr lang="en-BE" dirty="0"/>
                    </a:p>
                  </a:txBody>
                  <a:tcPr/>
                </a:tc>
                <a:extLst>
                  <a:ext uri="{0D108BD9-81ED-4DB2-BD59-A6C34878D82A}">
                    <a16:rowId xmlns:a16="http://schemas.microsoft.com/office/drawing/2014/main" val="2397746993"/>
                  </a:ext>
                </a:extLst>
              </a:tr>
              <a:tr h="370840">
                <a:tc>
                  <a:txBody>
                    <a:bodyPr/>
                    <a:lstStyle/>
                    <a:p>
                      <a:r>
                        <a:rPr lang="fr-BE" dirty="0"/>
                        <a:t>Comités d’experts (GIEC)</a:t>
                      </a:r>
                      <a:endParaRPr lang="en-BE" dirty="0"/>
                    </a:p>
                  </a:txBody>
                  <a:tcPr/>
                </a:tc>
                <a:tc>
                  <a:txBody>
                    <a:bodyPr/>
                    <a:lstStyle/>
                    <a:p>
                      <a:r>
                        <a:rPr lang="fr-BE" dirty="0"/>
                        <a:t>Entreprises</a:t>
                      </a:r>
                      <a:endParaRPr lang="en-BE" dirty="0"/>
                    </a:p>
                  </a:txBody>
                  <a:tcPr/>
                </a:tc>
                <a:extLst>
                  <a:ext uri="{0D108BD9-81ED-4DB2-BD59-A6C34878D82A}">
                    <a16:rowId xmlns:a16="http://schemas.microsoft.com/office/drawing/2014/main" val="1271954569"/>
                  </a:ext>
                </a:extLst>
              </a:tr>
            </a:tbl>
          </a:graphicData>
        </a:graphic>
      </p:graphicFrame>
      <p:sp>
        <p:nvSpPr>
          <p:cNvPr id="3" name="Slide Number Placeholder 2">
            <a:extLst>
              <a:ext uri="{FF2B5EF4-FFF2-40B4-BE49-F238E27FC236}">
                <a16:creationId xmlns:a16="http://schemas.microsoft.com/office/drawing/2014/main" id="{B3DB6AE2-0BF8-D5EC-6CF2-F8025B25DE9F}"/>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53086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75DEA-0A6E-4E16-FC9B-D82DFE400656}"/>
              </a:ext>
            </a:extLst>
          </p:cNvPr>
          <p:cNvSpPr>
            <a:spLocks noGrp="1"/>
          </p:cNvSpPr>
          <p:nvPr>
            <p:ph type="title"/>
          </p:nvPr>
        </p:nvSpPr>
        <p:spPr>
          <a:xfrm>
            <a:off x="838200" y="136525"/>
            <a:ext cx="10515600" cy="1325563"/>
          </a:xfrm>
        </p:spPr>
        <p:txBody>
          <a:bodyPr/>
          <a:lstStyle/>
          <a:p>
            <a:r>
              <a:rPr lang="en-GB" dirty="0"/>
              <a:t>Structures politiques</a:t>
            </a:r>
            <a:endParaRPr lang="en-BE" dirty="0"/>
          </a:p>
        </p:txBody>
      </p:sp>
      <p:sp>
        <p:nvSpPr>
          <p:cNvPr id="4" name="Content Placeholder 2">
            <a:extLst>
              <a:ext uri="{FF2B5EF4-FFF2-40B4-BE49-F238E27FC236}">
                <a16:creationId xmlns:a16="http://schemas.microsoft.com/office/drawing/2014/main" id="{6F9CC21D-804D-535E-6F32-20AC756E0F4E}"/>
              </a:ext>
            </a:extLst>
          </p:cNvPr>
          <p:cNvSpPr>
            <a:spLocks noGrp="1"/>
          </p:cNvSpPr>
          <p:nvPr>
            <p:ph idx="1"/>
          </p:nvPr>
        </p:nvSpPr>
        <p:spPr>
          <a:xfrm>
            <a:off x="838200" y="1400537"/>
            <a:ext cx="10515600" cy="4776426"/>
          </a:xfrm>
        </p:spPr>
        <p:txBody>
          <a:bodyPr>
            <a:normAutofit fontScale="85000" lnSpcReduction="20000"/>
          </a:bodyPr>
          <a:lstStyle/>
          <a:p>
            <a:pPr marL="0" indent="0" algn="just">
              <a:buNone/>
            </a:pPr>
            <a:r>
              <a:rPr lang="en-GB" b="1" dirty="0"/>
              <a:t>“Government actions at sub-national, national and international levels</a:t>
            </a:r>
            <a:r>
              <a:rPr lang="en-GB" dirty="0"/>
              <a:t>, with </a:t>
            </a:r>
            <a:r>
              <a:rPr lang="en-GB" b="1" dirty="0"/>
              <a:t>civil society </a:t>
            </a:r>
            <a:r>
              <a:rPr lang="en-GB" dirty="0"/>
              <a:t>and the </a:t>
            </a:r>
            <a:r>
              <a:rPr lang="en-GB" b="1" dirty="0"/>
              <a:t>private sector</a:t>
            </a:r>
            <a:r>
              <a:rPr lang="en-GB" dirty="0"/>
              <a:t>, play a crucial role in </a:t>
            </a:r>
            <a:r>
              <a:rPr lang="en-GB" b="1" dirty="0"/>
              <a:t>enabling and accelerating shifts in development pathways towards sustainability and climate resilient development </a:t>
            </a:r>
            <a:r>
              <a:rPr lang="en-GB" dirty="0"/>
              <a:t>(very high confidence). </a:t>
            </a:r>
          </a:p>
          <a:p>
            <a:pPr marL="0" indent="0" algn="just">
              <a:buNone/>
            </a:pPr>
            <a:r>
              <a:rPr lang="en-GB" dirty="0"/>
              <a:t>Climate resilient development is enabled when governments, civil society and the private sector make inclusive development </a:t>
            </a:r>
            <a:r>
              <a:rPr lang="en-GB" b="1" dirty="0"/>
              <a:t>choices that prioritize risk reduction, equity and justice, and when decision-making processes, finance and actions are integrated across governance levels, sectors, and timeframes </a:t>
            </a:r>
            <a:r>
              <a:rPr lang="en-GB" dirty="0"/>
              <a:t>(very high confidence).</a:t>
            </a:r>
          </a:p>
          <a:p>
            <a:pPr marL="0" indent="0" algn="just">
              <a:buNone/>
            </a:pPr>
            <a:r>
              <a:rPr lang="en-GB" b="1" dirty="0"/>
              <a:t>Enabling conditions are differentiated by national, regional and local circumstances and geographies, </a:t>
            </a:r>
            <a:r>
              <a:rPr lang="en-GB" dirty="0"/>
              <a:t>according to capabilities, and include: political commitment and follow-through, coordinated policies, social and international cooperation, ecosystem stewardship, inclusive governance, knowledge diversity, technological innovation, monitoring and evaluation, and improved access to adequate financial resources, especially for vulnerable regions, sectors and communities (high confidence). {3.4, 4.2, 4.4, 4.5, 4.7, 4.8} (Figure SPM.6)”</a:t>
            </a:r>
            <a:endParaRPr lang="en-BE" dirty="0"/>
          </a:p>
        </p:txBody>
      </p:sp>
      <p:sp>
        <p:nvSpPr>
          <p:cNvPr id="6" name="TextBox 5">
            <a:extLst>
              <a:ext uri="{FF2B5EF4-FFF2-40B4-BE49-F238E27FC236}">
                <a16:creationId xmlns:a16="http://schemas.microsoft.com/office/drawing/2014/main" id="{CC7F602C-293A-92F1-65C2-4C44642E034A}"/>
              </a:ext>
            </a:extLst>
          </p:cNvPr>
          <p:cNvSpPr txBox="1"/>
          <p:nvPr/>
        </p:nvSpPr>
        <p:spPr>
          <a:xfrm>
            <a:off x="8414657" y="612723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IPCC 6</a:t>
            </a:r>
            <a:r>
              <a:rPr kumimoji="0" lang="en-GB" sz="1800" b="0" i="0" u="none" strike="noStrike" kern="1200" cap="none" spc="0" normalizeH="0" baseline="30000" noProof="0" dirty="0">
                <a:ln>
                  <a:noFill/>
                </a:ln>
                <a:solidFill>
                  <a:prstClr val="black"/>
                </a:solidFill>
                <a:effectLst/>
                <a:uLnTx/>
                <a:uFillTx/>
                <a:latin typeface="Aptos" panose="02110004020202020204"/>
                <a:ea typeface="+mn-ea"/>
                <a:cs typeface="+mn-cs"/>
              </a:rPr>
              <a:t>th</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Assessment Report</a:t>
            </a:r>
            <a:endParaRPr kumimoji="0" lang="en-B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Slide Number Placeholder 2">
            <a:extLst>
              <a:ext uri="{FF2B5EF4-FFF2-40B4-BE49-F238E27FC236}">
                <a16:creationId xmlns:a16="http://schemas.microsoft.com/office/drawing/2014/main" id="{6B5FBE3D-7E73-5C68-FDD7-45EFD0029BDE}"/>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1630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2A743E6-F9AA-BEA4-6115-B3A8A092B406}"/>
              </a:ext>
            </a:extLst>
          </p:cNvPr>
          <p:cNvSpPr txBox="1"/>
          <p:nvPr/>
        </p:nvSpPr>
        <p:spPr>
          <a:xfrm>
            <a:off x="7636936" y="1098871"/>
            <a:ext cx="4279711" cy="50783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Aptos   "/>
                <a:ea typeface="+mn-ea"/>
                <a:cs typeface="+mn-cs"/>
              </a:rPr>
              <a:t>1979</a:t>
            </a:r>
            <a:r>
              <a:rPr kumimoji="0" lang="fr-BE" sz="2400" b="1" i="0" u="none" strike="noStrike" kern="1200" cap="none" spc="0" normalizeH="0" baseline="0" noProof="0" dirty="0">
                <a:ln>
                  <a:noFill/>
                </a:ln>
                <a:solidFill>
                  <a:prstClr val="black"/>
                </a:solidFill>
                <a:effectLst/>
                <a:uLnTx/>
                <a:uFillTx/>
                <a:latin typeface="Aptos   "/>
                <a:ea typeface="+mn-ea"/>
                <a:cs typeface="+mn-cs"/>
              </a:rPr>
              <a:t> </a:t>
            </a:r>
            <a:r>
              <a:rPr kumimoji="0" lang="fr-BE" sz="2400" b="0" i="0" u="none" strike="noStrike" kern="1200" cap="none" spc="0" normalizeH="0" baseline="0" noProof="0" dirty="0">
                <a:ln>
                  <a:noFill/>
                </a:ln>
                <a:solidFill>
                  <a:prstClr val="black"/>
                </a:solidFill>
                <a:effectLst/>
                <a:uLnTx/>
                <a:uFillTx/>
                <a:latin typeface="Aptos   "/>
                <a:ea typeface="+mn-ea"/>
                <a:cs typeface="+mn-cs"/>
              </a:rPr>
              <a:t>Le </a:t>
            </a:r>
            <a:r>
              <a:rPr kumimoji="0" lang="fr-BE" sz="2400" b="0" i="0" u="none" strike="noStrike" kern="1200" cap="none" spc="0" normalizeH="0" baseline="0" noProof="0" dirty="0" err="1">
                <a:ln>
                  <a:noFill/>
                </a:ln>
                <a:solidFill>
                  <a:prstClr val="black"/>
                </a:solidFill>
                <a:effectLst/>
                <a:uLnTx/>
                <a:uFillTx/>
                <a:latin typeface="Aptos   "/>
                <a:ea typeface="+mn-ea"/>
                <a:cs typeface="+mn-cs"/>
              </a:rPr>
              <a:t>phénomène</a:t>
            </a:r>
            <a:r>
              <a:rPr kumimoji="0" lang="fr-BE" sz="2400" b="0" i="0" u="none" strike="noStrike" kern="1200" cap="none" spc="0" normalizeH="0" baseline="0" noProof="0" dirty="0">
                <a:ln>
                  <a:noFill/>
                </a:ln>
                <a:solidFill>
                  <a:prstClr val="black"/>
                </a:solidFill>
                <a:effectLst/>
                <a:uLnTx/>
                <a:uFillTx/>
                <a:latin typeface="Aptos   "/>
                <a:ea typeface="+mn-ea"/>
                <a:cs typeface="+mn-cs"/>
              </a:rPr>
              <a:t> du changement climatique est reconnu pour la </a:t>
            </a:r>
            <a:r>
              <a:rPr kumimoji="0" lang="fr-BE" sz="2400" b="0" i="0" u="none" strike="noStrike" kern="1200" cap="none" spc="0" normalizeH="0" baseline="0" noProof="0" dirty="0" err="1">
                <a:ln>
                  <a:noFill/>
                </a:ln>
                <a:solidFill>
                  <a:prstClr val="black"/>
                </a:solidFill>
                <a:effectLst/>
                <a:uLnTx/>
                <a:uFillTx/>
                <a:latin typeface="Aptos   "/>
                <a:ea typeface="+mn-ea"/>
                <a:cs typeface="+mn-cs"/>
              </a:rPr>
              <a:t>première</a:t>
            </a:r>
            <a:r>
              <a:rPr kumimoji="0" lang="fr-BE" sz="2400" b="0" i="0" u="none" strike="noStrike" kern="1200" cap="none" spc="0" normalizeH="0" baseline="0" noProof="0" dirty="0">
                <a:ln>
                  <a:noFill/>
                </a:ln>
                <a:solidFill>
                  <a:prstClr val="black"/>
                </a:solidFill>
                <a:effectLst/>
                <a:uLnTx/>
                <a:uFillTx/>
                <a:latin typeface="Aptos   "/>
                <a:ea typeface="+mn-ea"/>
                <a:cs typeface="+mn-cs"/>
              </a:rPr>
              <a:t> fois comme </a:t>
            </a:r>
            <a:r>
              <a:rPr kumimoji="0" lang="fr-BE" sz="2400" b="0" i="0" u="none" strike="noStrike" kern="1200" cap="none" spc="0" normalizeH="0" baseline="0" noProof="0" dirty="0" err="1">
                <a:ln>
                  <a:noFill/>
                </a:ln>
                <a:solidFill>
                  <a:prstClr val="black"/>
                </a:solidFill>
                <a:effectLst/>
                <a:uLnTx/>
                <a:uFillTx/>
                <a:latin typeface="Aptos   "/>
                <a:ea typeface="+mn-ea"/>
                <a:cs typeface="+mn-cs"/>
              </a:rPr>
              <a:t>étant</a:t>
            </a:r>
            <a:r>
              <a:rPr kumimoji="0" lang="fr-BE" sz="2400" b="0" i="0" u="none" strike="noStrike" kern="1200" cap="none" spc="0" normalizeH="0" baseline="0" noProof="0" dirty="0">
                <a:ln>
                  <a:noFill/>
                </a:ln>
                <a:solidFill>
                  <a:prstClr val="black"/>
                </a:solidFill>
                <a:effectLst/>
                <a:uLnTx/>
                <a:uFillTx/>
                <a:latin typeface="Aptos   "/>
                <a:ea typeface="+mn-ea"/>
                <a:cs typeface="+mn-cs"/>
              </a:rPr>
              <a:t> un grave </a:t>
            </a:r>
            <a:r>
              <a:rPr kumimoji="0" lang="fr-BE" sz="2400" b="0" i="0" u="none" strike="noStrike" kern="1200" cap="none" spc="0" normalizeH="0" baseline="0" noProof="0" dirty="0" err="1">
                <a:ln>
                  <a:noFill/>
                </a:ln>
                <a:solidFill>
                  <a:prstClr val="black"/>
                </a:solidFill>
                <a:effectLst/>
                <a:uLnTx/>
                <a:uFillTx/>
                <a:latin typeface="Aptos   "/>
                <a:ea typeface="+mn-ea"/>
                <a:cs typeface="+mn-cs"/>
              </a:rPr>
              <a:t>problème</a:t>
            </a:r>
            <a:r>
              <a:rPr kumimoji="0" lang="fr-BE" sz="2400" b="0" i="0" u="none" strike="noStrike" kern="1200" cap="none" spc="0" normalizeH="0" baseline="0" noProof="0" dirty="0">
                <a:ln>
                  <a:noFill/>
                </a:ln>
                <a:solidFill>
                  <a:prstClr val="black"/>
                </a:solidFill>
                <a:effectLst/>
                <a:uLnTx/>
                <a:uFillTx/>
                <a:latin typeface="Aptos   "/>
                <a:ea typeface="+mn-ea"/>
                <a:cs typeface="+mn-cs"/>
              </a:rPr>
              <a:t> de </a:t>
            </a:r>
            <a:r>
              <a:rPr kumimoji="0" lang="fr-BE" sz="2400" b="0" i="0" u="none" strike="noStrike" kern="1200" cap="none" spc="0" normalizeH="0" baseline="0" noProof="0" dirty="0" err="1">
                <a:ln>
                  <a:noFill/>
                </a:ln>
                <a:solidFill>
                  <a:prstClr val="black"/>
                </a:solidFill>
                <a:effectLst/>
                <a:uLnTx/>
                <a:uFillTx/>
                <a:latin typeface="Aptos   "/>
                <a:ea typeface="+mn-ea"/>
                <a:cs typeface="+mn-cs"/>
              </a:rPr>
              <a:t>portée</a:t>
            </a:r>
            <a:r>
              <a:rPr kumimoji="0" lang="fr-BE" sz="2400" b="0" i="0" u="none" strike="noStrike" kern="1200" cap="none" spc="0" normalizeH="0" baseline="0" noProof="0" dirty="0">
                <a:ln>
                  <a:noFill/>
                </a:ln>
                <a:solidFill>
                  <a:prstClr val="black"/>
                </a:solidFill>
                <a:effectLst/>
                <a:uLnTx/>
                <a:uFillTx/>
                <a:latin typeface="Aptos   "/>
                <a:ea typeface="+mn-ea"/>
                <a:cs typeface="+mn-cs"/>
              </a:rPr>
              <a:t> mondiale, lors de la </a:t>
            </a:r>
            <a:r>
              <a:rPr kumimoji="0" lang="fr-BE" sz="2400" b="0" i="0" u="none" strike="noStrike" kern="1200" cap="none" spc="0" normalizeH="0" baseline="0" noProof="0" dirty="0" err="1">
                <a:ln>
                  <a:noFill/>
                </a:ln>
                <a:solidFill>
                  <a:prstClr val="black"/>
                </a:solidFill>
                <a:effectLst/>
                <a:uLnTx/>
                <a:uFillTx/>
                <a:latin typeface="Aptos   "/>
                <a:ea typeface="+mn-ea"/>
                <a:cs typeface="+mn-cs"/>
              </a:rPr>
              <a:t>première</a:t>
            </a:r>
            <a:r>
              <a:rPr kumimoji="0" lang="fr-BE" sz="2400" b="0" i="0" u="none" strike="noStrike" kern="1200" cap="none" spc="0" normalizeH="0" baseline="0" noProof="0" dirty="0">
                <a:ln>
                  <a:noFill/>
                </a:ln>
                <a:solidFill>
                  <a:prstClr val="black"/>
                </a:solidFill>
                <a:effectLst/>
                <a:uLnTx/>
                <a:uFillTx/>
                <a:latin typeface="Aptos   "/>
                <a:ea typeface="+mn-ea"/>
                <a:cs typeface="+mn-cs"/>
              </a:rPr>
              <a:t> </a:t>
            </a:r>
            <a:r>
              <a:rPr kumimoji="0" lang="fr-BE" sz="2400" b="0" i="0" u="none" strike="noStrike" kern="1200" cap="none" spc="0" normalizeH="0" baseline="0" noProof="0" dirty="0" err="1">
                <a:ln>
                  <a:noFill/>
                </a:ln>
                <a:solidFill>
                  <a:prstClr val="black"/>
                </a:solidFill>
                <a:effectLst/>
                <a:uLnTx/>
                <a:uFillTx/>
                <a:latin typeface="Aptos   "/>
                <a:ea typeface="+mn-ea"/>
                <a:cs typeface="+mn-cs"/>
              </a:rPr>
              <a:t>conférence</a:t>
            </a:r>
            <a:r>
              <a:rPr kumimoji="0" lang="fr-BE" sz="2400" b="0" i="0" u="none" strike="noStrike" kern="1200" cap="none" spc="0" normalizeH="0" baseline="0" noProof="0" dirty="0">
                <a:ln>
                  <a:noFill/>
                </a:ln>
                <a:solidFill>
                  <a:prstClr val="black"/>
                </a:solidFill>
                <a:effectLst/>
                <a:uLnTx/>
                <a:uFillTx/>
                <a:latin typeface="Aptos   "/>
                <a:ea typeface="+mn-ea"/>
                <a:cs typeface="+mn-cs"/>
              </a:rPr>
              <a:t> mondiale sur le climat tenue à </a:t>
            </a:r>
            <a:r>
              <a:rPr kumimoji="0" lang="fr-BE" sz="2400" b="0" i="0" u="none" strike="noStrike" kern="1200" cap="none" spc="0" normalizeH="0" baseline="0" noProof="0" dirty="0" err="1">
                <a:ln>
                  <a:noFill/>
                </a:ln>
                <a:solidFill>
                  <a:prstClr val="black"/>
                </a:solidFill>
                <a:effectLst/>
                <a:uLnTx/>
                <a:uFillTx/>
                <a:latin typeface="Aptos   "/>
                <a:ea typeface="+mn-ea"/>
                <a:cs typeface="+mn-cs"/>
              </a:rPr>
              <a:t>Genève</a:t>
            </a:r>
            <a:r>
              <a:rPr kumimoji="0" lang="fr-BE" sz="2400" b="0" i="0" u="none" strike="noStrike" kern="1200" cap="none" spc="0" normalizeH="0" baseline="0" noProof="0" dirty="0">
                <a:ln>
                  <a:noFill/>
                </a:ln>
                <a:solidFill>
                  <a:prstClr val="black"/>
                </a:solidFill>
                <a:effectLst/>
                <a:uLnTx/>
                <a:uFillTx/>
                <a:latin typeface="Aptos   "/>
                <a:ea typeface="+mn-ea"/>
                <a:cs typeface="+mn-cs"/>
              </a:rPr>
              <a:t> sous les auspices entre autres de l’Organisation </a:t>
            </a:r>
            <a:r>
              <a:rPr kumimoji="0" lang="fr-BE" sz="2400" b="0" i="0" u="none" strike="noStrike" kern="1200" cap="none" spc="0" normalizeH="0" baseline="0" noProof="0" dirty="0" err="1">
                <a:ln>
                  <a:noFill/>
                </a:ln>
                <a:solidFill>
                  <a:prstClr val="black"/>
                </a:solidFill>
                <a:effectLst/>
                <a:uLnTx/>
                <a:uFillTx/>
                <a:latin typeface="Aptos   "/>
                <a:ea typeface="+mn-ea"/>
                <a:cs typeface="+mn-cs"/>
              </a:rPr>
              <a:t>météorologique</a:t>
            </a:r>
            <a:r>
              <a:rPr kumimoji="0" lang="fr-BE" sz="2400" b="0" i="0" u="none" strike="noStrike" kern="1200" cap="none" spc="0" normalizeH="0" baseline="0" noProof="0" dirty="0">
                <a:ln>
                  <a:noFill/>
                </a:ln>
                <a:solidFill>
                  <a:prstClr val="black"/>
                </a:solidFill>
                <a:effectLst/>
                <a:uLnTx/>
                <a:uFillTx/>
                <a:latin typeface="Aptos   "/>
                <a:ea typeface="+mn-ea"/>
                <a:cs typeface="+mn-cs"/>
              </a:rPr>
              <a:t> mondiale (OMM) et du Programme des Nations unies pour l’environnement (PNUE).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1F1F1F"/>
              </a:solidFill>
              <a:effectLst/>
              <a:uLnTx/>
              <a:uFillTx/>
              <a:latin typeface="Aptos   "/>
              <a:ea typeface="+mn-ea"/>
              <a:cs typeface="+mn-cs"/>
            </a:endParaRPr>
          </a:p>
        </p:txBody>
      </p:sp>
      <p:sp>
        <p:nvSpPr>
          <p:cNvPr id="3" name="TextBox 2">
            <a:extLst>
              <a:ext uri="{FF2B5EF4-FFF2-40B4-BE49-F238E27FC236}">
                <a16:creationId xmlns:a16="http://schemas.microsoft.com/office/drawing/2014/main" id="{625F711E-77EC-67E4-5E6E-74998D36834F}"/>
              </a:ext>
            </a:extLst>
          </p:cNvPr>
          <p:cNvSpPr txBox="1"/>
          <p:nvPr/>
        </p:nvSpPr>
        <p:spPr>
          <a:xfrm>
            <a:off x="7443734" y="441717"/>
            <a:ext cx="554614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
                <a:ea typeface="+mn-ea"/>
                <a:cs typeface="+mn-cs"/>
              </a:rPr>
              <a:t>Annexe, article Abbas (2011</a:t>
            </a:r>
            <a:r>
              <a:rPr kumimoji="0" lang="en-GB" sz="1100" b="0" i="0" u="none" strike="noStrike" kern="1200" cap="none" spc="0" normalizeH="0" baseline="0" noProof="0" dirty="0">
                <a:ln>
                  <a:noFill/>
                </a:ln>
                <a:solidFill>
                  <a:prstClr val="black"/>
                </a:solidFill>
                <a:effectLst/>
                <a:uLnTx/>
                <a:uFillTx/>
                <a:latin typeface="Aptos   "/>
                <a:ea typeface="+mn-ea"/>
                <a:cs typeface="+mn-cs"/>
              </a:rPr>
              <a:t>)</a:t>
            </a:r>
            <a:endParaRPr kumimoji="0" lang="en-BE" sz="1600" b="0" i="0" u="none" strike="noStrike" kern="1200" cap="none" spc="0" normalizeH="0" baseline="0" noProof="0" dirty="0">
              <a:ln>
                <a:noFill/>
              </a:ln>
              <a:solidFill>
                <a:prstClr val="black"/>
              </a:solidFill>
              <a:effectLst/>
              <a:uLnTx/>
              <a:uFillTx/>
              <a:latin typeface="Aptos   "/>
              <a:ea typeface="+mn-ea"/>
              <a:cs typeface="+mn-cs"/>
            </a:endParaRPr>
          </a:p>
        </p:txBody>
      </p:sp>
      <p:pic>
        <p:nvPicPr>
          <p:cNvPr id="5" name="Content Placeholder 4">
            <a:extLst>
              <a:ext uri="{FF2B5EF4-FFF2-40B4-BE49-F238E27FC236}">
                <a16:creationId xmlns:a16="http://schemas.microsoft.com/office/drawing/2014/main" id="{57AA48D2-E282-5BB0-0D7D-DB9BB6F33F64}"/>
              </a:ext>
            </a:extLst>
          </p:cNvPr>
          <p:cNvPicPr>
            <a:picLocks noGrp="1" noChangeAspect="1"/>
          </p:cNvPicPr>
          <p:nvPr>
            <p:ph idx="1"/>
          </p:nvPr>
        </p:nvPicPr>
        <p:blipFill>
          <a:blip r:embed="rId3"/>
          <a:stretch>
            <a:fillRect/>
          </a:stretch>
        </p:blipFill>
        <p:spPr>
          <a:xfrm>
            <a:off x="1195936" y="441717"/>
            <a:ext cx="5174719" cy="6647237"/>
          </a:xfrm>
        </p:spPr>
      </p:pic>
      <p:cxnSp>
        <p:nvCxnSpPr>
          <p:cNvPr id="7" name="Straight Arrow Connector 6">
            <a:extLst>
              <a:ext uri="{FF2B5EF4-FFF2-40B4-BE49-F238E27FC236}">
                <a16:creationId xmlns:a16="http://schemas.microsoft.com/office/drawing/2014/main" id="{9DEED4E2-B6BB-4B65-FE00-C8F69BB30B30}"/>
              </a:ext>
            </a:extLst>
          </p:cNvPr>
          <p:cNvCxnSpPr>
            <a:cxnSpLocks/>
          </p:cNvCxnSpPr>
          <p:nvPr/>
        </p:nvCxnSpPr>
        <p:spPr>
          <a:xfrm flipV="1">
            <a:off x="5862052" y="3765335"/>
            <a:ext cx="1774884" cy="10195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17E5E1E-AE3C-F7D1-F1D4-C3103EE5B043}"/>
              </a:ext>
            </a:extLst>
          </p:cNvPr>
          <p:cNvSpPr>
            <a:spLocks noGrp="1"/>
          </p:cNvSpPr>
          <p:nvPr>
            <p:ph type="title"/>
          </p:nvPr>
        </p:nvSpPr>
        <p:spPr>
          <a:xfrm>
            <a:off x="403609" y="-221064"/>
            <a:ext cx="10515600" cy="1325563"/>
          </a:xfrm>
        </p:spPr>
        <p:txBody>
          <a:bodyPr/>
          <a:lstStyle/>
          <a:p>
            <a:r>
              <a:rPr lang="en-GB" dirty="0"/>
              <a:t>La </a:t>
            </a:r>
            <a:r>
              <a:rPr lang="en-GB" dirty="0" err="1"/>
              <a:t>gouvernance</a:t>
            </a:r>
            <a:r>
              <a:rPr lang="en-GB" dirty="0"/>
              <a:t> </a:t>
            </a:r>
            <a:r>
              <a:rPr lang="en-GB" dirty="0" err="1"/>
              <a:t>climatique</a:t>
            </a:r>
            <a:r>
              <a:rPr lang="en-GB" dirty="0"/>
              <a:t> (1)</a:t>
            </a:r>
            <a:endParaRPr lang="en-BE" dirty="0"/>
          </a:p>
        </p:txBody>
      </p:sp>
    </p:spTree>
    <p:extLst>
      <p:ext uri="{BB962C8B-B14F-4D97-AF65-F5344CB8AC3E}">
        <p14:creationId xmlns:p14="http://schemas.microsoft.com/office/powerpoint/2010/main" val="16062246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81559-271A-966C-19C3-85691FE8329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07ACCC1-7359-3BC4-68D6-619A002AD633}"/>
              </a:ext>
            </a:extLst>
          </p:cNvPr>
          <p:cNvSpPr txBox="1"/>
          <p:nvPr/>
        </p:nvSpPr>
        <p:spPr>
          <a:xfrm>
            <a:off x="7508680" y="1030193"/>
            <a:ext cx="4279711" cy="53860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Aptos   "/>
                <a:ea typeface="+mn-ea"/>
                <a:cs typeface="+mn-cs"/>
              </a:rPr>
              <a:t>1987 Rapport Brundtland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Aptos   "/>
                <a:ea typeface="+mn-ea"/>
                <a:cs typeface="+mn-cs"/>
              </a:rPr>
              <a:t>“Our Common Future”; </a:t>
            </a:r>
            <a:r>
              <a:rPr kumimoji="0" lang="en-GB" sz="2400" b="0" i="0" u="none" strike="noStrike" kern="1200" cap="none" spc="0" normalizeH="0" baseline="0" noProof="0" dirty="0" err="1">
                <a:ln>
                  <a:noFill/>
                </a:ln>
                <a:solidFill>
                  <a:prstClr val="black"/>
                </a:solidFill>
                <a:effectLst/>
                <a:uLnTx/>
                <a:uFillTx/>
                <a:latin typeface="Aptos   "/>
                <a:ea typeface="+mn-ea"/>
                <a:cs typeface="+mn-cs"/>
              </a:rPr>
              <a:t>origines</a:t>
            </a:r>
            <a:r>
              <a:rPr kumimoji="0" lang="en-GB" sz="2400" b="0" i="0" u="none" strike="noStrike" kern="1200" cap="none" spc="0" normalizeH="0" baseline="0" noProof="0" dirty="0">
                <a:ln>
                  <a:noFill/>
                </a:ln>
                <a:solidFill>
                  <a:prstClr val="black"/>
                </a:solidFill>
                <a:effectLst/>
                <a:uLnTx/>
                <a:uFillTx/>
                <a:latin typeface="Aptos   "/>
                <a:ea typeface="+mn-ea"/>
                <a:cs typeface="+mn-cs"/>
              </a:rPr>
              <a:t> du </a:t>
            </a:r>
            <a:r>
              <a:rPr kumimoji="0" lang="en-GB" sz="2400" b="0" i="0" u="none" strike="noStrike" kern="1200" cap="none" spc="0" normalizeH="0" baseline="0" noProof="0" dirty="0" err="1">
                <a:ln>
                  <a:noFill/>
                </a:ln>
                <a:solidFill>
                  <a:prstClr val="black"/>
                </a:solidFill>
                <a:effectLst/>
                <a:uLnTx/>
                <a:uFillTx/>
                <a:latin typeface="Aptos   "/>
                <a:ea typeface="+mn-ea"/>
                <a:cs typeface="+mn-cs"/>
              </a:rPr>
              <a:t>développement</a:t>
            </a:r>
            <a:r>
              <a:rPr kumimoji="0" lang="en-GB" sz="2400" b="0" i="0" u="none" strike="noStrike" kern="1200" cap="none" spc="0" normalizeH="0" baseline="0" noProof="0" dirty="0">
                <a:ln>
                  <a:noFill/>
                </a:ln>
                <a:solidFill>
                  <a:prstClr val="black"/>
                </a:solidFill>
                <a:effectLst/>
                <a:uLnTx/>
                <a:uFillTx/>
                <a:latin typeface="Aptos   "/>
                <a:ea typeface="+mn-ea"/>
                <a:cs typeface="+mn-cs"/>
              </a:rPr>
              <a:t> durable.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Aptos   "/>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1F1F1F"/>
                </a:solidFill>
                <a:effectLst/>
                <a:uLnTx/>
                <a:uFillTx/>
                <a:latin typeface="Aptos   "/>
                <a:ea typeface="+mn-ea"/>
                <a:cs typeface="+mn-cs"/>
              </a:rPr>
              <a:t>“Sustainable development is development that meets the needs of the present without compromising the ability of future generations to meet their own needs” (United Nations, 1987). </a:t>
            </a:r>
            <a:br>
              <a:rPr kumimoji="0" lang="en-GB" sz="2400" b="0" i="0" u="none" strike="noStrike" kern="1200" cap="none" spc="0" normalizeH="0" baseline="0" noProof="0" dirty="0">
                <a:ln>
                  <a:noFill/>
                </a:ln>
                <a:solidFill>
                  <a:prstClr val="black"/>
                </a:solidFill>
                <a:effectLst/>
                <a:uLnTx/>
                <a:uFillTx/>
                <a:latin typeface="Aptos   "/>
                <a:ea typeface="+mn-ea"/>
                <a:cs typeface="+mn-cs"/>
              </a:rPr>
            </a:br>
            <a:endParaRPr kumimoji="0" lang="en-GB" sz="2400" b="0" i="0" u="none" strike="noStrike" kern="1200" cap="none" spc="0" normalizeH="0" baseline="0" noProof="0" dirty="0">
              <a:ln>
                <a:noFill/>
              </a:ln>
              <a:solidFill>
                <a:prstClr val="black"/>
              </a:solidFill>
              <a:effectLst/>
              <a:uLnTx/>
              <a:uFillTx/>
              <a:latin typeface="Aptos   "/>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Symbol" panose="05050102010706020507" pitchFamily="18" charset="2"/>
              <a:buChar char="Þ"/>
              <a:tabLst/>
              <a:defRPr/>
            </a:pPr>
            <a:r>
              <a:rPr kumimoji="0" lang="en-GB" sz="1200" b="0" i="0" u="none" strike="noStrike" kern="1200" cap="none" spc="0" normalizeH="0" baseline="0" noProof="0" dirty="0">
                <a:ln>
                  <a:noFill/>
                </a:ln>
                <a:solidFill>
                  <a:prstClr val="black"/>
                </a:solidFill>
                <a:effectLst/>
                <a:uLnTx/>
                <a:uFillTx/>
                <a:latin typeface="Aptos   "/>
                <a:ea typeface="+mn-ea"/>
                <a:cs typeface="+mn-cs"/>
              </a:rPr>
              <a:t>UN </a:t>
            </a:r>
            <a:r>
              <a:rPr kumimoji="0" lang="en-GB" sz="1200" b="0" i="0" u="none" strike="noStrike" kern="1200" cap="none" spc="0" normalizeH="0" baseline="0" noProof="0" dirty="0">
                <a:ln>
                  <a:noFill/>
                </a:ln>
                <a:solidFill>
                  <a:srgbClr val="1F1F1F"/>
                </a:solidFill>
                <a:effectLst/>
                <a:uLnTx/>
                <a:uFillTx/>
                <a:latin typeface="Aptos   "/>
                <a:ea typeface="+mn-ea"/>
                <a:cs typeface="+mn-cs"/>
              </a:rPr>
              <a:t>World Commission on Environment and Development (WCED)</a:t>
            </a:r>
          </a:p>
        </p:txBody>
      </p:sp>
      <p:sp>
        <p:nvSpPr>
          <p:cNvPr id="3" name="TextBox 2">
            <a:extLst>
              <a:ext uri="{FF2B5EF4-FFF2-40B4-BE49-F238E27FC236}">
                <a16:creationId xmlns:a16="http://schemas.microsoft.com/office/drawing/2014/main" id="{05A0B3E6-B31B-DCC9-3DDC-9544DB0404FA}"/>
              </a:ext>
            </a:extLst>
          </p:cNvPr>
          <p:cNvSpPr txBox="1"/>
          <p:nvPr/>
        </p:nvSpPr>
        <p:spPr>
          <a:xfrm>
            <a:off x="7443734" y="441717"/>
            <a:ext cx="554614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
                <a:ea typeface="+mn-ea"/>
                <a:cs typeface="+mn-cs"/>
              </a:rPr>
              <a:t>Annexe, article Abbas (2011</a:t>
            </a:r>
            <a:r>
              <a:rPr kumimoji="0" lang="en-GB" sz="1100" b="0" i="0" u="none" strike="noStrike" kern="1200" cap="none" spc="0" normalizeH="0" baseline="0" noProof="0" dirty="0">
                <a:ln>
                  <a:noFill/>
                </a:ln>
                <a:solidFill>
                  <a:prstClr val="black"/>
                </a:solidFill>
                <a:effectLst/>
                <a:uLnTx/>
                <a:uFillTx/>
                <a:latin typeface="Aptos   "/>
                <a:ea typeface="+mn-ea"/>
                <a:cs typeface="+mn-cs"/>
              </a:rPr>
              <a:t>)</a:t>
            </a:r>
            <a:endParaRPr kumimoji="0" lang="en-BE" sz="1600" b="0" i="0" u="none" strike="noStrike" kern="1200" cap="none" spc="0" normalizeH="0" baseline="0" noProof="0" dirty="0">
              <a:ln>
                <a:noFill/>
              </a:ln>
              <a:solidFill>
                <a:prstClr val="black"/>
              </a:solidFill>
              <a:effectLst/>
              <a:uLnTx/>
              <a:uFillTx/>
              <a:latin typeface="Aptos   "/>
              <a:ea typeface="+mn-ea"/>
              <a:cs typeface="+mn-cs"/>
            </a:endParaRPr>
          </a:p>
        </p:txBody>
      </p:sp>
      <p:pic>
        <p:nvPicPr>
          <p:cNvPr id="5" name="Content Placeholder 4">
            <a:extLst>
              <a:ext uri="{FF2B5EF4-FFF2-40B4-BE49-F238E27FC236}">
                <a16:creationId xmlns:a16="http://schemas.microsoft.com/office/drawing/2014/main" id="{BC6A1F22-E7FA-FAA6-1091-AD98C57300E0}"/>
              </a:ext>
            </a:extLst>
          </p:cNvPr>
          <p:cNvPicPr>
            <a:picLocks noGrp="1" noChangeAspect="1"/>
          </p:cNvPicPr>
          <p:nvPr>
            <p:ph idx="1"/>
          </p:nvPr>
        </p:nvPicPr>
        <p:blipFill>
          <a:blip r:embed="rId3"/>
          <a:stretch>
            <a:fillRect/>
          </a:stretch>
        </p:blipFill>
        <p:spPr>
          <a:xfrm>
            <a:off x="1195936" y="441717"/>
            <a:ext cx="5174719" cy="6647237"/>
          </a:xfrm>
        </p:spPr>
      </p:pic>
      <p:cxnSp>
        <p:nvCxnSpPr>
          <p:cNvPr id="7" name="Straight Arrow Connector 6">
            <a:extLst>
              <a:ext uri="{FF2B5EF4-FFF2-40B4-BE49-F238E27FC236}">
                <a16:creationId xmlns:a16="http://schemas.microsoft.com/office/drawing/2014/main" id="{E02FC2DB-B394-936D-1055-7B901052C4AB}"/>
              </a:ext>
            </a:extLst>
          </p:cNvPr>
          <p:cNvCxnSpPr>
            <a:cxnSpLocks/>
          </p:cNvCxnSpPr>
          <p:nvPr/>
        </p:nvCxnSpPr>
        <p:spPr>
          <a:xfrm flipV="1">
            <a:off x="5668850" y="4774487"/>
            <a:ext cx="1774884" cy="10195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CCD3A82D-2A08-5153-7F6F-63AFCED0DFA7}"/>
              </a:ext>
            </a:extLst>
          </p:cNvPr>
          <p:cNvSpPr>
            <a:spLocks noGrp="1"/>
          </p:cNvSpPr>
          <p:nvPr>
            <p:ph type="title"/>
          </p:nvPr>
        </p:nvSpPr>
        <p:spPr>
          <a:xfrm>
            <a:off x="403609" y="-221064"/>
            <a:ext cx="10515600" cy="1325563"/>
          </a:xfrm>
        </p:spPr>
        <p:txBody>
          <a:bodyPr/>
          <a:lstStyle/>
          <a:p>
            <a:r>
              <a:rPr lang="en-GB" dirty="0"/>
              <a:t>La </a:t>
            </a:r>
            <a:r>
              <a:rPr lang="en-GB" dirty="0" err="1"/>
              <a:t>gouvernance</a:t>
            </a:r>
            <a:r>
              <a:rPr lang="en-GB" dirty="0"/>
              <a:t> </a:t>
            </a:r>
            <a:r>
              <a:rPr lang="en-GB" dirty="0" err="1"/>
              <a:t>climatique</a:t>
            </a:r>
            <a:r>
              <a:rPr lang="en-GB" dirty="0"/>
              <a:t> (2)</a:t>
            </a:r>
            <a:endParaRPr lang="en-BE" dirty="0"/>
          </a:p>
        </p:txBody>
      </p:sp>
    </p:spTree>
    <p:extLst>
      <p:ext uri="{BB962C8B-B14F-4D97-AF65-F5344CB8AC3E}">
        <p14:creationId xmlns:p14="http://schemas.microsoft.com/office/powerpoint/2010/main" val="16384796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8357F-61BB-3518-B613-39DC458CB5C6}"/>
              </a:ext>
            </a:extLst>
          </p:cNvPr>
          <p:cNvSpPr>
            <a:spLocks noGrp="1"/>
          </p:cNvSpPr>
          <p:nvPr>
            <p:ph type="title"/>
          </p:nvPr>
        </p:nvSpPr>
        <p:spPr>
          <a:xfrm>
            <a:off x="585158" y="416884"/>
            <a:ext cx="10515600" cy="877079"/>
          </a:xfrm>
        </p:spPr>
        <p:txBody>
          <a:bodyPr/>
          <a:lstStyle/>
          <a:p>
            <a:r>
              <a:rPr lang="fr-BE" dirty="0"/>
              <a:t>Our Common Future</a:t>
            </a:r>
            <a:endParaRPr lang="en-BE" dirty="0"/>
          </a:p>
        </p:txBody>
      </p:sp>
      <p:sp>
        <p:nvSpPr>
          <p:cNvPr id="3" name="Content Placeholder 2">
            <a:extLst>
              <a:ext uri="{FF2B5EF4-FFF2-40B4-BE49-F238E27FC236}">
                <a16:creationId xmlns:a16="http://schemas.microsoft.com/office/drawing/2014/main" id="{AC91EF73-96D8-66E4-2A1A-D6243F4D6256}"/>
              </a:ext>
            </a:extLst>
          </p:cNvPr>
          <p:cNvSpPr>
            <a:spLocks noGrp="1"/>
          </p:cNvSpPr>
          <p:nvPr>
            <p:ph idx="1"/>
          </p:nvPr>
        </p:nvSpPr>
        <p:spPr>
          <a:xfrm>
            <a:off x="751936" y="1750863"/>
            <a:ext cx="10515600" cy="4351338"/>
          </a:xfrm>
        </p:spPr>
        <p:txBody>
          <a:bodyPr>
            <a:normAutofit fontScale="77500" lnSpcReduction="20000"/>
          </a:bodyPr>
          <a:lstStyle/>
          <a:p>
            <a:pPr marL="0" indent="0" algn="just">
              <a:buNone/>
            </a:pPr>
            <a:r>
              <a:rPr lang="en-GB" dirty="0"/>
              <a:t>“This Commission believes that people can build a future that is more prosperous, more just, and more secure. Our report, </a:t>
            </a:r>
            <a:r>
              <a:rPr lang="en-GB" b="1" i="1" dirty="0"/>
              <a:t>Our Common Future</a:t>
            </a:r>
            <a:r>
              <a:rPr lang="en-GB" dirty="0"/>
              <a:t>, is not a prediction of ever increasing environmental decay, poverty, and hardship in an ever more polluted world among ever decreasing resources. We see instead the possibility </a:t>
            </a:r>
            <a:r>
              <a:rPr lang="en-GB" i="1" dirty="0"/>
              <a:t>for </a:t>
            </a:r>
            <a:r>
              <a:rPr lang="en-GB" b="1" i="1" dirty="0"/>
              <a:t>a new era of economic growth</a:t>
            </a:r>
            <a:r>
              <a:rPr lang="en-GB" dirty="0"/>
              <a:t>, one that must be based on policies that </a:t>
            </a:r>
            <a:r>
              <a:rPr lang="en-GB" b="1" i="1" dirty="0"/>
              <a:t>sustain and expand the environmental resource base</a:t>
            </a:r>
            <a:r>
              <a:rPr lang="en-GB" dirty="0"/>
              <a:t>. And we believe such growth to be absolutely essential to relieve the great poverty that is deepening in much of the developing world.”</a:t>
            </a:r>
          </a:p>
          <a:p>
            <a:pPr marL="0" indent="0" algn="just">
              <a:buNone/>
            </a:pPr>
            <a:endParaRPr lang="en-GB" dirty="0"/>
          </a:p>
          <a:p>
            <a:pPr marL="0" indent="0" algn="just">
              <a:buNone/>
            </a:pPr>
            <a:r>
              <a:rPr lang="en-GB" dirty="0"/>
              <a:t>“But the Commission's hope for the future is </a:t>
            </a:r>
            <a:r>
              <a:rPr lang="en-GB" b="1" i="1" dirty="0"/>
              <a:t>conditional on decisive political action now to begin managing environmental r</a:t>
            </a:r>
            <a:r>
              <a:rPr lang="en-GB" b="1" dirty="0"/>
              <a:t>esources</a:t>
            </a:r>
            <a:r>
              <a:rPr lang="en-GB" dirty="0"/>
              <a:t> to ensure both sustainable </a:t>
            </a:r>
            <a:r>
              <a:rPr lang="en-GB" b="1" dirty="0"/>
              <a:t>human progress and human survival</a:t>
            </a:r>
            <a:r>
              <a:rPr lang="en-GB" dirty="0"/>
              <a:t>. We are not forecasting a future; we are serving a notice - an urgent notice based on the latest and best scientific evidence - that the time has come to take the decisions needed to secure the resources </a:t>
            </a:r>
            <a:r>
              <a:rPr lang="en-GB" b="1" dirty="0"/>
              <a:t>to sustain this and coming generations</a:t>
            </a:r>
            <a:r>
              <a:rPr lang="en-GB" dirty="0"/>
              <a:t>. We do not offer a detailed blueprint for action, but instead a pathway by which the peoples of the world may enlarge their spheres of cooperation.”</a:t>
            </a:r>
            <a:endParaRPr lang="en-BE" dirty="0"/>
          </a:p>
        </p:txBody>
      </p:sp>
      <p:sp>
        <p:nvSpPr>
          <p:cNvPr id="4" name="Slide Number Placeholder 3">
            <a:extLst>
              <a:ext uri="{FF2B5EF4-FFF2-40B4-BE49-F238E27FC236}">
                <a16:creationId xmlns:a16="http://schemas.microsoft.com/office/drawing/2014/main" id="{6EE87D89-32CB-5AFB-8195-BB69D2C71BDA}"/>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9828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0D71510-980D-2ADB-87AF-7DFE1733D2E5}"/>
              </a:ext>
            </a:extLst>
          </p:cNvPr>
          <p:cNvPicPr>
            <a:picLocks noGrp="1" noChangeAspect="1"/>
          </p:cNvPicPr>
          <p:nvPr>
            <p:ph idx="1"/>
          </p:nvPr>
        </p:nvPicPr>
        <p:blipFill>
          <a:blip r:embed="rId2"/>
          <a:stretch>
            <a:fillRect/>
          </a:stretch>
        </p:blipFill>
        <p:spPr>
          <a:xfrm>
            <a:off x="760987" y="488832"/>
            <a:ext cx="4962334" cy="6099291"/>
          </a:xfrm>
        </p:spPr>
      </p:pic>
      <p:sp>
        <p:nvSpPr>
          <p:cNvPr id="2" name="Slide Number Placeholder 1">
            <a:extLst>
              <a:ext uri="{FF2B5EF4-FFF2-40B4-BE49-F238E27FC236}">
                <a16:creationId xmlns:a16="http://schemas.microsoft.com/office/drawing/2014/main" id="{96909DF3-1063-51B7-F17D-F41EF071DD01}"/>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 name="TextBox 7">
            <a:extLst>
              <a:ext uri="{FF2B5EF4-FFF2-40B4-BE49-F238E27FC236}">
                <a16:creationId xmlns:a16="http://schemas.microsoft.com/office/drawing/2014/main" id="{8FDF086E-F642-EB18-B266-9634A8A1F769}"/>
              </a:ext>
            </a:extLst>
          </p:cNvPr>
          <p:cNvSpPr txBox="1"/>
          <p:nvPr/>
        </p:nvSpPr>
        <p:spPr>
          <a:xfrm>
            <a:off x="6773919" y="890526"/>
            <a:ext cx="5174719"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Aptos   "/>
                <a:ea typeface="+mn-ea"/>
                <a:cs typeface="+mn-cs"/>
              </a:rPr>
              <a:t>1988</a:t>
            </a:r>
            <a:r>
              <a:rPr kumimoji="0" lang="fr-BE" sz="2400" b="1" i="0" u="none" strike="noStrike" kern="1200" cap="none" spc="0" normalizeH="0" baseline="0" noProof="0" dirty="0">
                <a:ln>
                  <a:noFill/>
                </a:ln>
                <a:solidFill>
                  <a:prstClr val="black"/>
                </a:solidFill>
                <a:effectLst/>
                <a:uLnTx/>
                <a:uFillTx/>
                <a:latin typeface="Aptos   "/>
                <a:ea typeface="+mn-ea"/>
                <a:cs typeface="+mn-cs"/>
              </a:rPr>
              <a:t> </a:t>
            </a:r>
            <a:r>
              <a:rPr kumimoji="0" lang="fr-BE" sz="2400" b="0" i="0" u="none" strike="noStrike" kern="1200" cap="none" spc="0" normalizeH="0" baseline="0" noProof="0" dirty="0">
                <a:ln>
                  <a:noFill/>
                </a:ln>
                <a:solidFill>
                  <a:srgbClr val="1F1F1F"/>
                </a:solidFill>
                <a:effectLst/>
                <a:uLnTx/>
                <a:uFillTx/>
                <a:latin typeface="Aptos   "/>
                <a:ea typeface="+mn-ea"/>
                <a:cs typeface="+mn-cs"/>
              </a:rPr>
              <a:t>La </a:t>
            </a:r>
            <a:r>
              <a:rPr kumimoji="0" lang="fr-BE" sz="2400" b="0" i="0" u="none" strike="noStrike" kern="1200" cap="none" spc="0" normalizeH="0" baseline="0" noProof="0" dirty="0" err="1">
                <a:ln>
                  <a:noFill/>
                </a:ln>
                <a:solidFill>
                  <a:srgbClr val="1F1F1F"/>
                </a:solidFill>
                <a:effectLst/>
                <a:uLnTx/>
                <a:uFillTx/>
                <a:latin typeface="Aptos   "/>
                <a:ea typeface="+mn-ea"/>
                <a:cs typeface="+mn-cs"/>
              </a:rPr>
              <a:t>conférence</a:t>
            </a:r>
            <a:r>
              <a:rPr kumimoji="0" lang="fr-BE" sz="2400" b="0" i="0" u="none" strike="noStrike" kern="1200" cap="none" spc="0" normalizeH="0" baseline="0" noProof="0" dirty="0">
                <a:ln>
                  <a:noFill/>
                </a:ln>
                <a:solidFill>
                  <a:srgbClr val="1F1F1F"/>
                </a:solidFill>
                <a:effectLst/>
                <a:uLnTx/>
                <a:uFillTx/>
                <a:latin typeface="Aptos   "/>
                <a:ea typeface="+mn-ea"/>
                <a:cs typeface="+mn-cs"/>
              </a:rPr>
              <a:t> de Toronto lance un premier appel en faveur d’objectifs concrets de </a:t>
            </a:r>
            <a:r>
              <a:rPr kumimoji="0" lang="fr-BE" sz="2400" b="0" i="0" u="none" strike="noStrike" kern="1200" cap="none" spc="0" normalizeH="0" baseline="0" noProof="0" dirty="0" err="1">
                <a:ln>
                  <a:noFill/>
                </a:ln>
                <a:solidFill>
                  <a:srgbClr val="1F1F1F"/>
                </a:solidFill>
                <a:effectLst/>
                <a:uLnTx/>
                <a:uFillTx/>
                <a:latin typeface="Aptos   "/>
                <a:ea typeface="+mn-ea"/>
                <a:cs typeface="+mn-cs"/>
              </a:rPr>
              <a:t>réduction</a:t>
            </a:r>
            <a:r>
              <a:rPr kumimoji="0" lang="fr-BE" sz="2400" b="0" i="0" u="none" strike="noStrike" kern="1200" cap="none" spc="0" normalizeH="0" baseline="0" noProof="0" dirty="0">
                <a:ln>
                  <a:noFill/>
                </a:ln>
                <a:solidFill>
                  <a:srgbClr val="1F1F1F"/>
                </a:solidFill>
                <a:effectLst/>
                <a:uLnTx/>
                <a:uFillTx/>
                <a:latin typeface="Aptos   "/>
                <a:ea typeface="+mn-ea"/>
                <a:cs typeface="+mn-cs"/>
              </a:rPr>
              <a:t> des </a:t>
            </a:r>
            <a:r>
              <a:rPr kumimoji="0" lang="fr-BE" sz="2400" b="0" i="0" u="none" strike="noStrike" kern="1200" cap="none" spc="0" normalizeH="0" baseline="0" noProof="0" dirty="0" err="1">
                <a:ln>
                  <a:noFill/>
                </a:ln>
                <a:solidFill>
                  <a:srgbClr val="1F1F1F"/>
                </a:solidFill>
                <a:effectLst/>
                <a:uLnTx/>
                <a:uFillTx/>
                <a:latin typeface="Aptos   "/>
                <a:ea typeface="+mn-ea"/>
                <a:cs typeface="+mn-cs"/>
              </a:rPr>
              <a:t>émissions</a:t>
            </a:r>
            <a:r>
              <a:rPr kumimoji="0" lang="fr-BE" sz="2400" b="0" i="0" u="none" strike="noStrike" kern="1200" cap="none" spc="0" normalizeH="0" baseline="0" noProof="0" dirty="0">
                <a:ln>
                  <a:noFill/>
                </a:ln>
                <a:solidFill>
                  <a:srgbClr val="1F1F1F"/>
                </a:solidFill>
                <a:effectLst/>
                <a:uLnTx/>
                <a:uFillTx/>
                <a:latin typeface="Aptos   "/>
                <a:ea typeface="+mn-ea"/>
                <a:cs typeface="+mn-cs"/>
              </a:rPr>
              <a:t> de GES.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2400" b="0" i="0" u="none" strike="noStrike" kern="1200" cap="none" spc="0" normalizeH="0" baseline="0" noProof="0" dirty="0">
                <a:ln>
                  <a:noFill/>
                </a:ln>
                <a:solidFill>
                  <a:srgbClr val="1F1F1F"/>
                </a:solidFill>
                <a:effectLst/>
                <a:uLnTx/>
                <a:uFillTx/>
                <a:latin typeface="Aptos   "/>
                <a:ea typeface="+mn-ea"/>
                <a:cs typeface="+mn-cs"/>
              </a:rPr>
              <a:t>L’OMM et le PNUE mettent sur pied le GIEC, avec pour mission de fournir périodiquement aux </a:t>
            </a:r>
            <a:r>
              <a:rPr kumimoji="0" lang="fr-BE" sz="2400" b="0" i="0" u="none" strike="noStrike" kern="1200" cap="none" spc="0" normalizeH="0" baseline="0" noProof="0" dirty="0" err="1">
                <a:ln>
                  <a:noFill/>
                </a:ln>
                <a:solidFill>
                  <a:srgbClr val="1F1F1F"/>
                </a:solidFill>
                <a:effectLst/>
                <a:uLnTx/>
                <a:uFillTx/>
                <a:latin typeface="Aptos   "/>
                <a:ea typeface="+mn-ea"/>
                <a:cs typeface="+mn-cs"/>
              </a:rPr>
              <a:t>décideurs</a:t>
            </a:r>
            <a:r>
              <a:rPr kumimoji="0" lang="fr-BE" sz="2400" b="0" i="0" u="none" strike="noStrike" kern="1200" cap="none" spc="0" normalizeH="0" baseline="0" noProof="0" dirty="0">
                <a:ln>
                  <a:noFill/>
                </a:ln>
                <a:solidFill>
                  <a:srgbClr val="1F1F1F"/>
                </a:solidFill>
                <a:effectLst/>
                <a:uLnTx/>
                <a:uFillTx/>
                <a:latin typeface="Aptos   "/>
                <a:ea typeface="+mn-ea"/>
                <a:cs typeface="+mn-cs"/>
              </a:rPr>
              <a:t> politiques une analyse objective et impartiale des connaissances scientifiques, techniques et socio-économiques disponibles au sujet du changement climatique </a:t>
            </a:r>
            <a:endParaRPr kumimoji="0" lang="en-GB" sz="2400" b="0" i="0" u="none" strike="noStrike" kern="1200" cap="none" spc="0" normalizeH="0" baseline="0" noProof="0" dirty="0">
              <a:ln>
                <a:noFill/>
              </a:ln>
              <a:solidFill>
                <a:srgbClr val="1F1F1F"/>
              </a:solidFill>
              <a:effectLst/>
              <a:uLnTx/>
              <a:uFillTx/>
              <a:latin typeface="Aptos   "/>
              <a:ea typeface="+mn-ea"/>
              <a:cs typeface="+mn-cs"/>
            </a:endParaRPr>
          </a:p>
        </p:txBody>
      </p:sp>
      <p:sp>
        <p:nvSpPr>
          <p:cNvPr id="4" name="Title 1">
            <a:extLst>
              <a:ext uri="{FF2B5EF4-FFF2-40B4-BE49-F238E27FC236}">
                <a16:creationId xmlns:a16="http://schemas.microsoft.com/office/drawing/2014/main" id="{83A728D7-CE5E-4411-2B4F-4C16E755862B}"/>
              </a:ext>
            </a:extLst>
          </p:cNvPr>
          <p:cNvSpPr>
            <a:spLocks noGrp="1"/>
          </p:cNvSpPr>
          <p:nvPr>
            <p:ph type="title"/>
          </p:nvPr>
        </p:nvSpPr>
        <p:spPr>
          <a:xfrm>
            <a:off x="403609" y="-221064"/>
            <a:ext cx="10515600" cy="1325563"/>
          </a:xfrm>
        </p:spPr>
        <p:txBody>
          <a:bodyPr/>
          <a:lstStyle/>
          <a:p>
            <a:r>
              <a:rPr lang="en-GB" dirty="0"/>
              <a:t>La </a:t>
            </a:r>
            <a:r>
              <a:rPr lang="en-GB" dirty="0" err="1"/>
              <a:t>gouvernance</a:t>
            </a:r>
            <a:r>
              <a:rPr lang="en-GB" dirty="0"/>
              <a:t> </a:t>
            </a:r>
            <a:r>
              <a:rPr lang="en-GB" dirty="0" err="1"/>
              <a:t>climatique</a:t>
            </a:r>
            <a:r>
              <a:rPr lang="en-GB" dirty="0"/>
              <a:t> (3)</a:t>
            </a:r>
            <a:endParaRPr lang="en-BE" dirty="0"/>
          </a:p>
        </p:txBody>
      </p:sp>
      <p:cxnSp>
        <p:nvCxnSpPr>
          <p:cNvPr id="6" name="Straight Arrow Connector 6">
            <a:extLst>
              <a:ext uri="{FF2B5EF4-FFF2-40B4-BE49-F238E27FC236}">
                <a16:creationId xmlns:a16="http://schemas.microsoft.com/office/drawing/2014/main" id="{A036B514-74FB-22F7-4E07-24F628BAB6B6}"/>
              </a:ext>
            </a:extLst>
          </p:cNvPr>
          <p:cNvCxnSpPr>
            <a:cxnSpLocks/>
          </p:cNvCxnSpPr>
          <p:nvPr/>
        </p:nvCxnSpPr>
        <p:spPr>
          <a:xfrm>
            <a:off x="5193257" y="942984"/>
            <a:ext cx="1275423" cy="2050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23087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3E51B-B796-DB10-26B2-3654E8AF8DB5}"/>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16E57C-6705-D46C-D832-17D676ABFE10}"/>
              </a:ext>
            </a:extLst>
          </p:cNvPr>
          <p:cNvPicPr>
            <a:picLocks noGrp="1" noChangeAspect="1"/>
          </p:cNvPicPr>
          <p:nvPr>
            <p:ph idx="1"/>
          </p:nvPr>
        </p:nvPicPr>
        <p:blipFill>
          <a:blip r:embed="rId2"/>
          <a:stretch>
            <a:fillRect/>
          </a:stretch>
        </p:blipFill>
        <p:spPr>
          <a:xfrm>
            <a:off x="760987" y="488832"/>
            <a:ext cx="4962334" cy="6099291"/>
          </a:xfrm>
        </p:spPr>
      </p:pic>
      <p:sp>
        <p:nvSpPr>
          <p:cNvPr id="2" name="Slide Number Placeholder 1">
            <a:extLst>
              <a:ext uri="{FF2B5EF4-FFF2-40B4-BE49-F238E27FC236}">
                <a16:creationId xmlns:a16="http://schemas.microsoft.com/office/drawing/2014/main" id="{2B187341-FE47-DCE4-4D73-52FA24EA98C8}"/>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 name="TextBox 7">
            <a:extLst>
              <a:ext uri="{FF2B5EF4-FFF2-40B4-BE49-F238E27FC236}">
                <a16:creationId xmlns:a16="http://schemas.microsoft.com/office/drawing/2014/main" id="{8E7B5A13-3295-BD07-9E32-A6AC7BF3F815}"/>
              </a:ext>
            </a:extLst>
          </p:cNvPr>
          <p:cNvSpPr txBox="1"/>
          <p:nvPr/>
        </p:nvSpPr>
        <p:spPr>
          <a:xfrm>
            <a:off x="6468680" y="942984"/>
            <a:ext cx="5570987"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Aptos   "/>
                <a:ea typeface="+mn-ea"/>
                <a:cs typeface="+mn-cs"/>
              </a:rPr>
              <a:t>1992</a:t>
            </a:r>
            <a:r>
              <a:rPr kumimoji="0" lang="fr-BE" sz="2400" b="1" i="0" u="none" strike="noStrike" kern="1200" cap="none" spc="0" normalizeH="0" baseline="0" noProof="0" dirty="0">
                <a:ln>
                  <a:noFill/>
                </a:ln>
                <a:solidFill>
                  <a:prstClr val="black"/>
                </a:solidFill>
                <a:effectLst/>
                <a:uLnTx/>
                <a:uFillTx/>
                <a:latin typeface="Aptos   "/>
                <a:ea typeface="+mn-ea"/>
                <a:cs typeface="+mn-cs"/>
              </a:rPr>
              <a:t> </a:t>
            </a:r>
            <a:r>
              <a:rPr kumimoji="0" lang="fr-BE"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Rio de Janeiro </a:t>
            </a:r>
            <a:r>
              <a:rPr kumimoji="0" lang="fr-BE" sz="2400" b="0" i="0" u="none" strike="noStrike" kern="1200" cap="none" spc="0" normalizeH="0" baseline="0" noProof="0" dirty="0">
                <a:ln>
                  <a:noFill/>
                </a:ln>
                <a:solidFill>
                  <a:srgbClr val="1F1F1F"/>
                </a:solidFill>
                <a:effectLst/>
                <a:uLnTx/>
                <a:uFillTx/>
                <a:latin typeface="Aptos   "/>
                <a:ea typeface="+mn-ea"/>
                <a:cs typeface="+mn-cs"/>
              </a:rPr>
              <a:t>CCNUCC</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B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La convention-cadre des Nations unies sur les changements climatiques (CCNUCC </a:t>
            </a:r>
            <a:r>
              <a:rPr kumimoji="0" lang="fr-BE" sz="24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adoptée</a:t>
            </a:r>
            <a:r>
              <a:rPr kumimoji="0" lang="fr-B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avec pour objectif de « stabiliser les concentrations de gaz à effet de serre dans l’</a:t>
            </a:r>
            <a:r>
              <a:rPr kumimoji="0" lang="fr-BE" sz="24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atmosphère</a:t>
            </a:r>
            <a:r>
              <a:rPr kumimoji="0" lang="fr-B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 un niveau qui </a:t>
            </a:r>
            <a:r>
              <a:rPr kumimoji="0" lang="fr-BE" sz="24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empêche</a:t>
            </a:r>
            <a:r>
              <a:rPr kumimoji="0" lang="fr-B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toute perturbation anthropique dangereuse du </a:t>
            </a:r>
            <a:r>
              <a:rPr kumimoji="0" lang="fr-BE" sz="24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système</a:t>
            </a:r>
            <a:r>
              <a:rPr kumimoji="0" lang="fr-B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climatique » (CCNUCC, 1992, art. 2).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BE" sz="2400" b="1"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Entrée</a:t>
            </a:r>
            <a:r>
              <a:rPr kumimoji="0" lang="fr-BE"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en vigueur en 1994</a:t>
            </a:r>
            <a:r>
              <a:rPr kumimoji="0" lang="fr-B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et aujourd’hui </a:t>
            </a:r>
            <a:r>
              <a:rPr kumimoji="0" lang="fr-BE" sz="24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ratifiée</a:t>
            </a:r>
            <a:r>
              <a:rPr kumimoji="0" lang="fr-BE"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par 196 Etats et l’Union européenne</a:t>
            </a:r>
          </a:p>
        </p:txBody>
      </p:sp>
      <p:sp>
        <p:nvSpPr>
          <p:cNvPr id="4" name="Title 1">
            <a:extLst>
              <a:ext uri="{FF2B5EF4-FFF2-40B4-BE49-F238E27FC236}">
                <a16:creationId xmlns:a16="http://schemas.microsoft.com/office/drawing/2014/main" id="{5B5C6579-583C-9D62-6252-8B8B90261DED}"/>
              </a:ext>
            </a:extLst>
          </p:cNvPr>
          <p:cNvSpPr>
            <a:spLocks noGrp="1"/>
          </p:cNvSpPr>
          <p:nvPr>
            <p:ph type="title"/>
          </p:nvPr>
        </p:nvSpPr>
        <p:spPr>
          <a:xfrm>
            <a:off x="403609" y="-221064"/>
            <a:ext cx="10515600" cy="1325563"/>
          </a:xfrm>
        </p:spPr>
        <p:txBody>
          <a:bodyPr/>
          <a:lstStyle/>
          <a:p>
            <a:r>
              <a:rPr lang="en-GB" dirty="0"/>
              <a:t>La </a:t>
            </a:r>
            <a:r>
              <a:rPr lang="en-GB" dirty="0" err="1"/>
              <a:t>gouvernance</a:t>
            </a:r>
            <a:r>
              <a:rPr lang="en-GB" dirty="0"/>
              <a:t> </a:t>
            </a:r>
            <a:r>
              <a:rPr lang="en-GB" dirty="0" err="1"/>
              <a:t>climatique</a:t>
            </a:r>
            <a:r>
              <a:rPr lang="en-GB" dirty="0"/>
              <a:t> (4)</a:t>
            </a:r>
            <a:endParaRPr lang="en-BE" dirty="0"/>
          </a:p>
        </p:txBody>
      </p:sp>
      <p:cxnSp>
        <p:nvCxnSpPr>
          <p:cNvPr id="6" name="Straight Arrow Connector 6">
            <a:extLst>
              <a:ext uri="{FF2B5EF4-FFF2-40B4-BE49-F238E27FC236}">
                <a16:creationId xmlns:a16="http://schemas.microsoft.com/office/drawing/2014/main" id="{1DE0E4FD-20C7-2B3D-12E2-0C93691A1B30}"/>
              </a:ext>
            </a:extLst>
          </p:cNvPr>
          <p:cNvCxnSpPr>
            <a:cxnSpLocks/>
          </p:cNvCxnSpPr>
          <p:nvPr/>
        </p:nvCxnSpPr>
        <p:spPr>
          <a:xfrm>
            <a:off x="5193257" y="942984"/>
            <a:ext cx="1275423" cy="2050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38338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F4208-A8FB-1E44-87DF-AEADBF690182}"/>
              </a:ext>
            </a:extLst>
          </p:cNvPr>
          <p:cNvSpPr>
            <a:spLocks noGrp="1"/>
          </p:cNvSpPr>
          <p:nvPr>
            <p:ph type="title"/>
          </p:nvPr>
        </p:nvSpPr>
        <p:spPr>
          <a:xfrm>
            <a:off x="295095" y="353937"/>
            <a:ext cx="7886700" cy="539335"/>
          </a:xfrm>
        </p:spPr>
        <p:txBody>
          <a:bodyPr>
            <a:normAutofit/>
          </a:bodyPr>
          <a:lstStyle/>
          <a:p>
            <a:r>
              <a:rPr lang="fr-FR" sz="3200" b="1" dirty="0">
                <a:latin typeface="Arial" panose="020B0604020202020204" pitchFamily="34" charset="0"/>
                <a:ea typeface="ヒラギノ角ゴ Pro W3" panose="020B0300000000000000" pitchFamily="34" charset="-128"/>
              </a:rPr>
              <a:t>La CCNUCC – objectif (art. 2)</a:t>
            </a:r>
          </a:p>
        </p:txBody>
      </p:sp>
      <p:sp>
        <p:nvSpPr>
          <p:cNvPr id="3" name="Espace réservé du contenu 2">
            <a:extLst>
              <a:ext uri="{FF2B5EF4-FFF2-40B4-BE49-F238E27FC236}">
                <a16:creationId xmlns:a16="http://schemas.microsoft.com/office/drawing/2014/main" id="{9AAB6787-06D1-AC4D-94A1-9998EF4DB624}"/>
              </a:ext>
            </a:extLst>
          </p:cNvPr>
          <p:cNvSpPr>
            <a:spLocks noGrp="1"/>
          </p:cNvSpPr>
          <p:nvPr>
            <p:ph idx="1"/>
          </p:nvPr>
        </p:nvSpPr>
        <p:spPr>
          <a:xfrm>
            <a:off x="1174990" y="1145564"/>
            <a:ext cx="7886700" cy="5123415"/>
          </a:xfrm>
        </p:spPr>
        <p:txBody>
          <a:bodyPr>
            <a:noAutofit/>
          </a:bodyPr>
          <a:lstStyle/>
          <a:p>
            <a:pPr algn="just">
              <a:spcAft>
                <a:spcPts val="600"/>
              </a:spcAft>
            </a:pPr>
            <a:endParaRPr lang="fr-FR" sz="1800" dirty="0">
              <a:latin typeface="Arial" panose="020B0604020202020204" pitchFamily="34" charset="0"/>
              <a:cs typeface="Arial" panose="020B0604020202020204" pitchFamily="34" charset="0"/>
            </a:endParaRPr>
          </a:p>
          <a:p>
            <a:pPr marL="0" indent="0" algn="just">
              <a:spcAft>
                <a:spcPts val="600"/>
              </a:spcAft>
              <a:buNone/>
            </a:pPr>
            <a:endParaRPr lang="fr-FR" sz="1800" dirty="0">
              <a:latin typeface="Arial" panose="020B0604020202020204" pitchFamily="34" charset="0"/>
              <a:cs typeface="Arial" panose="020B0604020202020204" pitchFamily="34" charset="0"/>
            </a:endParaRPr>
          </a:p>
        </p:txBody>
      </p:sp>
      <p:pic>
        <p:nvPicPr>
          <p:cNvPr id="6" name="Image 5">
            <a:extLst>
              <a:ext uri="{FF2B5EF4-FFF2-40B4-BE49-F238E27FC236}">
                <a16:creationId xmlns:a16="http://schemas.microsoft.com/office/drawing/2014/main" id="{0FFFF6AE-FD41-1264-7A39-CA7544E33DE4}"/>
              </a:ext>
            </a:extLst>
          </p:cNvPr>
          <p:cNvPicPr>
            <a:picLocks noChangeAspect="1"/>
          </p:cNvPicPr>
          <p:nvPr/>
        </p:nvPicPr>
        <p:blipFill>
          <a:blip r:embed="rId3"/>
          <a:stretch>
            <a:fillRect/>
          </a:stretch>
        </p:blipFill>
        <p:spPr>
          <a:xfrm>
            <a:off x="526077" y="893272"/>
            <a:ext cx="11263409" cy="46510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Slide Number Placeholder 3">
            <a:extLst>
              <a:ext uri="{FF2B5EF4-FFF2-40B4-BE49-F238E27FC236}">
                <a16:creationId xmlns:a16="http://schemas.microsoft.com/office/drawing/2014/main" id="{EA0C8D31-BD44-6FE1-87AC-F6755B6ACA6A}"/>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47855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F4208-A8FB-1E44-87DF-AEADBF690182}"/>
              </a:ext>
            </a:extLst>
          </p:cNvPr>
          <p:cNvSpPr>
            <a:spLocks noGrp="1"/>
          </p:cNvSpPr>
          <p:nvPr>
            <p:ph type="title"/>
          </p:nvPr>
        </p:nvSpPr>
        <p:spPr>
          <a:xfrm>
            <a:off x="542386" y="347875"/>
            <a:ext cx="7886700" cy="539335"/>
          </a:xfrm>
        </p:spPr>
        <p:txBody>
          <a:bodyPr>
            <a:normAutofit/>
          </a:bodyPr>
          <a:lstStyle/>
          <a:p>
            <a:r>
              <a:rPr lang="fr-FR" sz="3200" b="1" dirty="0">
                <a:latin typeface="Arial" panose="020B0604020202020204" pitchFamily="34" charset="0"/>
                <a:ea typeface="ヒラギノ角ゴ Pro W3" panose="020B0300000000000000" pitchFamily="34" charset="-128"/>
              </a:rPr>
              <a:t>La CCNUCC – </a:t>
            </a:r>
            <a:r>
              <a:rPr lang="fr-FR" sz="3200" dirty="0">
                <a:cs typeface="Arial" panose="020B0604020202020204" pitchFamily="34" charset="0"/>
              </a:rPr>
              <a:t>Principes (art. 3)</a:t>
            </a:r>
            <a:endParaRPr lang="fr-FR" sz="3200" b="1" dirty="0">
              <a:latin typeface="Arial" panose="020B0604020202020204" pitchFamily="34" charset="0"/>
              <a:ea typeface="ヒラギノ角ゴ Pro W3" panose="020B0300000000000000" pitchFamily="34" charset="-128"/>
            </a:endParaRPr>
          </a:p>
        </p:txBody>
      </p:sp>
      <p:sp>
        <p:nvSpPr>
          <p:cNvPr id="3" name="Espace réservé du contenu 2">
            <a:extLst>
              <a:ext uri="{FF2B5EF4-FFF2-40B4-BE49-F238E27FC236}">
                <a16:creationId xmlns:a16="http://schemas.microsoft.com/office/drawing/2014/main" id="{9AAB6787-06D1-AC4D-94A1-9998EF4DB624}"/>
              </a:ext>
            </a:extLst>
          </p:cNvPr>
          <p:cNvSpPr>
            <a:spLocks noGrp="1"/>
          </p:cNvSpPr>
          <p:nvPr>
            <p:ph idx="1"/>
          </p:nvPr>
        </p:nvSpPr>
        <p:spPr>
          <a:xfrm>
            <a:off x="542386" y="957806"/>
            <a:ext cx="10811414" cy="5123415"/>
          </a:xfrm>
        </p:spPr>
        <p:txBody>
          <a:bodyPr>
            <a:noAutofit/>
          </a:bodyPr>
          <a:lstStyle/>
          <a:p>
            <a:pPr marL="285750" lvl="1" indent="-285750" algn="just">
              <a:spcBef>
                <a:spcPts val="300"/>
              </a:spcBef>
              <a:spcAft>
                <a:spcPts val="600"/>
              </a:spcAft>
            </a:pPr>
            <a:r>
              <a:rPr lang="fr-FR" sz="2000" b="1" dirty="0">
                <a:cs typeface="Arial" panose="020B0604020202020204" pitchFamily="34" charset="0"/>
              </a:rPr>
              <a:t>Art. 3.1 : </a:t>
            </a:r>
            <a:r>
              <a:rPr lang="fr-FR" sz="2000" dirty="0">
                <a:cs typeface="Arial" panose="020B0604020202020204" pitchFamily="34" charset="0"/>
              </a:rPr>
              <a:t>Il incombe aux Parties de préserver le système climatique dans l'intérêt des générations présentes et futures, </a:t>
            </a:r>
            <a:r>
              <a:rPr lang="fr-FR" sz="2000" b="1" dirty="0">
                <a:cs typeface="Arial" panose="020B0604020202020204" pitchFamily="34" charset="0"/>
              </a:rPr>
              <a:t>sur la base de l'</a:t>
            </a:r>
            <a:r>
              <a:rPr lang="fr-FR" sz="2000" b="1" u="sng" dirty="0">
                <a:cs typeface="Arial" panose="020B0604020202020204" pitchFamily="34" charset="0"/>
              </a:rPr>
              <a:t>équité</a:t>
            </a:r>
            <a:r>
              <a:rPr lang="fr-FR" sz="2000" b="1" dirty="0">
                <a:cs typeface="Arial" panose="020B0604020202020204" pitchFamily="34" charset="0"/>
              </a:rPr>
              <a:t> et en fonction de leurs </a:t>
            </a:r>
            <a:r>
              <a:rPr lang="fr-FR" sz="2000" b="1" u="sng" dirty="0">
                <a:cs typeface="Arial" panose="020B0604020202020204" pitchFamily="34" charset="0"/>
              </a:rPr>
              <a:t>responsabilités communes mais différenciées</a:t>
            </a:r>
            <a:r>
              <a:rPr lang="fr-FR" sz="2000" b="1" dirty="0">
                <a:cs typeface="Arial" panose="020B0604020202020204" pitchFamily="34" charset="0"/>
              </a:rPr>
              <a:t> et de leurs </a:t>
            </a:r>
            <a:r>
              <a:rPr lang="fr-FR" sz="2000" b="1" u="sng" dirty="0">
                <a:cs typeface="Arial" panose="020B0604020202020204" pitchFamily="34" charset="0"/>
              </a:rPr>
              <a:t>capacités respectives</a:t>
            </a:r>
            <a:r>
              <a:rPr lang="fr-FR" sz="2000" dirty="0">
                <a:cs typeface="Arial" panose="020B0604020202020204" pitchFamily="34" charset="0"/>
              </a:rPr>
              <a:t>. Il appartient, en conséquence, aux </a:t>
            </a:r>
            <a:r>
              <a:rPr lang="fr-FR" sz="2000" b="1" u="sng" dirty="0">
                <a:cs typeface="Arial" panose="020B0604020202020204" pitchFamily="34" charset="0"/>
              </a:rPr>
              <a:t>pays développés </a:t>
            </a:r>
            <a:r>
              <a:rPr lang="fr-FR" sz="2000" b="1" dirty="0">
                <a:cs typeface="Arial" panose="020B0604020202020204" pitchFamily="34" charset="0"/>
              </a:rPr>
              <a:t>Parties d'être </a:t>
            </a:r>
            <a:r>
              <a:rPr lang="fr-FR" sz="2000" b="1" u="sng" dirty="0">
                <a:cs typeface="Arial" panose="020B0604020202020204" pitchFamily="34" charset="0"/>
              </a:rPr>
              <a:t>à l'avant-garde</a:t>
            </a:r>
            <a:r>
              <a:rPr lang="fr-FR" sz="2000" dirty="0">
                <a:cs typeface="Arial" panose="020B0604020202020204" pitchFamily="34" charset="0"/>
              </a:rPr>
              <a:t> de la lutte contre les changements climatiques et leurs effets néfastes.</a:t>
            </a:r>
          </a:p>
          <a:p>
            <a:pPr marL="285750" lvl="1" indent="-285750" algn="just">
              <a:spcBef>
                <a:spcPts val="300"/>
              </a:spcBef>
              <a:spcAft>
                <a:spcPts val="600"/>
              </a:spcAft>
            </a:pPr>
            <a:r>
              <a:rPr lang="fr-FR" sz="2000" b="1" dirty="0">
                <a:cs typeface="Arial" panose="020B0604020202020204" pitchFamily="34" charset="0"/>
              </a:rPr>
              <a:t>Art. 3.3 : </a:t>
            </a:r>
            <a:r>
              <a:rPr lang="fr-FR" sz="2000" dirty="0">
                <a:cs typeface="Arial" panose="020B0604020202020204" pitchFamily="34" charset="0"/>
              </a:rPr>
              <a:t>Il incombe aux Parties de </a:t>
            </a:r>
            <a:r>
              <a:rPr lang="fr-FR" sz="2000" b="1" dirty="0">
                <a:cs typeface="Arial" panose="020B0604020202020204" pitchFamily="34" charset="0"/>
              </a:rPr>
              <a:t>prendre des mesures de </a:t>
            </a:r>
            <a:r>
              <a:rPr lang="fr-FR" sz="2000" b="1" u="sng" dirty="0">
                <a:cs typeface="Arial" panose="020B0604020202020204" pitchFamily="34" charset="0"/>
              </a:rPr>
              <a:t>précaution</a:t>
            </a:r>
            <a:r>
              <a:rPr lang="fr-FR" sz="2000" b="1" dirty="0">
                <a:cs typeface="Arial" panose="020B0604020202020204" pitchFamily="34" charset="0"/>
              </a:rPr>
              <a:t> pour prévoir, prévenir ou atténuer les causes des changements climatiques et en limiter les effets néfastes</a:t>
            </a:r>
            <a:r>
              <a:rPr lang="fr-FR" sz="2000" dirty="0">
                <a:cs typeface="Arial" panose="020B0604020202020204" pitchFamily="34" charset="0"/>
              </a:rPr>
              <a:t>. Quand il y a risque de perturbations graves ou irréversibles, </a:t>
            </a:r>
            <a:r>
              <a:rPr lang="fr-FR" sz="2000" b="1" dirty="0">
                <a:cs typeface="Arial" panose="020B0604020202020204" pitchFamily="34" charset="0"/>
              </a:rPr>
              <a:t>l'absence de certitude scientifique absolue ne doit pas servir de prétexte pour différer l'adoption de telles mesures.</a:t>
            </a:r>
          </a:p>
          <a:p>
            <a:pPr marL="285750" lvl="1" indent="-285750" algn="just">
              <a:spcBef>
                <a:spcPts val="300"/>
              </a:spcBef>
              <a:spcAft>
                <a:spcPts val="600"/>
              </a:spcAft>
            </a:pPr>
            <a:r>
              <a:rPr lang="fr-FR" sz="2000" b="1" dirty="0">
                <a:cs typeface="Arial" panose="020B0604020202020204" pitchFamily="34" charset="0"/>
              </a:rPr>
              <a:t>Art. 3.4 : droit des parties à se développer durablement, nécessité du développement économique </a:t>
            </a:r>
            <a:r>
              <a:rPr lang="fr-FR" sz="2000" dirty="0">
                <a:cs typeface="Arial" panose="020B0604020202020204" pitchFamily="34" charset="0"/>
              </a:rPr>
              <a:t>et prise en compte de la situation propre de chaque Partie.</a:t>
            </a:r>
          </a:p>
          <a:p>
            <a:pPr algn="just">
              <a:spcAft>
                <a:spcPts val="600"/>
              </a:spcAft>
            </a:pPr>
            <a:endParaRPr lang="fr-FR" sz="2400" dirty="0">
              <a:cs typeface="Arial" panose="020B0604020202020204" pitchFamily="34" charset="0"/>
            </a:endParaRPr>
          </a:p>
        </p:txBody>
      </p:sp>
      <p:sp>
        <p:nvSpPr>
          <p:cNvPr id="4" name="Slide Number Placeholder 3">
            <a:extLst>
              <a:ext uri="{FF2B5EF4-FFF2-40B4-BE49-F238E27FC236}">
                <a16:creationId xmlns:a16="http://schemas.microsoft.com/office/drawing/2014/main" id="{E6F59A9D-36F5-A098-B7A2-C850F855F0E7}"/>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141332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F4208-A8FB-1E44-87DF-AEADBF690182}"/>
              </a:ext>
            </a:extLst>
          </p:cNvPr>
          <p:cNvSpPr>
            <a:spLocks noGrp="1"/>
          </p:cNvSpPr>
          <p:nvPr>
            <p:ph type="title"/>
          </p:nvPr>
        </p:nvSpPr>
        <p:spPr>
          <a:xfrm>
            <a:off x="749420" y="548720"/>
            <a:ext cx="7886700" cy="539335"/>
          </a:xfrm>
        </p:spPr>
        <p:txBody>
          <a:bodyPr>
            <a:normAutofit/>
          </a:bodyPr>
          <a:lstStyle/>
          <a:p>
            <a:r>
              <a:rPr lang="fr-FR" sz="3200" b="1" dirty="0">
                <a:latin typeface="+mn-lt"/>
                <a:ea typeface="ヒラギノ角ゴ Pro W3" panose="020B0300000000000000" pitchFamily="34" charset="-128"/>
              </a:rPr>
              <a:t>La CCNUCC (1992) – </a:t>
            </a:r>
            <a:r>
              <a:rPr lang="fr-FR" sz="3200" dirty="0">
                <a:cs typeface="Arial" panose="020B0604020202020204" pitchFamily="34" charset="0"/>
              </a:rPr>
              <a:t>Engagements (art. 4)</a:t>
            </a:r>
            <a:endParaRPr lang="fr-FR" sz="3200" b="1" dirty="0">
              <a:latin typeface="+mn-lt"/>
              <a:ea typeface="ヒラギノ角ゴ Pro W3" panose="020B0300000000000000" pitchFamily="34" charset="-128"/>
            </a:endParaRPr>
          </a:p>
        </p:txBody>
      </p:sp>
      <p:sp>
        <p:nvSpPr>
          <p:cNvPr id="3" name="Espace réservé du contenu 2">
            <a:extLst>
              <a:ext uri="{FF2B5EF4-FFF2-40B4-BE49-F238E27FC236}">
                <a16:creationId xmlns:a16="http://schemas.microsoft.com/office/drawing/2014/main" id="{9AAB6787-06D1-AC4D-94A1-9998EF4DB624}"/>
              </a:ext>
            </a:extLst>
          </p:cNvPr>
          <p:cNvSpPr>
            <a:spLocks noGrp="1"/>
          </p:cNvSpPr>
          <p:nvPr>
            <p:ph idx="1"/>
          </p:nvPr>
        </p:nvSpPr>
        <p:spPr>
          <a:xfrm>
            <a:off x="838199" y="1232935"/>
            <a:ext cx="10777695" cy="5123415"/>
          </a:xfrm>
        </p:spPr>
        <p:txBody>
          <a:bodyPr>
            <a:noAutofit/>
          </a:bodyPr>
          <a:lstStyle/>
          <a:p>
            <a:pPr marL="285750" lvl="1" indent="-285750"/>
            <a:r>
              <a:rPr lang="fr-FR" b="1" dirty="0">
                <a:cs typeface="Arial" panose="020B0604020202020204" pitchFamily="34" charset="0"/>
              </a:rPr>
              <a:t>Communs à toutes les parties </a:t>
            </a:r>
            <a:r>
              <a:rPr lang="fr-FR" dirty="0">
                <a:cs typeface="Arial" panose="020B0604020202020204" pitchFamily="34" charset="0"/>
              </a:rPr>
              <a:t>: publication de “communications nationales“, mise en œuvre de programmes nationaux (atténuation &amp; adaptation), coopération dans le domaine du transfert technologique, de l’éducation, la formation, la sensibilisation…</a:t>
            </a:r>
          </a:p>
          <a:p>
            <a:pPr marL="285750" lvl="1" indent="-285750"/>
            <a:r>
              <a:rPr lang="fr-FR" b="1" dirty="0">
                <a:cs typeface="Arial" panose="020B0604020202020204" pitchFamily="34" charset="0"/>
              </a:rPr>
              <a:t>Spécifiques aux pays développés </a:t>
            </a:r>
            <a:r>
              <a:rPr lang="fr-FR" dirty="0">
                <a:cs typeface="Arial" panose="020B0604020202020204" pitchFamily="34" charset="0"/>
              </a:rPr>
              <a:t>:</a:t>
            </a:r>
          </a:p>
          <a:p>
            <a:pPr marL="645750" lvl="2" indent="-285750">
              <a:buFont typeface="Courier New" panose="02070309020205020404" pitchFamily="49" charset="0"/>
              <a:buChar char="o"/>
            </a:pPr>
            <a:r>
              <a:rPr lang="fr-FR" dirty="0">
                <a:cs typeface="Arial" panose="020B0604020202020204" pitchFamily="34" charset="0"/>
              </a:rPr>
              <a:t>politiques nationales de réduction des émissions de GES</a:t>
            </a:r>
          </a:p>
          <a:p>
            <a:pPr marL="645750" lvl="2" indent="-285750">
              <a:buFont typeface="Courier New" panose="02070309020205020404" pitchFamily="49" charset="0"/>
              <a:buChar char="o"/>
            </a:pPr>
            <a:r>
              <a:rPr lang="fr-FR" dirty="0">
                <a:cs typeface="Arial" panose="020B0604020202020204" pitchFamily="34" charset="0"/>
              </a:rPr>
              <a:t>support (financier, technologique) des actions dans les pays en développement</a:t>
            </a:r>
          </a:p>
          <a:p>
            <a:pPr marL="645750" lvl="2" indent="-285750">
              <a:buFont typeface="Courier New" panose="02070309020205020404" pitchFamily="49" charset="0"/>
              <a:buChar char="o"/>
            </a:pPr>
            <a:r>
              <a:rPr lang="fr-FR" dirty="0">
                <a:cs typeface="Arial" panose="020B0604020202020204" pitchFamily="34" charset="0"/>
              </a:rPr>
              <a:t>support particulier pour les pays en développement particulièrement vulnérables (adaptation)</a:t>
            </a:r>
          </a:p>
          <a:p>
            <a:pPr marL="644525" lvl="2" indent="-17463">
              <a:buFont typeface="Courier New" panose="02070309020205020404" pitchFamily="49" charset="0"/>
              <a:buChar char="o"/>
            </a:pPr>
            <a:endParaRPr lang="fr-FR" dirty="0">
              <a:cs typeface="Arial" panose="020B0604020202020204" pitchFamily="34" charset="0"/>
            </a:endParaRPr>
          </a:p>
          <a:p>
            <a:pPr algn="just">
              <a:spcAft>
                <a:spcPts val="600"/>
              </a:spcAft>
            </a:pPr>
            <a:endParaRPr lang="fr-FR" sz="2400" dirty="0">
              <a:cs typeface="Arial" panose="020B0604020202020204" pitchFamily="34" charset="0"/>
            </a:endParaRPr>
          </a:p>
        </p:txBody>
      </p:sp>
      <p:sp>
        <p:nvSpPr>
          <p:cNvPr id="4" name="Slide Number Placeholder 3">
            <a:extLst>
              <a:ext uri="{FF2B5EF4-FFF2-40B4-BE49-F238E27FC236}">
                <a16:creationId xmlns:a16="http://schemas.microsoft.com/office/drawing/2014/main" id="{3ECCE89D-ECDF-D8C6-58CB-93C8992BA64B}"/>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947964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5E349CD-5DD2-504D-66CD-EF93B891A7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030289"/>
            <a:ext cx="9144000" cy="4795837"/>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673206F9-430E-2CD9-8DCE-ED35EDA56593}"/>
              </a:ext>
            </a:extLst>
          </p:cNvPr>
          <p:cNvSpPr txBox="1"/>
          <p:nvPr/>
        </p:nvSpPr>
        <p:spPr>
          <a:xfrm>
            <a:off x="3427141" y="5968128"/>
            <a:ext cx="4828566"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Source : </a:t>
            </a:r>
            <a:r>
              <a:rPr kumimoji="0" lang="fr-FR"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4"/>
              </a:rPr>
              <a:t>https://commons.wikimedia.org/wiki/File:UNFCCC_Party_Groupings.svg</a:t>
            </a:r>
            <a:r>
              <a:rPr kumimoji="0" lang="fr-FR"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sp>
        <p:nvSpPr>
          <p:cNvPr id="2" name="Slide Number Placeholder 1">
            <a:extLst>
              <a:ext uri="{FF2B5EF4-FFF2-40B4-BE49-F238E27FC236}">
                <a16:creationId xmlns:a16="http://schemas.microsoft.com/office/drawing/2014/main" id="{071E6F81-892D-CF54-A671-4C1F3B5259E7}"/>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649242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36BCE-0958-7C68-F71A-046E038B3FA6}"/>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91D6B37-D06C-E523-F4A8-C212344FA53E}"/>
              </a:ext>
            </a:extLst>
          </p:cNvPr>
          <p:cNvPicPr>
            <a:picLocks noGrp="1" noChangeAspect="1"/>
          </p:cNvPicPr>
          <p:nvPr>
            <p:ph idx="1"/>
          </p:nvPr>
        </p:nvPicPr>
        <p:blipFill>
          <a:blip r:embed="rId2"/>
          <a:stretch>
            <a:fillRect/>
          </a:stretch>
        </p:blipFill>
        <p:spPr>
          <a:xfrm>
            <a:off x="760987" y="488832"/>
            <a:ext cx="4962334" cy="6099291"/>
          </a:xfrm>
        </p:spPr>
      </p:pic>
      <p:cxnSp>
        <p:nvCxnSpPr>
          <p:cNvPr id="7" name="Straight Arrow Connector 6">
            <a:extLst>
              <a:ext uri="{FF2B5EF4-FFF2-40B4-BE49-F238E27FC236}">
                <a16:creationId xmlns:a16="http://schemas.microsoft.com/office/drawing/2014/main" id="{D2C09F40-2222-1C32-EBBB-AFB22EA2D638}"/>
              </a:ext>
            </a:extLst>
          </p:cNvPr>
          <p:cNvCxnSpPr>
            <a:cxnSpLocks/>
          </p:cNvCxnSpPr>
          <p:nvPr/>
        </p:nvCxnSpPr>
        <p:spPr>
          <a:xfrm flipV="1">
            <a:off x="6096000" y="4120587"/>
            <a:ext cx="1682187" cy="4166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153440D-8658-9D20-970A-A56183D33569}"/>
              </a:ext>
            </a:extLst>
          </p:cNvPr>
          <p:cNvSpPr txBox="1"/>
          <p:nvPr/>
        </p:nvSpPr>
        <p:spPr>
          <a:xfrm>
            <a:off x="8305484" y="3538477"/>
            <a:ext cx="3592286"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1995: </a:t>
            </a: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1</a:t>
            </a:r>
            <a:r>
              <a:rPr kumimoji="0" lang="fr-BE" sz="1800" b="0" i="0" u="none" strike="noStrike" kern="1200" cap="none" spc="0" normalizeH="0" baseline="30000" noProof="0" dirty="0">
                <a:ln>
                  <a:noFill/>
                </a:ln>
                <a:solidFill>
                  <a:prstClr val="black"/>
                </a:solidFill>
                <a:effectLst/>
                <a:uLnTx/>
                <a:uFillTx/>
                <a:latin typeface="Aptos" panose="02110004020202020204"/>
                <a:ea typeface="+mn-ea"/>
                <a:cs typeface="+mn-cs"/>
              </a:rPr>
              <a:t>ère</a:t>
            </a: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 COP (</a:t>
            </a:r>
            <a:r>
              <a:rPr kumimoji="0" lang="fr-BE" sz="1800" b="0" i="0" u="none" strike="noStrike" kern="1200" cap="none" spc="0" normalizeH="0" baseline="0" noProof="0" dirty="0" err="1">
                <a:ln>
                  <a:noFill/>
                </a:ln>
                <a:solidFill>
                  <a:prstClr val="black"/>
                </a:solidFill>
                <a:effectLst/>
                <a:uLnTx/>
                <a:uFillTx/>
                <a:latin typeface="Aptos" panose="02110004020202020204"/>
                <a:ea typeface="+mn-ea"/>
                <a:cs typeface="+mn-cs"/>
              </a:rPr>
              <a:t>Conference</a:t>
            </a: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mn-cs"/>
              </a:rPr>
              <a:t> of Parties) établie par la CCNUCC</a:t>
            </a:r>
            <a:endParaRPr kumimoji="0" lang="fr-FR" sz="1800" b="0" i="1"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Slide Number Placeholder 1">
            <a:extLst>
              <a:ext uri="{FF2B5EF4-FFF2-40B4-BE49-F238E27FC236}">
                <a16:creationId xmlns:a16="http://schemas.microsoft.com/office/drawing/2014/main" id="{B3BD8350-1DAA-46C3-3645-669914E76CE1}"/>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242296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DFB87-F50C-A6B0-4347-0FE9B02085A2}"/>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0C40D4-9E6A-17FA-FCCB-460FCC8BDF35}"/>
              </a:ext>
            </a:extLst>
          </p:cNvPr>
          <p:cNvPicPr>
            <a:picLocks noGrp="1" noChangeAspect="1"/>
          </p:cNvPicPr>
          <p:nvPr>
            <p:ph idx="1"/>
          </p:nvPr>
        </p:nvPicPr>
        <p:blipFill>
          <a:blip r:embed="rId2"/>
          <a:stretch>
            <a:fillRect/>
          </a:stretch>
        </p:blipFill>
        <p:spPr>
          <a:xfrm>
            <a:off x="760987" y="488832"/>
            <a:ext cx="4962334" cy="6099291"/>
          </a:xfrm>
        </p:spPr>
      </p:pic>
      <p:cxnSp>
        <p:nvCxnSpPr>
          <p:cNvPr id="7" name="Straight Arrow Connector 6">
            <a:extLst>
              <a:ext uri="{FF2B5EF4-FFF2-40B4-BE49-F238E27FC236}">
                <a16:creationId xmlns:a16="http://schemas.microsoft.com/office/drawing/2014/main" id="{51B39074-DA32-5025-C65F-5D7BDEB5B586}"/>
              </a:ext>
            </a:extLst>
          </p:cNvPr>
          <p:cNvCxnSpPr>
            <a:cxnSpLocks/>
          </p:cNvCxnSpPr>
          <p:nvPr/>
        </p:nvCxnSpPr>
        <p:spPr>
          <a:xfrm flipV="1">
            <a:off x="6468680" y="4120587"/>
            <a:ext cx="1309507" cy="13377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C2F6A3D-6344-8FE1-8679-CA810DA2D5C5}"/>
              </a:ext>
            </a:extLst>
          </p:cNvPr>
          <p:cNvSpPr txBox="1"/>
          <p:nvPr/>
        </p:nvSpPr>
        <p:spPr>
          <a:xfrm>
            <a:off x="8305484" y="3538477"/>
            <a:ext cx="3592286"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1997: </a:t>
            </a:r>
            <a:r>
              <a:rPr kumimoji="0" lang="en-GB" sz="1800" b="0" i="0" u="none" strike="noStrike" kern="1200" cap="none" spc="0" normalizeH="0" baseline="0" noProof="0" dirty="0" err="1">
                <a:ln>
                  <a:noFill/>
                </a:ln>
                <a:solidFill>
                  <a:prstClr val="black"/>
                </a:solidFill>
                <a:effectLst/>
                <a:uLnTx/>
                <a:uFillTx/>
                <a:latin typeface="Aptos" panose="02110004020202020204"/>
                <a:ea typeface="+mn-ea"/>
                <a:cs typeface="+mn-cs"/>
              </a:rPr>
              <a:t>Protocole</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de Kyoto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Art. 3.1 (</a:t>
            </a:r>
            <a:r>
              <a:rPr kumimoji="0" lang="fr-FR"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engagements des pays développés</a:t>
            </a:r>
            <a:r>
              <a:rPr kumimoji="0" lang="fr-BE"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fr-BE" sz="1800" b="0" i="1"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fr-FR" sz="1800" b="0" i="1"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réduire le total de leurs émissions de GES d’au moins 5% par rapport à 1990 au cours de la période 2008-2012.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Slide Number Placeholder 1">
            <a:extLst>
              <a:ext uri="{FF2B5EF4-FFF2-40B4-BE49-F238E27FC236}">
                <a16:creationId xmlns:a16="http://schemas.microsoft.com/office/drawing/2014/main" id="{7B0CC74B-2ED3-6CAD-48ED-FD37861D6C91}"/>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592563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F4208-A8FB-1E44-87DF-AEADBF690182}"/>
              </a:ext>
            </a:extLst>
          </p:cNvPr>
          <p:cNvSpPr>
            <a:spLocks noGrp="1"/>
          </p:cNvSpPr>
          <p:nvPr>
            <p:ph type="title"/>
          </p:nvPr>
        </p:nvSpPr>
        <p:spPr>
          <a:xfrm>
            <a:off x="546935" y="514652"/>
            <a:ext cx="9836876" cy="539335"/>
          </a:xfrm>
        </p:spPr>
        <p:txBody>
          <a:bodyPr>
            <a:normAutofit fontScale="90000"/>
          </a:bodyPr>
          <a:lstStyle/>
          <a:p>
            <a:r>
              <a:rPr lang="fr-FR" sz="2900" b="1" dirty="0">
                <a:latin typeface="Arial" panose="020B0604020202020204" pitchFamily="34" charset="0"/>
                <a:ea typeface="ヒラギノ角ゴ Pro W3" panose="020B0300000000000000" pitchFamily="34" charset="-128"/>
              </a:rPr>
              <a:t>Le protocole de Kyoto: Une architecture à priori séduisante</a:t>
            </a:r>
          </a:p>
        </p:txBody>
      </p:sp>
      <p:sp>
        <p:nvSpPr>
          <p:cNvPr id="3" name="Espace réservé du contenu 2">
            <a:extLst>
              <a:ext uri="{FF2B5EF4-FFF2-40B4-BE49-F238E27FC236}">
                <a16:creationId xmlns:a16="http://schemas.microsoft.com/office/drawing/2014/main" id="{9AAB6787-06D1-AC4D-94A1-9998EF4DB624}"/>
              </a:ext>
            </a:extLst>
          </p:cNvPr>
          <p:cNvSpPr>
            <a:spLocks noGrp="1"/>
          </p:cNvSpPr>
          <p:nvPr>
            <p:ph idx="1"/>
          </p:nvPr>
        </p:nvSpPr>
        <p:spPr>
          <a:xfrm>
            <a:off x="648182" y="1369458"/>
            <a:ext cx="10220446" cy="5123415"/>
          </a:xfrm>
        </p:spPr>
        <p:txBody>
          <a:bodyPr>
            <a:noAutofit/>
          </a:bodyPr>
          <a:lstStyle/>
          <a:p>
            <a:pPr algn="just"/>
            <a:r>
              <a:rPr lang="fr-BE" sz="1600" dirty="0">
                <a:latin typeface="Arial" panose="020B0604020202020204" pitchFamily="34" charset="0"/>
                <a:cs typeface="Arial" panose="020B0604020202020204" pitchFamily="34" charset="0"/>
              </a:rPr>
              <a:t>Adopté le 11 décembre 1997 lors de la conférence de Kyoto au Japon (COP3).</a:t>
            </a:r>
          </a:p>
          <a:p>
            <a:pPr algn="just"/>
            <a:r>
              <a:rPr lang="fr-BE" sz="1600" dirty="0">
                <a:latin typeface="Arial" panose="020B0604020202020204" pitchFamily="34" charset="0"/>
                <a:cs typeface="Arial" panose="020B0604020202020204" pitchFamily="34" charset="0"/>
              </a:rPr>
              <a:t>Le Protocole « précise » la Convention climat, en assignant des </a:t>
            </a:r>
            <a:r>
              <a:rPr lang="fr-BE" sz="1600" b="1" dirty="0">
                <a:latin typeface="Arial" panose="020B0604020202020204" pitchFamily="34" charset="0"/>
                <a:cs typeface="Arial" panose="020B0604020202020204" pitchFamily="34" charset="0"/>
              </a:rPr>
              <a:t>objectifs de réduction chiffrés</a:t>
            </a:r>
            <a:r>
              <a:rPr lang="fr-BE" sz="1600" dirty="0">
                <a:latin typeface="Arial" panose="020B0604020202020204" pitchFamily="34" charset="0"/>
                <a:cs typeface="Arial" panose="020B0604020202020204" pitchFamily="34" charset="0"/>
              </a:rPr>
              <a:t> aux </a:t>
            </a:r>
            <a:r>
              <a:rPr lang="fr-BE" sz="1600" b="1" dirty="0">
                <a:latin typeface="Arial" panose="020B0604020202020204" pitchFamily="34" charset="0"/>
                <a:cs typeface="Arial" panose="020B0604020202020204" pitchFamily="34" charset="0"/>
              </a:rPr>
              <a:t>pays développés et économies en transition </a:t>
            </a:r>
            <a:r>
              <a:rPr lang="fr-BE" sz="1600" dirty="0">
                <a:latin typeface="Arial" panose="020B0604020202020204" pitchFamily="34" charset="0"/>
                <a:cs typeface="Arial" panose="020B0604020202020204" pitchFamily="34" charset="0"/>
              </a:rPr>
              <a:t>(listés à l’Annexe B).</a:t>
            </a:r>
          </a:p>
          <a:p>
            <a:pPr algn="just"/>
            <a:r>
              <a:rPr lang="fr-BE" sz="1600" b="1" dirty="0">
                <a:latin typeface="Arial" panose="020B0604020202020204" pitchFamily="34" charset="0"/>
                <a:cs typeface="Arial" panose="020B0604020202020204" pitchFamily="34" charset="0"/>
              </a:rPr>
              <a:t>Approche </a:t>
            </a:r>
            <a:r>
              <a:rPr lang="fr-BE" sz="1600" b="1" i="1" dirty="0">
                <a:latin typeface="Arial" panose="020B0604020202020204" pitchFamily="34" charset="0"/>
                <a:cs typeface="Arial" panose="020B0604020202020204" pitchFamily="34" charset="0"/>
              </a:rPr>
              <a:t>top-down</a:t>
            </a:r>
            <a:r>
              <a:rPr lang="fr-BE" sz="1600" b="1" dirty="0">
                <a:latin typeface="Arial" panose="020B0604020202020204" pitchFamily="34" charset="0"/>
                <a:cs typeface="Arial" panose="020B0604020202020204" pitchFamily="34" charset="0"/>
              </a:rPr>
              <a:t>, avec partage du fardeau (des réductions d’émissions)</a:t>
            </a:r>
            <a:endParaRPr lang="fr-BE" sz="1600" dirty="0">
              <a:latin typeface="Arial" panose="020B0604020202020204" pitchFamily="34" charset="0"/>
              <a:cs typeface="Arial" panose="020B0604020202020204" pitchFamily="34" charset="0"/>
            </a:endParaRPr>
          </a:p>
          <a:p>
            <a:pPr algn="just"/>
            <a:r>
              <a:rPr lang="fr-FR" sz="1600" dirty="0">
                <a:latin typeface="Arial" panose="020B0604020202020204" pitchFamily="34" charset="0"/>
                <a:cs typeface="Arial" panose="020B0604020202020204" pitchFamily="34" charset="0"/>
              </a:rPr>
              <a:t>Périodes d’engagement successives avec révision de l’objectif (première période d’engagement : 2008-2012 par rapport à 1990 ; deuxième période : 2012-2020).</a:t>
            </a:r>
          </a:p>
          <a:p>
            <a:pPr algn="just"/>
            <a:r>
              <a:rPr lang="fr-BE" sz="1600" dirty="0">
                <a:latin typeface="Arial" panose="020B0604020202020204" pitchFamily="34" charset="0"/>
                <a:cs typeface="Arial" panose="020B0604020202020204" pitchFamily="34" charset="0"/>
              </a:rPr>
              <a:t>Les pays conservent le choix des politiques nationales à mettre en œuvre pour atteindre les objectifs.</a:t>
            </a:r>
          </a:p>
          <a:p>
            <a:pPr algn="just"/>
            <a:r>
              <a:rPr lang="fr-BE" sz="1600" dirty="0">
                <a:latin typeface="Arial" panose="020B0604020202020204" pitchFamily="34" charset="0"/>
                <a:cs typeface="Arial" panose="020B0604020202020204" pitchFamily="34" charset="0"/>
              </a:rPr>
              <a:t>Des « </a:t>
            </a:r>
            <a:r>
              <a:rPr lang="fr-BE" sz="1600" b="1" dirty="0">
                <a:latin typeface="Arial" panose="020B0604020202020204" pitchFamily="34" charset="0"/>
                <a:cs typeface="Arial" panose="020B0604020202020204" pitchFamily="34" charset="0"/>
              </a:rPr>
              <a:t>mécanismes de flexibilité </a:t>
            </a:r>
            <a:r>
              <a:rPr lang="fr-BE" sz="1600" dirty="0">
                <a:latin typeface="Arial" panose="020B0604020202020204" pitchFamily="34" charset="0"/>
                <a:cs typeface="Arial" panose="020B0604020202020204" pitchFamily="34" charset="0"/>
              </a:rPr>
              <a:t>» sont censés garantir que les réductions seront faites là où elles sont économiquement les plus efficaces :</a:t>
            </a:r>
          </a:p>
          <a:p>
            <a:pPr marL="360363" indent="0" algn="just">
              <a:buNone/>
            </a:pPr>
            <a:r>
              <a:rPr lang="fr-BE" sz="1200" dirty="0">
                <a:latin typeface="Arial" panose="020B0604020202020204" pitchFamily="34" charset="0"/>
                <a:cs typeface="Arial" panose="020B0604020202020204" pitchFamily="34" charset="0"/>
              </a:rPr>
              <a:t>– le marché de carbone prévoit l’achat et la vente de quotas d’émissions entre pays visés à l’annexe B ;</a:t>
            </a:r>
            <a:r>
              <a:rPr lang="fr-FR" sz="1200" dirty="0">
                <a:latin typeface="Arial" panose="020B0604020202020204" pitchFamily="34" charset="0"/>
                <a:cs typeface="Arial" panose="020B0604020202020204" pitchFamily="34" charset="0"/>
              </a:rPr>
              <a:t> </a:t>
            </a:r>
          </a:p>
          <a:p>
            <a:pPr marL="360363" indent="0" algn="just">
              <a:buNone/>
            </a:pPr>
            <a:r>
              <a:rPr lang="fr-FR" sz="1200" dirty="0">
                <a:latin typeface="Arial" panose="020B0604020202020204" pitchFamily="34" charset="0"/>
                <a:cs typeface="Arial" panose="020B0604020202020204" pitchFamily="34" charset="0"/>
              </a:rPr>
              <a:t>– la « mise en œuvre conjointe », destinée à la coopération entre pays industrialisés et économies de transition (investissements dans des projets de réduction d’émissions, avec échange de crédits carbone) ;</a:t>
            </a:r>
          </a:p>
          <a:p>
            <a:pPr marL="360363" indent="0" algn="just">
              <a:buNone/>
            </a:pPr>
            <a:r>
              <a:rPr lang="fr-FR" sz="1200" dirty="0">
                <a:latin typeface="Arial" panose="020B0604020202020204" pitchFamily="34" charset="0"/>
                <a:cs typeface="Arial" panose="020B0604020202020204" pitchFamily="34" charset="0"/>
              </a:rPr>
              <a:t>– le « mécanisme de développement propre » permet aux pays développés d’investir dans des projets de développement sobre en carbone dans les pays en développement (et d’ainsi générer et obtenir des crédits carbone).</a:t>
            </a:r>
          </a:p>
          <a:p>
            <a:pPr marL="292100" indent="-285750" algn="just"/>
            <a:r>
              <a:rPr lang="fr-FR" sz="1600" dirty="0">
                <a:latin typeface="Arial" panose="020B0604020202020204" pitchFamily="34" charset="0"/>
                <a:cs typeface="Arial" panose="020B0604020202020204" pitchFamily="34" charset="0"/>
              </a:rPr>
              <a:t>Existence de « </a:t>
            </a:r>
            <a:r>
              <a:rPr lang="fr-FR" sz="1600" b="1" dirty="0">
                <a:latin typeface="Arial" panose="020B0604020202020204" pitchFamily="34" charset="0"/>
                <a:cs typeface="Arial" panose="020B0604020202020204" pitchFamily="34" charset="0"/>
              </a:rPr>
              <a:t>sanctions</a:t>
            </a:r>
            <a:r>
              <a:rPr lang="fr-FR" sz="1600" dirty="0">
                <a:latin typeface="Arial" panose="020B0604020202020204" pitchFamily="34" charset="0"/>
                <a:cs typeface="Arial" panose="020B0604020202020204" pitchFamily="34" charset="0"/>
              </a:rPr>
              <a:t> » (report du solde augmenté de 30% sur la période d’engagement suivante, perte d’éligibilité pour la participation aux mécanismes de flexibilité).</a:t>
            </a:r>
            <a:endParaRPr lang="fr-BE" sz="1600" dirty="0">
              <a:latin typeface="Arial" panose="020B0604020202020204" pitchFamily="34" charset="0"/>
              <a:cs typeface="Arial" panose="020B0604020202020204" pitchFamily="34" charset="0"/>
            </a:endParaRPr>
          </a:p>
          <a:p>
            <a:pPr algn="just"/>
            <a:endParaRPr lang="fr-FR" sz="1600" dirty="0">
              <a:latin typeface="Arial" panose="020B0604020202020204" pitchFamily="34" charset="0"/>
              <a:cs typeface="Arial" panose="020B0604020202020204" pitchFamily="34" charset="0"/>
            </a:endParaRPr>
          </a:p>
          <a:p>
            <a:pPr algn="just"/>
            <a:endParaRPr lang="fr-BE" sz="1600" dirty="0">
              <a:latin typeface="Arial" panose="020B0604020202020204" pitchFamily="34" charset="0"/>
              <a:cs typeface="Arial" panose="020B0604020202020204" pitchFamily="34" charset="0"/>
            </a:endParaRPr>
          </a:p>
          <a:p>
            <a:pPr algn="just"/>
            <a:endParaRPr lang="fr-BE" sz="1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B25838E-1B51-3053-050E-769008ED348D}"/>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40716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F4208-A8FB-1E44-87DF-AEADBF690182}"/>
              </a:ext>
            </a:extLst>
          </p:cNvPr>
          <p:cNvSpPr>
            <a:spLocks noGrp="1"/>
          </p:cNvSpPr>
          <p:nvPr>
            <p:ph type="title"/>
          </p:nvPr>
        </p:nvSpPr>
        <p:spPr>
          <a:xfrm>
            <a:off x="611397" y="353626"/>
            <a:ext cx="7886700" cy="539335"/>
          </a:xfrm>
        </p:spPr>
        <p:txBody>
          <a:bodyPr>
            <a:normAutofit/>
          </a:bodyPr>
          <a:lstStyle/>
          <a:p>
            <a:r>
              <a:rPr lang="fr-FR" sz="2900" b="1" dirty="0">
                <a:latin typeface="Arial" panose="020B0604020202020204" pitchFamily="34" charset="0"/>
                <a:ea typeface="ヒラギノ角ゴ Pro W3" panose="020B0300000000000000" pitchFamily="34" charset="-128"/>
              </a:rPr>
              <a:t>Mais un fiasco pour le climat</a:t>
            </a:r>
          </a:p>
        </p:txBody>
      </p:sp>
      <p:sp>
        <p:nvSpPr>
          <p:cNvPr id="3" name="Espace réservé du contenu 2">
            <a:extLst>
              <a:ext uri="{FF2B5EF4-FFF2-40B4-BE49-F238E27FC236}">
                <a16:creationId xmlns:a16="http://schemas.microsoft.com/office/drawing/2014/main" id="{9AAB6787-06D1-AC4D-94A1-9998EF4DB624}"/>
              </a:ext>
            </a:extLst>
          </p:cNvPr>
          <p:cNvSpPr>
            <a:spLocks noGrp="1"/>
          </p:cNvSpPr>
          <p:nvPr>
            <p:ph idx="1"/>
          </p:nvPr>
        </p:nvSpPr>
        <p:spPr>
          <a:xfrm>
            <a:off x="706056" y="1283587"/>
            <a:ext cx="10486663" cy="5123415"/>
          </a:xfrm>
        </p:spPr>
        <p:txBody>
          <a:bodyPr>
            <a:noAutofit/>
          </a:bodyPr>
          <a:lstStyle/>
          <a:p>
            <a:pPr algn="just"/>
            <a:r>
              <a:rPr lang="fr-BE" sz="1600" b="1" u="sng" dirty="0">
                <a:latin typeface="Arial" panose="020B0604020202020204" pitchFamily="34" charset="0"/>
                <a:cs typeface="Arial" panose="020B0604020202020204" pitchFamily="34" charset="0"/>
              </a:rPr>
              <a:t>Presque huit ans pour que le Protocole de Kyoto entre en vigueur (en 2005)</a:t>
            </a:r>
          </a:p>
          <a:p>
            <a:pPr lvl="1" algn="just"/>
            <a:r>
              <a:rPr lang="fr-BE" sz="1600" dirty="0">
                <a:latin typeface="Arial" panose="020B0604020202020204" pitchFamily="34" charset="0"/>
                <a:cs typeface="Arial" panose="020B0604020202020204" pitchFamily="34" charset="0"/>
              </a:rPr>
              <a:t>! profonds désaccords sur les détails de mise en œuvre du Protocole</a:t>
            </a:r>
          </a:p>
          <a:p>
            <a:pPr lvl="1" algn="just"/>
            <a:r>
              <a:rPr lang="fr-BE" sz="1600" dirty="0">
                <a:latin typeface="Arial" panose="020B0604020202020204" pitchFamily="34" charset="0"/>
                <a:cs typeface="Arial" panose="020B0604020202020204" pitchFamily="34" charset="0"/>
              </a:rPr>
              <a:t>! décision des Etats-Unis de ne pas le ratifier.</a:t>
            </a:r>
          </a:p>
          <a:p>
            <a:pPr lvl="1" algn="just"/>
            <a:r>
              <a:rPr lang="fr-BE" sz="1600" i="1" dirty="0">
                <a:latin typeface="Arial" panose="020B0604020202020204" pitchFamily="34" charset="0"/>
                <a:cs typeface="Arial" panose="020B0604020202020204" pitchFamily="34" charset="0"/>
              </a:rPr>
              <a:t>Le traité devait être ratifié par 55 pays au moins, représentant 55% ou plus des émissions de CO2 en 1990.</a:t>
            </a:r>
          </a:p>
          <a:p>
            <a:pPr lvl="1" algn="just"/>
            <a:r>
              <a:rPr lang="fr-BE" sz="1600" dirty="0">
                <a:latin typeface="Arial" panose="020B0604020202020204" pitchFamily="34" charset="0"/>
                <a:cs typeface="Arial" panose="020B0604020202020204" pitchFamily="34" charset="0"/>
              </a:rPr>
              <a:t>USA ~36% des émissions mondiales en 1990 </a:t>
            </a:r>
            <a:r>
              <a:rPr lang="fr-BE" sz="1600" dirty="0">
                <a:latin typeface="Arial" panose="020B0604020202020204" pitchFamily="34" charset="0"/>
                <a:cs typeface="Arial" panose="020B0604020202020204" pitchFamily="34" charset="0"/>
                <a:sym typeface="Wingdings" panose="05000000000000000000" pitchFamily="2" charset="2"/>
              </a:rPr>
              <a:t> </a:t>
            </a:r>
            <a:r>
              <a:rPr lang="fr-BE" sz="1600" dirty="0">
                <a:latin typeface="Arial" panose="020B0604020202020204" pitchFamily="34" charset="0"/>
                <a:cs typeface="Arial" panose="020B0604020202020204" pitchFamily="34" charset="0"/>
              </a:rPr>
              <a:t>« droit de veto de fait ». George W. Bush, élu en 2001,  « les États-Unis ne ratifieront pas le Protocole de Kyoto ». </a:t>
            </a:r>
          </a:p>
          <a:p>
            <a:pPr algn="just"/>
            <a:endParaRPr lang="fr-BE" sz="1600" dirty="0">
              <a:latin typeface="Arial" panose="020B0604020202020204" pitchFamily="34" charset="0"/>
              <a:cs typeface="Arial" panose="020B0604020202020204" pitchFamily="34" charset="0"/>
            </a:endParaRPr>
          </a:p>
          <a:p>
            <a:pPr algn="just"/>
            <a:r>
              <a:rPr lang="fr-BE" sz="1600" b="1" u="sng" dirty="0">
                <a:latin typeface="Arial" panose="020B0604020202020204" pitchFamily="34" charset="0"/>
                <a:cs typeface="Arial" panose="020B0604020202020204" pitchFamily="34" charset="0"/>
              </a:rPr>
              <a:t>Entrée en vigueur effective le 16 février 2005</a:t>
            </a:r>
            <a:r>
              <a:rPr lang="fr-BE" sz="1600" dirty="0">
                <a:latin typeface="Arial" panose="020B0604020202020204" pitchFamily="34" charset="0"/>
                <a:cs typeface="Arial" panose="020B0604020202020204" pitchFamily="34" charset="0"/>
              </a:rPr>
              <a:t>.</a:t>
            </a:r>
          </a:p>
          <a:p>
            <a:pPr lvl="1" algn="just"/>
            <a:r>
              <a:rPr lang="fr-BE" sz="1600" dirty="0">
                <a:latin typeface="Arial" panose="020B0604020202020204" pitchFamily="34" charset="0"/>
                <a:cs typeface="Arial" panose="020B0604020202020204" pitchFamily="34" charset="0"/>
              </a:rPr>
              <a:t>À cette date, 141 pays ont ratifié le Protocole, dont 36 pays industrialisés. </a:t>
            </a:r>
          </a:p>
          <a:p>
            <a:pPr lvl="1" algn="just"/>
            <a:r>
              <a:rPr lang="fr-BE" sz="1600" dirty="0">
                <a:latin typeface="Arial" panose="020B0604020202020204" pitchFamily="34" charset="0"/>
                <a:cs typeface="Arial" panose="020B0604020202020204" pitchFamily="34" charset="0"/>
              </a:rPr>
              <a:t>Les 107 pays en développement l’ayant ratifié ont, quant à eux, de simples obligations d’inventaire de leurs émissions de gaz à effet de serre.</a:t>
            </a:r>
          </a:p>
          <a:p>
            <a:pPr marL="0" indent="0" algn="just">
              <a:buNone/>
            </a:pPr>
            <a:endParaRPr lang="fr-BE" sz="1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CF95D18-3E61-0D0E-2EDC-52395A6A82D3}"/>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537431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F4208-A8FB-1E44-87DF-AEADBF690182}"/>
              </a:ext>
            </a:extLst>
          </p:cNvPr>
          <p:cNvSpPr>
            <a:spLocks noGrp="1"/>
          </p:cNvSpPr>
          <p:nvPr>
            <p:ph type="title"/>
          </p:nvPr>
        </p:nvSpPr>
        <p:spPr>
          <a:xfrm>
            <a:off x="513631" y="422636"/>
            <a:ext cx="7886700" cy="539335"/>
          </a:xfrm>
        </p:spPr>
        <p:txBody>
          <a:bodyPr>
            <a:normAutofit/>
          </a:bodyPr>
          <a:lstStyle/>
          <a:p>
            <a:r>
              <a:rPr lang="fr-FR" sz="2900" b="1" dirty="0">
                <a:latin typeface="Arial" panose="020B0604020202020204" pitchFamily="34" charset="0"/>
                <a:ea typeface="ヒラギノ角ゴ Pro W3" panose="020B0300000000000000" pitchFamily="34" charset="-128"/>
              </a:rPr>
              <a:t>Mais un fiasco pour le climat</a:t>
            </a:r>
          </a:p>
        </p:txBody>
      </p:sp>
      <p:sp>
        <p:nvSpPr>
          <p:cNvPr id="3" name="Espace réservé du contenu 2">
            <a:extLst>
              <a:ext uri="{FF2B5EF4-FFF2-40B4-BE49-F238E27FC236}">
                <a16:creationId xmlns:a16="http://schemas.microsoft.com/office/drawing/2014/main" id="{9AAB6787-06D1-AC4D-94A1-9998EF4DB624}"/>
              </a:ext>
            </a:extLst>
          </p:cNvPr>
          <p:cNvSpPr>
            <a:spLocks noGrp="1"/>
          </p:cNvSpPr>
          <p:nvPr>
            <p:ph idx="1"/>
          </p:nvPr>
        </p:nvSpPr>
        <p:spPr>
          <a:xfrm>
            <a:off x="513631" y="1438862"/>
            <a:ext cx="10297123" cy="5123415"/>
          </a:xfrm>
        </p:spPr>
        <p:txBody>
          <a:bodyPr>
            <a:noAutofit/>
          </a:bodyPr>
          <a:lstStyle/>
          <a:p>
            <a:pPr marL="0" indent="0" algn="just">
              <a:buNone/>
            </a:pPr>
            <a:r>
              <a:rPr lang="fr-BE" sz="1600" b="1" dirty="0">
                <a:latin typeface="Arial" panose="020B0604020202020204" pitchFamily="34" charset="0"/>
                <a:cs typeface="Arial" panose="020B0604020202020204" pitchFamily="34" charset="0"/>
              </a:rPr>
              <a:t>Faiblesses :</a:t>
            </a:r>
            <a:endParaRPr lang="fr-BE" sz="1600" dirty="0">
              <a:latin typeface="Arial" panose="020B0604020202020204" pitchFamily="34" charset="0"/>
              <a:cs typeface="Arial" panose="020B0604020202020204" pitchFamily="34" charset="0"/>
            </a:endParaRPr>
          </a:p>
          <a:p>
            <a:pPr algn="just">
              <a:buFontTx/>
              <a:buChar char="-"/>
            </a:pPr>
            <a:r>
              <a:rPr lang="fr-BE" sz="1600" b="1" u="sng" dirty="0">
                <a:latin typeface="Arial" panose="020B0604020202020204" pitchFamily="34" charset="0"/>
                <a:cs typeface="Arial" panose="020B0604020202020204" pitchFamily="34" charset="0"/>
              </a:rPr>
              <a:t>Les Etats-Unis n’ont jamais ratifié le Protocole </a:t>
            </a:r>
            <a:r>
              <a:rPr lang="fr-BE" sz="1600" dirty="0">
                <a:latin typeface="Arial" panose="020B0604020202020204" pitchFamily="34" charset="0"/>
                <a:cs typeface="Arial" panose="020B0604020202020204" pitchFamily="34" charset="0"/>
              </a:rPr>
              <a:t>(alors qu’ils ont très activement participé à en négocier les modalités).</a:t>
            </a:r>
          </a:p>
          <a:p>
            <a:pPr algn="just">
              <a:buFontTx/>
              <a:buChar char="-"/>
            </a:pPr>
            <a:r>
              <a:rPr lang="fr-BE" sz="1600" b="1" dirty="0">
                <a:latin typeface="Arial" panose="020B0604020202020204" pitchFamily="34" charset="0"/>
                <a:cs typeface="Arial" panose="020B0604020202020204" pitchFamily="34" charset="0"/>
              </a:rPr>
              <a:t>Un objectif collectif très limité </a:t>
            </a:r>
            <a:r>
              <a:rPr lang="fr-BE" sz="1600" dirty="0">
                <a:latin typeface="Arial" panose="020B0604020202020204" pitchFamily="34" charset="0"/>
                <a:cs typeface="Arial" panose="020B0604020202020204" pitchFamily="34" charset="0"/>
              </a:rPr>
              <a:t>(-5,2% au total sur la période </a:t>
            </a:r>
            <a:r>
              <a:rPr lang="fr-FR" sz="1600" dirty="0">
                <a:latin typeface="Arial" panose="020B0604020202020204" pitchFamily="34" charset="0"/>
                <a:cs typeface="Arial" panose="020B0604020202020204" pitchFamily="34" charset="0"/>
              </a:rPr>
              <a:t>2008-2012 par rapport à 1990) ; au final, les émissions des 37 pays développés qui avaient des objectifs de réduction ont diminué de plus de 22% par rapport à 1990, dépassant de loin l'objectif initial.</a:t>
            </a:r>
          </a:p>
          <a:p>
            <a:pPr algn="just">
              <a:buFontTx/>
              <a:buChar char="-"/>
            </a:pPr>
            <a:r>
              <a:rPr lang="fr-BE" sz="1600" b="1" dirty="0">
                <a:latin typeface="Arial" panose="020B0604020202020204" pitchFamily="34" charset="0"/>
                <a:cs typeface="Arial" panose="020B0604020202020204" pitchFamily="34" charset="0"/>
              </a:rPr>
              <a:t>Des objectifs individuels n</a:t>
            </a:r>
            <a:r>
              <a:rPr lang="fr-BE" sz="1600" dirty="0">
                <a:latin typeface="Arial" panose="020B0604020202020204" pitchFamily="34" charset="0"/>
                <a:cs typeface="Arial" panose="020B0604020202020204" pitchFamily="34" charset="0"/>
              </a:rPr>
              <a:t>égociés et parfois accordés avec complaisance (correspondent aux trajectoires « </a:t>
            </a:r>
            <a:r>
              <a:rPr lang="fr-BE" sz="1600" i="1" dirty="0">
                <a:latin typeface="Arial" panose="020B0604020202020204" pitchFamily="34" charset="0"/>
                <a:cs typeface="Arial" panose="020B0604020202020204" pitchFamily="34" charset="0"/>
              </a:rPr>
              <a:t>business-as-</a:t>
            </a:r>
            <a:r>
              <a:rPr lang="fr-BE" sz="1600" i="1" dirty="0" err="1">
                <a:latin typeface="Arial" panose="020B0604020202020204" pitchFamily="34" charset="0"/>
                <a:cs typeface="Arial" panose="020B0604020202020204" pitchFamily="34" charset="0"/>
              </a:rPr>
              <a:t>usual</a:t>
            </a:r>
            <a:r>
              <a:rPr lang="fr-BE" sz="1600" dirty="0">
                <a:latin typeface="Arial" panose="020B0604020202020204" pitchFamily="34" charset="0"/>
                <a:cs typeface="Arial" panose="020B0604020202020204" pitchFamily="34" charset="0"/>
              </a:rPr>
              <a:t> », voire moins).</a:t>
            </a:r>
          </a:p>
          <a:p>
            <a:pPr algn="just">
              <a:buFontTx/>
              <a:buChar char="-"/>
            </a:pPr>
            <a:r>
              <a:rPr lang="fr-BE" sz="1600" dirty="0">
                <a:latin typeface="Arial" panose="020B0604020202020204" pitchFamily="34" charset="0"/>
                <a:cs typeface="Arial" panose="020B0604020202020204" pitchFamily="34" charset="0"/>
              </a:rPr>
              <a:t>Une couverture insuffisante (uniquement les pays de l’Annexe I, représentant moins d’un tiers des émissions mondiales).</a:t>
            </a:r>
          </a:p>
          <a:p>
            <a:pPr algn="just">
              <a:buFontTx/>
              <a:buChar char="-"/>
            </a:pPr>
            <a:r>
              <a:rPr lang="fr-BE" sz="1600" dirty="0">
                <a:latin typeface="Arial" panose="020B0604020202020204" pitchFamily="34" charset="0"/>
                <a:cs typeface="Arial" panose="020B0604020202020204" pitchFamily="34" charset="0"/>
              </a:rPr>
              <a:t>Règles généreuses pour les réductions d’émissions résultant des activités forestières et de gestion des sols, afin de faciliter l’adhésion au processus du Japon, du Canada et de la Russie.</a:t>
            </a:r>
          </a:p>
          <a:p>
            <a:pPr marL="0" indent="0" algn="just">
              <a:buNone/>
            </a:pPr>
            <a:endParaRPr lang="fr-BE" sz="1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BFA6E7-C85B-BECA-E8E1-AB09B3AB3E6E}"/>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09801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F4208-A8FB-1E44-87DF-AEADBF690182}"/>
              </a:ext>
            </a:extLst>
          </p:cNvPr>
          <p:cNvSpPr>
            <a:spLocks noGrp="1"/>
          </p:cNvSpPr>
          <p:nvPr>
            <p:ph type="title"/>
          </p:nvPr>
        </p:nvSpPr>
        <p:spPr>
          <a:xfrm>
            <a:off x="2152650" y="365127"/>
            <a:ext cx="7886700" cy="539335"/>
          </a:xfrm>
        </p:spPr>
        <p:txBody>
          <a:bodyPr>
            <a:normAutofit/>
          </a:bodyPr>
          <a:lstStyle/>
          <a:p>
            <a:r>
              <a:rPr lang="fr-FR" sz="2900" b="1" dirty="0">
                <a:latin typeface="Arial" panose="020B0604020202020204" pitchFamily="34" charset="0"/>
                <a:ea typeface="ヒラギノ角ゴ Pro W3" panose="020B0300000000000000" pitchFamily="34" charset="-128"/>
              </a:rPr>
              <a:t>Mais un fiasco pour le climat</a:t>
            </a:r>
          </a:p>
        </p:txBody>
      </p:sp>
      <p:sp>
        <p:nvSpPr>
          <p:cNvPr id="3" name="Espace réservé du contenu 2">
            <a:extLst>
              <a:ext uri="{FF2B5EF4-FFF2-40B4-BE49-F238E27FC236}">
                <a16:creationId xmlns:a16="http://schemas.microsoft.com/office/drawing/2014/main" id="{9AAB6787-06D1-AC4D-94A1-9998EF4DB624}"/>
              </a:ext>
            </a:extLst>
          </p:cNvPr>
          <p:cNvSpPr>
            <a:spLocks noGrp="1"/>
          </p:cNvSpPr>
          <p:nvPr>
            <p:ph idx="1"/>
          </p:nvPr>
        </p:nvSpPr>
        <p:spPr>
          <a:xfrm>
            <a:off x="937402" y="1519375"/>
            <a:ext cx="10035397" cy="5123415"/>
          </a:xfrm>
        </p:spPr>
        <p:txBody>
          <a:bodyPr>
            <a:noAutofit/>
          </a:bodyPr>
          <a:lstStyle/>
          <a:p>
            <a:pPr marL="0" indent="0" algn="just">
              <a:buNone/>
            </a:pPr>
            <a:r>
              <a:rPr lang="fr-BE" sz="1600" b="1" dirty="0">
                <a:latin typeface="Arial" panose="020B0604020202020204" pitchFamily="34" charset="0"/>
                <a:cs typeface="Arial" panose="020B0604020202020204" pitchFamily="34" charset="0"/>
              </a:rPr>
              <a:t>Faiblesses </a:t>
            </a:r>
            <a:endParaRPr lang="fr-BE" sz="1600" dirty="0">
              <a:latin typeface="Arial" panose="020B0604020202020204" pitchFamily="34" charset="0"/>
              <a:cs typeface="Arial" panose="020B0604020202020204" pitchFamily="34" charset="0"/>
            </a:endParaRPr>
          </a:p>
          <a:p>
            <a:pPr algn="just"/>
            <a:r>
              <a:rPr lang="fr-BE" sz="1600" dirty="0">
                <a:latin typeface="Arial" panose="020B0604020202020204" pitchFamily="34" charset="0"/>
                <a:cs typeface="Arial" panose="020B0604020202020204" pitchFamily="34" charset="0"/>
              </a:rPr>
              <a:t>Des concessions supplémentaires ont été faites à la Russie et à l’Ukraine, notamment en ce qui concerne les règles régissant la vente de leurs crédits carbones excédentaires (« </a:t>
            </a:r>
            <a:r>
              <a:rPr lang="fr-BE" sz="1600" i="1" dirty="0">
                <a:latin typeface="Arial" panose="020B0604020202020204" pitchFamily="34" charset="0"/>
                <a:cs typeface="Arial" panose="020B0604020202020204" pitchFamily="34" charset="0"/>
              </a:rPr>
              <a:t>hot air </a:t>
            </a:r>
            <a:r>
              <a:rPr lang="fr-BE" sz="1600" dirty="0">
                <a:latin typeface="Arial" panose="020B0604020202020204" pitchFamily="34" charset="0"/>
                <a:cs typeface="Arial" panose="020B0604020202020204" pitchFamily="34" charset="0"/>
              </a:rPr>
              <a:t>»). Le deal inclut aussi le soutien de l’Union européenne à l’adhésion de la Russie à l’OMC.</a:t>
            </a:r>
          </a:p>
          <a:p>
            <a:pPr algn="just"/>
            <a:r>
              <a:rPr lang="fr-BE" sz="1600" dirty="0">
                <a:latin typeface="Arial" panose="020B0604020202020204" pitchFamily="34" charset="0"/>
                <a:cs typeface="Arial" panose="020B0604020202020204" pitchFamily="34" charset="0"/>
              </a:rPr>
              <a:t>Les détails des mécanismes de flexibilité permettant de nombreux « abus » (e.g., projets non additionnels).</a:t>
            </a:r>
          </a:p>
          <a:p>
            <a:pPr algn="just"/>
            <a:r>
              <a:rPr lang="fr-BE" sz="1600" b="1" dirty="0">
                <a:latin typeface="Arial" panose="020B0604020202020204" pitchFamily="34" charset="0"/>
                <a:cs typeface="Arial" panose="020B0604020202020204" pitchFamily="34" charset="0"/>
              </a:rPr>
              <a:t>En pratique : aucune sanction prononcée</a:t>
            </a:r>
            <a:r>
              <a:rPr lang="fr-BE" sz="1600" dirty="0">
                <a:latin typeface="Arial" panose="020B0604020202020204" pitchFamily="34" charset="0"/>
                <a:cs typeface="Arial" panose="020B0604020202020204" pitchFamily="34" charset="0"/>
              </a:rPr>
              <a:t>. Canada : sous la menace d’une </a:t>
            </a:r>
            <a:r>
              <a:rPr lang="fr-BE" sz="1600" dirty="0" err="1">
                <a:latin typeface="Arial" panose="020B0604020202020204" pitchFamily="34" charset="0"/>
                <a:cs typeface="Arial" panose="020B0604020202020204" pitchFamily="34" charset="0"/>
              </a:rPr>
              <a:t>procédure</a:t>
            </a:r>
            <a:r>
              <a:rPr lang="fr-BE" sz="1600" dirty="0">
                <a:latin typeface="Arial" panose="020B0604020202020204" pitchFamily="34" charset="0"/>
                <a:cs typeface="Arial" panose="020B0604020202020204" pitchFamily="34" charset="0"/>
              </a:rPr>
              <a:t> d’observance pour avoir </a:t>
            </a:r>
            <a:r>
              <a:rPr lang="fr-BE" sz="1600" dirty="0" err="1">
                <a:latin typeface="Arial" panose="020B0604020202020204" pitchFamily="34" charset="0"/>
                <a:cs typeface="Arial" panose="020B0604020202020204" pitchFamily="34" charset="0"/>
              </a:rPr>
              <a:t>dépassé</a:t>
            </a:r>
            <a:r>
              <a:rPr lang="fr-BE" sz="1600" dirty="0">
                <a:latin typeface="Arial" panose="020B0604020202020204" pitchFamily="34" charset="0"/>
                <a:cs typeface="Arial" panose="020B0604020202020204" pitchFamily="34" charset="0"/>
              </a:rPr>
              <a:t> largement sa cible – les </a:t>
            </a:r>
            <a:r>
              <a:rPr lang="fr-BE" sz="1600" dirty="0" err="1">
                <a:latin typeface="Arial" panose="020B0604020202020204" pitchFamily="34" charset="0"/>
                <a:cs typeface="Arial" panose="020B0604020202020204" pitchFamily="34" charset="0"/>
              </a:rPr>
              <a:t>émissions</a:t>
            </a:r>
            <a:r>
              <a:rPr lang="fr-BE" sz="1600" dirty="0">
                <a:latin typeface="Arial" panose="020B0604020202020204" pitchFamily="34" charset="0"/>
                <a:cs typeface="Arial" panose="020B0604020202020204" pitchFamily="34" charset="0"/>
              </a:rPr>
              <a:t> ont cru de 28 % au lieu de </a:t>
            </a:r>
            <a:r>
              <a:rPr lang="fr-BE" sz="1600" dirty="0" err="1">
                <a:latin typeface="Arial" panose="020B0604020202020204" pitchFamily="34" charset="0"/>
                <a:cs typeface="Arial" panose="020B0604020202020204" pitchFamily="34" charset="0"/>
              </a:rPr>
              <a:t>décroître</a:t>
            </a:r>
            <a:r>
              <a:rPr lang="fr-BE" sz="1600" dirty="0">
                <a:latin typeface="Arial" panose="020B0604020202020204" pitchFamily="34" charset="0"/>
                <a:cs typeface="Arial" panose="020B0604020202020204" pitchFamily="34" charset="0"/>
              </a:rPr>
              <a:t> de 6 % comme </a:t>
            </a:r>
            <a:r>
              <a:rPr lang="fr-BE" sz="1600" dirty="0" err="1">
                <a:latin typeface="Arial" panose="020B0604020202020204" pitchFamily="34" charset="0"/>
                <a:cs typeface="Arial" panose="020B0604020202020204" pitchFamily="34" charset="0"/>
              </a:rPr>
              <a:t>prévu</a:t>
            </a:r>
            <a:r>
              <a:rPr lang="fr-BE" sz="1600" dirty="0">
                <a:latin typeface="Arial" panose="020B0604020202020204" pitchFamily="34" charset="0"/>
                <a:cs typeface="Arial" panose="020B0604020202020204" pitchFamily="34" charset="0"/>
              </a:rPr>
              <a:t> –, ce pays </a:t>
            </a:r>
            <a:r>
              <a:rPr lang="fr-BE" sz="1600" dirty="0" err="1">
                <a:latin typeface="Arial" panose="020B0604020202020204" pitchFamily="34" charset="0"/>
                <a:cs typeface="Arial" panose="020B0604020202020204" pitchFamily="34" charset="0"/>
              </a:rPr>
              <a:t>décide</a:t>
            </a:r>
            <a:r>
              <a:rPr lang="fr-BE" sz="1600" dirty="0">
                <a:latin typeface="Arial" panose="020B0604020202020204" pitchFamily="34" charset="0"/>
                <a:cs typeface="Arial" panose="020B0604020202020204" pitchFamily="34" charset="0"/>
              </a:rPr>
              <a:t> de se retirer du Protocole.</a:t>
            </a:r>
          </a:p>
          <a:p>
            <a:pPr algn="just"/>
            <a:r>
              <a:rPr lang="fr-BE" sz="1600" dirty="0">
                <a:latin typeface="Arial" panose="020B0604020202020204" pitchFamily="34" charset="0"/>
                <a:cs typeface="Arial" panose="020B0604020202020204" pitchFamily="34" charset="0"/>
              </a:rPr>
              <a:t>Deuxième période d’engagement (« amendement de Doha » de 2012 ; couvre la période 2012-2020 ; objectif de -18% par rapport à 1990) : le Japon, la Nouvelle-Zélande et la Russie renoncent à y participer. Ne couvre que 15% des émissions mondiales.</a:t>
            </a:r>
            <a:endParaRPr lang="fr-BE" sz="1600" dirty="0"/>
          </a:p>
          <a:p>
            <a:pPr algn="just">
              <a:buFontTx/>
              <a:buChar char="-"/>
            </a:pPr>
            <a:endParaRPr lang="fr-BE" sz="1600" dirty="0">
              <a:latin typeface="Arial" panose="020B0604020202020204" pitchFamily="34" charset="0"/>
              <a:cs typeface="Arial" panose="020B0604020202020204" pitchFamily="34" charset="0"/>
            </a:endParaRPr>
          </a:p>
          <a:p>
            <a:pPr marL="0" indent="0" algn="just">
              <a:buNone/>
            </a:pPr>
            <a:endParaRPr lang="fr-BE" sz="1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ABED6E-5A54-FFC0-8ECF-4184E4185958}"/>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071606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5140048-B3C2-4C03-D6C6-D49C41772DCE}"/>
              </a:ext>
            </a:extLst>
          </p:cNvPr>
          <p:cNvPicPr>
            <a:picLocks noChangeAspect="1"/>
          </p:cNvPicPr>
          <p:nvPr/>
        </p:nvPicPr>
        <p:blipFill>
          <a:blip r:embed="rId2"/>
          <a:stretch>
            <a:fillRect/>
          </a:stretch>
        </p:blipFill>
        <p:spPr>
          <a:xfrm>
            <a:off x="807565" y="268039"/>
            <a:ext cx="5564059" cy="6214403"/>
          </a:xfrm>
          <a:prstGeom prst="rect">
            <a:avLst/>
          </a:prstGeom>
        </p:spPr>
      </p:pic>
      <p:cxnSp>
        <p:nvCxnSpPr>
          <p:cNvPr id="13" name="Straight Arrow Connector 12">
            <a:extLst>
              <a:ext uri="{FF2B5EF4-FFF2-40B4-BE49-F238E27FC236}">
                <a16:creationId xmlns:a16="http://schemas.microsoft.com/office/drawing/2014/main" id="{F5889331-44DF-576A-F78B-066E4A70E545}"/>
              </a:ext>
            </a:extLst>
          </p:cNvPr>
          <p:cNvCxnSpPr>
            <a:cxnSpLocks/>
          </p:cNvCxnSpPr>
          <p:nvPr/>
        </p:nvCxnSpPr>
        <p:spPr>
          <a:xfrm flipV="1">
            <a:off x="5966296" y="3958542"/>
            <a:ext cx="1742443" cy="2129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89D5AD3-5359-8961-231C-2DDB3CDEF9F7}"/>
              </a:ext>
            </a:extLst>
          </p:cNvPr>
          <p:cNvSpPr txBox="1"/>
          <p:nvPr/>
        </p:nvSpPr>
        <p:spPr>
          <a:xfrm>
            <a:off x="7708739" y="3241438"/>
            <a:ext cx="3624943"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COP15 </a:t>
            </a:r>
            <a:r>
              <a:rPr kumimoji="0" lang="en-GB" sz="1800" b="0" i="0" u="none" strike="noStrike" kern="1200" cap="none" spc="0" normalizeH="0" baseline="0" noProof="0" dirty="0" err="1">
                <a:ln>
                  <a:noFill/>
                </a:ln>
                <a:solidFill>
                  <a:prstClr val="black"/>
                </a:solidFill>
                <a:effectLst/>
                <a:uLnTx/>
                <a:uFillTx/>
                <a:latin typeface="Aptos" panose="02110004020202020204"/>
                <a:ea typeface="+mn-ea"/>
                <a:cs typeface="+mn-cs"/>
              </a:rPr>
              <a:t>Conférence</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de </a:t>
            </a:r>
            <a:r>
              <a:rPr kumimoji="0" lang="en-GB" sz="1800" b="0" i="0" u="none" strike="noStrike" kern="1200" cap="none" spc="0" normalizeH="0" baseline="0" noProof="0" dirty="0" err="1">
                <a:ln>
                  <a:noFill/>
                </a:ln>
                <a:solidFill>
                  <a:prstClr val="black"/>
                </a:solidFill>
                <a:effectLst/>
                <a:uLnTx/>
                <a:uFillTx/>
                <a:latin typeface="Aptos" panose="02110004020202020204"/>
                <a:ea typeface="+mn-ea"/>
                <a:cs typeface="+mn-cs"/>
              </a:rPr>
              <a:t>Copenhague</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GB" sz="1800" b="0" i="0" u="none" strike="noStrike" kern="1200" cap="none" spc="0" normalizeH="0" baseline="0" noProof="0" dirty="0" err="1">
                <a:ln>
                  <a:noFill/>
                </a:ln>
                <a:solidFill>
                  <a:prstClr val="black"/>
                </a:solidFill>
                <a:effectLst/>
                <a:uLnTx/>
                <a:uFillTx/>
                <a:latin typeface="Aptos" panose="02110004020202020204"/>
                <a:ea typeface="+mn-ea"/>
                <a:cs typeface="+mn-cs"/>
              </a:rPr>
              <a:t>L’échec</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de la COP </a:t>
            </a:r>
            <a:r>
              <a:rPr kumimoji="0" lang="en-GB" sz="1800" b="0" i="0" u="none" strike="noStrike" kern="1200" cap="none" spc="0" normalizeH="0" baseline="0" noProof="0" dirty="0" err="1">
                <a:ln>
                  <a:noFill/>
                </a:ln>
                <a:solidFill>
                  <a:prstClr val="black"/>
                </a:solidFill>
                <a:effectLst/>
                <a:uLnTx/>
                <a:uFillTx/>
                <a:latin typeface="Aptos" panose="02110004020202020204"/>
                <a:ea typeface="+mn-ea"/>
                <a:cs typeface="+mn-cs"/>
              </a:rPr>
              <a:t>devant</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GB" sz="1800" b="0" i="0" u="none" strike="noStrike" kern="1200" cap="none" spc="0" normalizeH="0" baseline="0" noProof="0" dirty="0" err="1">
                <a:ln>
                  <a:noFill/>
                </a:ln>
                <a:solidFill>
                  <a:prstClr val="black"/>
                </a:solidFill>
                <a:effectLst/>
                <a:uLnTx/>
                <a:uFillTx/>
                <a:latin typeface="Aptos" panose="02110004020202020204"/>
                <a:ea typeface="+mn-ea"/>
                <a:cs typeface="+mn-cs"/>
              </a:rPr>
              <a:t>succédée</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à Kyoto.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MAIS première mention </a:t>
            </a:r>
            <a:r>
              <a:rPr kumimoji="0" lang="en-GB" sz="1800" b="0" i="0" u="none" strike="noStrike" kern="1200" cap="none" spc="0" normalizeH="0" baseline="0" noProof="0" dirty="0" err="1">
                <a:ln>
                  <a:noFill/>
                </a:ln>
                <a:solidFill>
                  <a:prstClr val="black"/>
                </a:solidFill>
                <a:effectLst/>
                <a:uLnTx/>
                <a:uFillTx/>
                <a:latin typeface="Aptos" panose="02110004020202020204"/>
                <a:ea typeface="+mn-ea"/>
                <a:cs typeface="+mn-cs"/>
              </a:rPr>
              <a:t>objectif</a:t>
            </a: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 des 2°C </a:t>
            </a:r>
          </a:p>
        </p:txBody>
      </p:sp>
      <p:sp>
        <p:nvSpPr>
          <p:cNvPr id="2" name="Slide Number Placeholder 1">
            <a:extLst>
              <a:ext uri="{FF2B5EF4-FFF2-40B4-BE49-F238E27FC236}">
                <a16:creationId xmlns:a16="http://schemas.microsoft.com/office/drawing/2014/main" id="{98C6F8B5-B136-4697-8726-E525E1BA5C8D}"/>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BE"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16517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p:cNvGrpSpPr/>
          <p:nvPr/>
        </p:nvGrpSpPr>
        <p:grpSpPr>
          <a:xfrm>
            <a:off x="4807983" y="914613"/>
            <a:ext cx="7182734" cy="4929848"/>
            <a:chOff x="-1" y="0"/>
            <a:chExt cx="9162313" cy="6858001"/>
          </a:xfrm>
        </p:grpSpPr>
        <p:pic>
          <p:nvPicPr>
            <p:cNvPr id="8" name="Image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 y="0"/>
              <a:ext cx="9162313" cy="6858001"/>
            </a:xfrm>
            <a:prstGeom prst="rect">
              <a:avLst/>
            </a:prstGeom>
          </p:spPr>
        </p:pic>
        <p:sp>
          <p:nvSpPr>
            <p:cNvPr id="9" name="Rectangle 8"/>
            <p:cNvSpPr/>
            <p:nvPr/>
          </p:nvSpPr>
          <p:spPr>
            <a:xfrm>
              <a:off x="5292080" y="6453336"/>
              <a:ext cx="3729685" cy="21602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grpSp>
      <p:sp>
        <p:nvSpPr>
          <p:cNvPr id="10" name="ZoneTexte 9"/>
          <p:cNvSpPr txBox="1"/>
          <p:nvPr/>
        </p:nvSpPr>
        <p:spPr>
          <a:xfrm>
            <a:off x="5461875" y="1363600"/>
            <a:ext cx="4409824" cy="4031873"/>
          </a:xfrm>
          <a:prstGeom prst="rect">
            <a:avLst/>
          </a:prstGeom>
          <a:noFill/>
        </p:spPr>
        <p:txBody>
          <a:bodyPr wrap="square" rtlCol="0">
            <a:spAutoFit/>
          </a:bodyPr>
          <a:lstStyle/>
          <a:p>
            <a:pPr marL="444500" marR="0" lvl="0" indent="-444500" algn="l" defTabSz="914400" rtl="0" eaLnBrk="1" fontAlgn="auto" latinLnBrk="0" hangingPunct="1">
              <a:lnSpc>
                <a:spcPct val="100000"/>
              </a:lnSpc>
              <a:spcBef>
                <a:spcPts val="600"/>
              </a:spcBef>
              <a:spcAft>
                <a:spcPts val="1800"/>
              </a:spcAft>
              <a:buClrTx/>
              <a:buSzTx/>
              <a:buFont typeface="Courier New" panose="02070309020205020404" pitchFamily="49" charset="0"/>
              <a:buChar char="o"/>
              <a:tabLst/>
              <a:defRPr/>
            </a:pPr>
            <a:r>
              <a:rPr kumimoji="0" lang="fr-BE" sz="3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ptos" panose="02110004020202020204"/>
                <a:ea typeface="+mn-ea"/>
                <a:cs typeface="+mn-cs"/>
              </a:rPr>
              <a:t>196 Parties</a:t>
            </a:r>
          </a:p>
          <a:p>
            <a:pPr marL="444500" marR="0" lvl="0" indent="-444500" algn="l" defTabSz="914400" rtl="0" eaLnBrk="1" fontAlgn="auto" latinLnBrk="0" hangingPunct="1">
              <a:lnSpc>
                <a:spcPct val="100000"/>
              </a:lnSpc>
              <a:spcBef>
                <a:spcPts val="600"/>
              </a:spcBef>
              <a:spcAft>
                <a:spcPts val="1800"/>
              </a:spcAft>
              <a:buClrTx/>
              <a:buSzTx/>
              <a:buFont typeface="Courier New" panose="02070309020205020404" pitchFamily="49" charset="0"/>
              <a:buChar char="o"/>
              <a:tabLst/>
              <a:defRPr/>
            </a:pPr>
            <a:r>
              <a:rPr kumimoji="0" lang="fr-BE" sz="3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ptos" panose="02110004020202020204"/>
                <a:ea typeface="+mn-ea"/>
                <a:cs typeface="+mn-cs"/>
              </a:rPr>
              <a:t>150 Chefs d’Etat et de Gouvernements</a:t>
            </a:r>
          </a:p>
          <a:p>
            <a:pPr marL="444500" marR="0" lvl="0" indent="-444500" algn="l" defTabSz="914400" rtl="0" eaLnBrk="1" fontAlgn="auto" latinLnBrk="0" hangingPunct="1">
              <a:lnSpc>
                <a:spcPct val="100000"/>
              </a:lnSpc>
              <a:spcBef>
                <a:spcPts val="600"/>
              </a:spcBef>
              <a:spcAft>
                <a:spcPts val="1800"/>
              </a:spcAft>
              <a:buClrTx/>
              <a:buSzTx/>
              <a:buFont typeface="Courier New" panose="02070309020205020404" pitchFamily="49" charset="0"/>
              <a:buChar char="o"/>
              <a:tabLst/>
              <a:defRPr/>
            </a:pPr>
            <a:r>
              <a:rPr kumimoji="0" lang="fr-BE" sz="3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ptos" panose="02110004020202020204"/>
                <a:ea typeface="+mn-ea"/>
                <a:cs typeface="+mn-cs"/>
              </a:rPr>
              <a:t>36 276 participants</a:t>
            </a:r>
          </a:p>
        </p:txBody>
      </p:sp>
      <p:sp>
        <p:nvSpPr>
          <p:cNvPr id="2" name="Titre 1"/>
          <p:cNvSpPr>
            <a:spLocks noGrp="1"/>
          </p:cNvSpPr>
          <p:nvPr>
            <p:ph type="title"/>
          </p:nvPr>
        </p:nvSpPr>
        <p:spPr/>
        <p:txBody>
          <a:bodyPr>
            <a:normAutofit/>
          </a:bodyPr>
          <a:lstStyle/>
          <a:p>
            <a:r>
              <a:rPr lang="fr-BE" sz="2800" dirty="0"/>
              <a:t>2015 Accord de Paris</a:t>
            </a:r>
            <a:br>
              <a:rPr lang="fr-BE" sz="2800" dirty="0"/>
            </a:br>
            <a:r>
              <a:rPr lang="fr-BE" sz="2800" dirty="0"/>
              <a:t>COP.21: le ‘</a:t>
            </a:r>
            <a:r>
              <a:rPr lang="fr-BE" sz="2800" dirty="0" err="1"/>
              <a:t>momentum</a:t>
            </a:r>
            <a:r>
              <a:rPr lang="fr-BE" sz="2800" dirty="0"/>
              <a:t>’</a:t>
            </a:r>
            <a:endParaRPr lang="en-US" sz="2800" dirty="0"/>
          </a:p>
        </p:txBody>
      </p:sp>
      <p:pic>
        <p:nvPicPr>
          <p:cNvPr id="11" name="Picture 2" descr="COP21/CMP11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839" y="1833798"/>
            <a:ext cx="1794124" cy="2437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11657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3BA53-31E8-DEE4-C146-15E1EF75A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B7EC4-4C1B-D475-B794-B0B0269D0218}"/>
              </a:ext>
            </a:extLst>
          </p:cNvPr>
          <p:cNvSpPr>
            <a:spLocks noGrp="1"/>
          </p:cNvSpPr>
          <p:nvPr>
            <p:ph type="title"/>
          </p:nvPr>
        </p:nvSpPr>
        <p:spPr>
          <a:xfrm>
            <a:off x="378843" y="328806"/>
            <a:ext cx="11353800" cy="1325563"/>
          </a:xfrm>
        </p:spPr>
        <p:txBody>
          <a:bodyPr>
            <a:normAutofit/>
          </a:bodyPr>
          <a:lstStyle/>
          <a:p>
            <a:r>
              <a:rPr lang="fr-BE" sz="3200" dirty="0"/>
              <a:t>L’accord de Paris - contenu</a:t>
            </a:r>
            <a:endParaRPr lang="en-BE" sz="3200" dirty="0"/>
          </a:p>
        </p:txBody>
      </p:sp>
      <p:sp>
        <p:nvSpPr>
          <p:cNvPr id="3" name="Content Placeholder 2">
            <a:extLst>
              <a:ext uri="{FF2B5EF4-FFF2-40B4-BE49-F238E27FC236}">
                <a16:creationId xmlns:a16="http://schemas.microsoft.com/office/drawing/2014/main" id="{BEB3534B-1AD2-D079-61F6-D0D30C8B66AA}"/>
              </a:ext>
            </a:extLst>
          </p:cNvPr>
          <p:cNvSpPr>
            <a:spLocks noGrp="1"/>
          </p:cNvSpPr>
          <p:nvPr>
            <p:ph idx="1"/>
          </p:nvPr>
        </p:nvSpPr>
        <p:spPr>
          <a:xfrm>
            <a:off x="838199" y="1825625"/>
            <a:ext cx="10667035" cy="4115100"/>
          </a:xfrm>
        </p:spPr>
        <p:txBody>
          <a:bodyPr>
            <a:normAutofit/>
          </a:bodyPr>
          <a:lstStyle/>
          <a:p>
            <a:pPr marL="285750" indent="-285750" algn="just">
              <a:spcBef>
                <a:spcPts val="0"/>
              </a:spcBef>
            </a:pPr>
            <a:r>
              <a:rPr lang="fr-BE" sz="2400" dirty="0">
                <a:cs typeface="Arial" panose="020B0604020202020204" pitchFamily="34" charset="0"/>
              </a:rPr>
              <a:t>Art. 2.1a (objectif de température) : </a:t>
            </a:r>
            <a:r>
              <a:rPr lang="fr-BE" sz="2400" i="1" dirty="0">
                <a:cs typeface="Arial" panose="020B0604020202020204" pitchFamily="34" charset="0"/>
              </a:rPr>
              <a:t>« </a:t>
            </a:r>
            <a:r>
              <a:rPr lang="fr-FR" sz="2400" i="1" dirty="0">
                <a:cs typeface="Arial" panose="020B0604020202020204" pitchFamily="34" charset="0"/>
              </a:rPr>
              <a:t>contenir l'élévation de température moyenne de la planète nettement en dessous de 2°C par rapport aux niveaux préindustriels et poursuivre l'action menée pour limiter cette élévation à 1,5°C par, étant entendu que cela réduirait sensiblement les risques. »</a:t>
            </a:r>
            <a:endParaRPr lang="fr-BE" sz="2400" i="1" dirty="0">
              <a:cs typeface="Arial" panose="020B0604020202020204" pitchFamily="34" charset="0"/>
            </a:endParaRPr>
          </a:p>
          <a:p>
            <a:pPr marL="285750" indent="-285750" algn="just">
              <a:spcBef>
                <a:spcPts val="0"/>
              </a:spcBef>
            </a:pPr>
            <a:r>
              <a:rPr lang="fr-BE" sz="2400" dirty="0">
                <a:cs typeface="Arial" panose="020B0604020202020204" pitchFamily="34" charset="0"/>
              </a:rPr>
              <a:t>Art. 4 (objectif de réduction des émissions) : </a:t>
            </a:r>
            <a:r>
              <a:rPr lang="fr-BE" sz="2400" i="1" dirty="0">
                <a:cs typeface="Arial" panose="020B0604020202020204" pitchFamily="34" charset="0"/>
              </a:rPr>
              <a:t>« </a:t>
            </a:r>
            <a:r>
              <a:rPr lang="fr-FR" sz="2400" i="1" dirty="0">
                <a:cs typeface="Arial" panose="020B0604020202020204" pitchFamily="34" charset="0"/>
              </a:rPr>
              <a:t>parvenir au plafonnement mondial des émissions de GES dans les meilleurs délais, étant entendu que le plafonnement prendra davantage de temps pour les pays en développement, et opérer des réductions rapides par la suite conformément aux meilleures données scientifiques disponibles de façon à parvenir à un équilibre entre les émissions par les sources et les absorptions par les puits de GES au cours de la 2</a:t>
            </a:r>
            <a:r>
              <a:rPr lang="fr-FR" sz="2400" i="1" baseline="30000" dirty="0">
                <a:cs typeface="Arial" panose="020B0604020202020204" pitchFamily="34" charset="0"/>
              </a:rPr>
              <a:t>ème</a:t>
            </a:r>
            <a:r>
              <a:rPr lang="fr-FR" sz="2400" i="1" dirty="0">
                <a:cs typeface="Arial" panose="020B0604020202020204" pitchFamily="34" charset="0"/>
              </a:rPr>
              <a:t> moitié du siècle. »</a:t>
            </a:r>
            <a:endParaRPr lang="en-US" sz="2400" i="1" dirty="0">
              <a:cs typeface="Arial" panose="020B0604020202020204" pitchFamily="34" charset="0"/>
            </a:endParaRPr>
          </a:p>
          <a:p>
            <a:pPr marL="0" indent="0">
              <a:buNone/>
            </a:pPr>
            <a:endParaRPr lang="fr-FR" b="1" i="0" dirty="0">
              <a:solidFill>
                <a:srgbClr val="4B5D68"/>
              </a:solidFill>
              <a:effectLst/>
              <a:latin typeface="Arial" panose="020B0604020202020204" pitchFamily="34" charset="0"/>
            </a:endParaRPr>
          </a:p>
          <a:p>
            <a:pPr marL="0" indent="0">
              <a:buNone/>
            </a:pPr>
            <a:endParaRPr lang="en-BE" dirty="0"/>
          </a:p>
        </p:txBody>
      </p:sp>
      <p:sp>
        <p:nvSpPr>
          <p:cNvPr id="4" name="Slide Number Placeholder 3">
            <a:extLst>
              <a:ext uri="{FF2B5EF4-FFF2-40B4-BE49-F238E27FC236}">
                <a16:creationId xmlns:a16="http://schemas.microsoft.com/office/drawing/2014/main" id="{04BBA466-D028-71BF-BFDF-50AA48874412}"/>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46354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A29C5-346A-A609-5D24-88C81AC48826}"/>
              </a:ext>
            </a:extLst>
          </p:cNvPr>
          <p:cNvSpPr>
            <a:spLocks noGrp="1"/>
          </p:cNvSpPr>
          <p:nvPr>
            <p:ph type="title"/>
          </p:nvPr>
        </p:nvSpPr>
        <p:spPr>
          <a:xfrm>
            <a:off x="378843" y="328806"/>
            <a:ext cx="11353800" cy="1325563"/>
          </a:xfrm>
        </p:spPr>
        <p:txBody>
          <a:bodyPr>
            <a:normAutofit/>
          </a:bodyPr>
          <a:lstStyle/>
          <a:p>
            <a:r>
              <a:rPr lang="fr-BE" sz="3200" dirty="0"/>
              <a:t>Pourquoi l’Accord de Paris est-il vu comme un « succès » politique ?</a:t>
            </a:r>
            <a:endParaRPr lang="en-BE" sz="3200" dirty="0"/>
          </a:p>
        </p:txBody>
      </p:sp>
      <p:sp>
        <p:nvSpPr>
          <p:cNvPr id="3" name="Content Placeholder 2">
            <a:extLst>
              <a:ext uri="{FF2B5EF4-FFF2-40B4-BE49-F238E27FC236}">
                <a16:creationId xmlns:a16="http://schemas.microsoft.com/office/drawing/2014/main" id="{306FF994-196C-2F0E-1497-7402AB1946A5}"/>
              </a:ext>
            </a:extLst>
          </p:cNvPr>
          <p:cNvSpPr>
            <a:spLocks noGrp="1"/>
          </p:cNvSpPr>
          <p:nvPr>
            <p:ph idx="1"/>
          </p:nvPr>
        </p:nvSpPr>
        <p:spPr>
          <a:xfrm>
            <a:off x="838200" y="1825625"/>
            <a:ext cx="6051430" cy="4115100"/>
          </a:xfrm>
        </p:spPr>
        <p:txBody>
          <a:bodyPr>
            <a:normAutofit fontScale="92500" lnSpcReduction="10000"/>
          </a:bodyPr>
          <a:lstStyle/>
          <a:p>
            <a:r>
              <a:rPr lang="fr-FR" sz="2400" i="0" dirty="0">
                <a:effectLst/>
                <a:latin typeface="Arial" panose="020B0604020202020204" pitchFamily="34" charset="0"/>
              </a:rPr>
              <a:t>Un texte historique ratifié par 194 Etats</a:t>
            </a:r>
          </a:p>
          <a:p>
            <a:r>
              <a:rPr lang="fr-FR" sz="2400" i="0" dirty="0">
                <a:effectLst/>
                <a:latin typeface="Arial" panose="020B0604020202020204" pitchFamily="34" charset="0"/>
              </a:rPr>
              <a:t>Contenir la hausse des températures</a:t>
            </a:r>
          </a:p>
          <a:p>
            <a:pPr>
              <a:buFont typeface="Symbol" panose="05050102010706020507" pitchFamily="18" charset="2"/>
              <a:buChar char="Þ"/>
            </a:pPr>
            <a:r>
              <a:rPr lang="fr-FR" sz="1600" b="0" i="0" dirty="0">
                <a:effectLst/>
                <a:latin typeface="Arial" panose="020B0604020202020204" pitchFamily="34" charset="0"/>
              </a:rPr>
              <a:t>L’Accord de Paris est </a:t>
            </a:r>
            <a:r>
              <a:rPr lang="fr-FR" sz="1600" b="1" i="0" dirty="0">
                <a:effectLst/>
                <a:latin typeface="Arial" panose="020B0604020202020204" pitchFamily="34" charset="0"/>
              </a:rPr>
              <a:t>un accord qui engage concrètement les États signataires</a:t>
            </a:r>
            <a:r>
              <a:rPr lang="fr-FR" sz="1600" b="0" i="0" dirty="0">
                <a:effectLst/>
                <a:latin typeface="Arial" panose="020B0604020202020204" pitchFamily="34" charset="0"/>
              </a:rPr>
              <a:t>. Ensemble, ils doivent </a:t>
            </a:r>
            <a:r>
              <a:rPr lang="fr-FR" sz="1600" b="1" i="0" dirty="0">
                <a:effectLst/>
                <a:latin typeface="Arial" panose="020B0604020202020204" pitchFamily="34" charset="0"/>
              </a:rPr>
              <a:t>contenir la hausse des températures bien en-dessous de 2 degrés</a:t>
            </a:r>
            <a:r>
              <a:rPr lang="fr-FR" sz="1600" b="0" i="0" dirty="0">
                <a:effectLst/>
                <a:latin typeface="Arial" panose="020B0604020202020204" pitchFamily="34" charset="0"/>
              </a:rPr>
              <a:t> tout en poursuivant leurs efforts pour la maintenir à 1,5 degré Celsius</a:t>
            </a:r>
            <a:r>
              <a:rPr lang="fr-FR" sz="1600" b="0" i="0" dirty="0">
                <a:solidFill>
                  <a:srgbClr val="4B5D68"/>
                </a:solidFill>
                <a:effectLst/>
                <a:latin typeface="Arial" panose="020B0604020202020204" pitchFamily="34" charset="0"/>
              </a:rPr>
              <a:t>.</a:t>
            </a:r>
          </a:p>
          <a:p>
            <a:r>
              <a:rPr lang="en-GB" sz="2400" i="0" dirty="0" err="1">
                <a:effectLst/>
                <a:latin typeface="Arial" panose="020B0604020202020204" pitchFamily="34" charset="0"/>
              </a:rPr>
              <a:t>Atteindre</a:t>
            </a:r>
            <a:r>
              <a:rPr lang="en-GB" sz="2400" i="0" dirty="0">
                <a:effectLst/>
                <a:latin typeface="Arial" panose="020B0604020202020204" pitchFamily="34" charset="0"/>
              </a:rPr>
              <a:t> </a:t>
            </a:r>
            <a:r>
              <a:rPr lang="en-GB" sz="2400" b="1" i="0" dirty="0">
                <a:effectLst/>
                <a:latin typeface="Arial" panose="020B0604020202020204" pitchFamily="34" charset="0"/>
              </a:rPr>
              <a:t>la </a:t>
            </a:r>
            <a:r>
              <a:rPr lang="en-GB" sz="2400" b="1" i="0" dirty="0" err="1">
                <a:effectLst/>
                <a:latin typeface="Arial" panose="020B0604020202020204" pitchFamily="34" charset="0"/>
              </a:rPr>
              <a:t>neutralité</a:t>
            </a:r>
            <a:r>
              <a:rPr lang="en-GB" sz="2400" b="1" i="0" dirty="0">
                <a:effectLst/>
                <a:latin typeface="Arial" panose="020B0604020202020204" pitchFamily="34" charset="0"/>
              </a:rPr>
              <a:t> </a:t>
            </a:r>
            <a:r>
              <a:rPr lang="en-GB" sz="2400" b="1" i="0" dirty="0" err="1">
                <a:effectLst/>
                <a:latin typeface="Arial" panose="020B0604020202020204" pitchFamily="34" charset="0"/>
              </a:rPr>
              <a:t>carbone</a:t>
            </a:r>
            <a:endParaRPr lang="en-GB" sz="2400" b="1" i="0" dirty="0">
              <a:effectLst/>
              <a:latin typeface="Arial" panose="020B0604020202020204" pitchFamily="34" charset="0"/>
            </a:endParaRPr>
          </a:p>
          <a:p>
            <a:r>
              <a:rPr lang="fr-FR" sz="2400" i="0" dirty="0">
                <a:effectLst/>
                <a:latin typeface="Arial" panose="020B0604020202020204" pitchFamily="34" charset="0"/>
              </a:rPr>
              <a:t>L’engagement financier des pays développés</a:t>
            </a:r>
          </a:p>
          <a:p>
            <a:r>
              <a:rPr lang="fr-FR" sz="2400" i="0" dirty="0">
                <a:effectLst/>
                <a:latin typeface="Arial" panose="020B0604020202020204" pitchFamily="34" charset="0"/>
              </a:rPr>
              <a:t>L’intégration de la société civile</a:t>
            </a:r>
          </a:p>
          <a:p>
            <a:pPr marL="0" indent="0">
              <a:buNone/>
            </a:pPr>
            <a:r>
              <a:rPr lang="fr-FR" sz="2400" dirty="0">
                <a:latin typeface="Arial" panose="020B0604020202020204" pitchFamily="34" charset="0"/>
              </a:rPr>
              <a:t>Mais….</a:t>
            </a:r>
          </a:p>
          <a:p>
            <a:r>
              <a:rPr lang="fr-FR" sz="2400" i="0" dirty="0">
                <a:effectLst/>
                <a:latin typeface="Arial" panose="020B0604020202020204" pitchFamily="34" charset="0"/>
              </a:rPr>
              <a:t>Pas réellement contraignant</a:t>
            </a:r>
          </a:p>
          <a:p>
            <a:r>
              <a:rPr lang="fr-FR" sz="2400" dirty="0">
                <a:latin typeface="Arial" panose="020B0604020202020204" pitchFamily="34" charset="0"/>
              </a:rPr>
              <a:t>Pas de sanctions</a:t>
            </a:r>
            <a:endParaRPr lang="fr-FR" sz="2400" i="0" dirty="0">
              <a:effectLst/>
              <a:latin typeface="Arial" panose="020B0604020202020204" pitchFamily="34" charset="0"/>
            </a:endParaRPr>
          </a:p>
          <a:p>
            <a:pPr marL="0" indent="0">
              <a:buNone/>
            </a:pPr>
            <a:endParaRPr lang="fr-FR" b="1" i="0" dirty="0">
              <a:solidFill>
                <a:srgbClr val="4B5D68"/>
              </a:solidFill>
              <a:effectLst/>
              <a:latin typeface="Arial" panose="020B0604020202020204" pitchFamily="34" charset="0"/>
            </a:endParaRPr>
          </a:p>
          <a:p>
            <a:pPr marL="0" indent="0">
              <a:buNone/>
            </a:pPr>
            <a:endParaRPr lang="en-BE" dirty="0"/>
          </a:p>
        </p:txBody>
      </p:sp>
      <p:cxnSp>
        <p:nvCxnSpPr>
          <p:cNvPr id="6" name="Straight Arrow Connector 5">
            <a:extLst>
              <a:ext uri="{FF2B5EF4-FFF2-40B4-BE49-F238E27FC236}">
                <a16:creationId xmlns:a16="http://schemas.microsoft.com/office/drawing/2014/main" id="{43C6F87B-4C2A-3490-68BD-010C421E911C}"/>
              </a:ext>
            </a:extLst>
          </p:cNvPr>
          <p:cNvCxnSpPr/>
          <p:nvPr/>
        </p:nvCxnSpPr>
        <p:spPr>
          <a:xfrm>
            <a:off x="6423803" y="3651849"/>
            <a:ext cx="177129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ZoneTexte 6">
            <a:extLst>
              <a:ext uri="{FF2B5EF4-FFF2-40B4-BE49-F238E27FC236}">
                <a16:creationId xmlns:a16="http://schemas.microsoft.com/office/drawing/2014/main" id="{16A1406D-FD00-FE84-314F-946676505FB7}"/>
              </a:ext>
            </a:extLst>
          </p:cNvPr>
          <p:cNvSpPr txBox="1"/>
          <p:nvPr/>
        </p:nvSpPr>
        <p:spPr>
          <a:xfrm>
            <a:off x="8485517" y="2247406"/>
            <a:ext cx="2999116" cy="3693319"/>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itchFamily="2" charset="2"/>
              <a:buChar char="à"/>
              <a:tabLst/>
              <a:defRPr/>
            </a:pPr>
            <a:r>
              <a:rPr kumimoji="0" lang="fr-FR"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sym typeface="Wingdings" pitchFamily="2" charset="2"/>
              </a:rPr>
              <a:t>Les objectifs de neutralité climatique envoient un signal important à l’ensemble des acteurs, notamment économiques.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sym typeface="Wingdings" pitchFamily="2" charset="2"/>
            </a:endParaRPr>
          </a:p>
          <a:p>
            <a:pPr marL="285750" marR="0" lvl="0" indent="-285750" algn="just" defTabSz="914400" rtl="0" eaLnBrk="1" fontAlgn="auto" latinLnBrk="0" hangingPunct="1">
              <a:lnSpc>
                <a:spcPct val="100000"/>
              </a:lnSpc>
              <a:spcBef>
                <a:spcPts val="0"/>
              </a:spcBef>
              <a:spcAft>
                <a:spcPts val="0"/>
              </a:spcAft>
              <a:buClrTx/>
              <a:buSzTx/>
              <a:buFont typeface="Wingdings" pitchFamily="2" charset="2"/>
              <a:buChar char="à"/>
              <a:tabLst/>
              <a:defRPr/>
            </a:pPr>
            <a:r>
              <a:rPr kumimoji="0" lang="fr-FR"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sym typeface="Wingdings" pitchFamily="2" charset="2"/>
              </a:rPr>
              <a:t>Mais leur crédibilité est discutable si les objectifs et actions de court et moyens termes ne suivent pas.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Slide Number Placeholder 3">
            <a:extLst>
              <a:ext uri="{FF2B5EF4-FFF2-40B4-BE49-F238E27FC236}">
                <a16:creationId xmlns:a16="http://schemas.microsoft.com/office/drawing/2014/main" id="{08AADA59-8C36-04F9-BA2D-1FE8F34BB578}"/>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92607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val="0"/>
              </a:ext>
            </a:extLst>
          </a:blip>
          <a:srcRect l="20019"/>
          <a:stretch/>
        </p:blipFill>
        <p:spPr>
          <a:xfrm>
            <a:off x="2468256" y="1112594"/>
            <a:ext cx="2694066" cy="1563371"/>
          </a:xfrm>
          <a:prstGeom prst="rect">
            <a:avLst/>
          </a:prstGeom>
        </p:spPr>
      </p:pic>
      <p:pic>
        <p:nvPicPr>
          <p:cNvPr id="15" name="Picture 11"/>
          <p:cNvPicPr>
            <a:picLocks noChangeAspect="1"/>
          </p:cNvPicPr>
          <p:nvPr/>
        </p:nvPicPr>
        <p:blipFill rotWithShape="1">
          <a:blip r:embed="rId4" cstate="screen">
            <a:clrChange>
              <a:clrFrom>
                <a:srgbClr val="FFFFFF"/>
              </a:clrFrom>
              <a:clrTo>
                <a:srgbClr val="FFFFFF">
                  <a:alpha val="0"/>
                </a:srgbClr>
              </a:clrTo>
            </a:clrChange>
            <a:extLst>
              <a:ext uri="{28A0092B-C50C-407E-A947-70E740481C1C}">
                <a14:useLocalDpi xmlns:a14="http://schemas.microsoft.com/office/drawing/2010/main" val="0"/>
              </a:ext>
            </a:extLst>
          </a:blip>
          <a:srcRect l="17687"/>
          <a:stretch/>
        </p:blipFill>
        <p:spPr>
          <a:xfrm>
            <a:off x="2023018" y="3832363"/>
            <a:ext cx="2761035" cy="1556830"/>
          </a:xfrm>
          <a:prstGeom prst="rect">
            <a:avLst/>
          </a:prstGeom>
        </p:spPr>
      </p:pic>
      <p:sp>
        <p:nvSpPr>
          <p:cNvPr id="16" name="TextBox 6"/>
          <p:cNvSpPr txBox="1"/>
          <p:nvPr/>
        </p:nvSpPr>
        <p:spPr>
          <a:xfrm>
            <a:off x="1499814" y="2721114"/>
            <a:ext cx="3708066" cy="70788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nl-BE" sz="2000" b="0"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rPr>
              <a:t>1992 - La Convention CCNUCC:</a:t>
            </a:r>
            <a:br>
              <a:rPr kumimoji="0" lang="nl-BE" sz="2000" b="0"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rPr>
            </a:br>
            <a:r>
              <a:rPr kumimoji="0" lang="nl-BE" sz="2000" b="1" i="0" u="none" strike="noStrike" kern="1200" cap="none" spc="0" normalizeH="0" baseline="0" noProof="0" dirty="0">
                <a:ln>
                  <a:noFill/>
                </a:ln>
                <a:solidFill>
                  <a:prstClr val="black">
                    <a:lumMod val="65000"/>
                    <a:lumOff val="35000"/>
                  </a:prstClr>
                </a:solidFill>
                <a:effectLst>
                  <a:outerShdw blurRad="38100" dist="38100" dir="2700000" algn="tl">
                    <a:srgbClr val="000000">
                      <a:alpha val="43137"/>
                    </a:srgbClr>
                  </a:outerShdw>
                </a:effectLst>
                <a:uLnTx/>
                <a:uFillTx/>
                <a:latin typeface="Aptos" panose="02110004020202020204"/>
                <a:ea typeface="+mn-ea"/>
                <a:cs typeface="+mn-cs"/>
              </a:rPr>
              <a:t>43</a:t>
            </a:r>
            <a:r>
              <a:rPr kumimoji="0" lang="nl-BE" sz="2000" b="1"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rPr>
              <a:t> </a:t>
            </a:r>
            <a:r>
              <a:rPr kumimoji="0" lang="nl-BE" sz="2000" b="0"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rPr>
              <a:t>Parties dans l’Annexe I</a:t>
            </a:r>
            <a:endParaRPr kumimoji="0" lang="en-GB" sz="2000" b="0"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endParaRPr>
          </a:p>
        </p:txBody>
      </p:sp>
      <p:sp>
        <p:nvSpPr>
          <p:cNvPr id="17" name="TextBox 13"/>
          <p:cNvSpPr txBox="1"/>
          <p:nvPr/>
        </p:nvSpPr>
        <p:spPr>
          <a:xfrm>
            <a:off x="1875075" y="5283007"/>
            <a:ext cx="340990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2000" b="0"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rPr>
              <a:t>1997 – </a:t>
            </a:r>
            <a:r>
              <a:rPr kumimoji="0" lang="nl-BE" sz="2000" b="0" i="0" u="none" strike="noStrike" kern="1200" cap="none" spc="0" normalizeH="0" baseline="0" noProof="0" dirty="0" err="1">
                <a:ln>
                  <a:noFill/>
                </a:ln>
                <a:solidFill>
                  <a:prstClr val="black">
                    <a:lumMod val="65000"/>
                    <a:lumOff val="35000"/>
                  </a:prstClr>
                </a:solidFill>
                <a:effectLst/>
                <a:uLnTx/>
                <a:uFillTx/>
                <a:latin typeface="Aptos" panose="02110004020202020204"/>
                <a:ea typeface="+mn-ea"/>
                <a:cs typeface="+mn-cs"/>
              </a:rPr>
              <a:t>le</a:t>
            </a:r>
            <a:r>
              <a:rPr kumimoji="0" lang="nl-BE" sz="2000" b="0"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rPr>
              <a:t> </a:t>
            </a:r>
            <a:r>
              <a:rPr kumimoji="0" lang="nl-BE" sz="2000" b="0" i="0" u="none" strike="noStrike" kern="1200" cap="none" spc="0" normalizeH="0" baseline="0" noProof="0" dirty="0" err="1">
                <a:ln>
                  <a:noFill/>
                </a:ln>
                <a:solidFill>
                  <a:prstClr val="black">
                    <a:lumMod val="65000"/>
                    <a:lumOff val="35000"/>
                  </a:prstClr>
                </a:solidFill>
                <a:effectLst/>
                <a:uLnTx/>
                <a:uFillTx/>
                <a:latin typeface="Aptos" panose="02110004020202020204"/>
                <a:ea typeface="+mn-ea"/>
                <a:cs typeface="+mn-cs"/>
              </a:rPr>
              <a:t>Protocole</a:t>
            </a:r>
            <a:r>
              <a:rPr kumimoji="0" lang="nl-BE" sz="2000" b="0"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rPr>
              <a:t> de Kyoto: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0" normalizeH="0" baseline="0" noProof="0" dirty="0">
                <a:ln>
                  <a:noFill/>
                </a:ln>
                <a:solidFill>
                  <a:prstClr val="black">
                    <a:lumMod val="65000"/>
                    <a:lumOff val="35000"/>
                  </a:prstClr>
                </a:solidFill>
                <a:effectLst>
                  <a:outerShdw blurRad="38100" dist="38100" dir="2700000" algn="tl">
                    <a:srgbClr val="000000">
                      <a:alpha val="43137"/>
                    </a:srgbClr>
                  </a:outerShdw>
                </a:effectLst>
                <a:uLnTx/>
                <a:uFillTx/>
                <a:latin typeface="Aptos" panose="02110004020202020204"/>
                <a:ea typeface="+mn-ea"/>
                <a:cs typeface="+mn-cs"/>
              </a:rPr>
              <a:t>39</a:t>
            </a:r>
            <a:r>
              <a:rPr kumimoji="0" lang="nl-BE" sz="2000" b="1"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rPr>
              <a:t> </a:t>
            </a:r>
            <a:r>
              <a:rPr kumimoji="0" lang="nl-BE" sz="2000" b="0" i="0" u="none" strike="noStrike" kern="1200" cap="none" spc="0" normalizeH="0" baseline="0" noProof="0" dirty="0" err="1">
                <a:ln>
                  <a:noFill/>
                </a:ln>
                <a:solidFill>
                  <a:prstClr val="black">
                    <a:lumMod val="65000"/>
                    <a:lumOff val="35000"/>
                  </a:prstClr>
                </a:solidFill>
                <a:effectLst/>
                <a:uLnTx/>
                <a:uFillTx/>
                <a:latin typeface="Aptos" panose="02110004020202020204"/>
                <a:ea typeface="+mn-ea"/>
                <a:cs typeface="+mn-cs"/>
              </a:rPr>
              <a:t>Parties</a:t>
            </a:r>
            <a:r>
              <a:rPr kumimoji="0" lang="nl-BE" sz="2000" b="0"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rPr>
              <a:t> dans </a:t>
            </a:r>
            <a:r>
              <a:rPr kumimoji="0" lang="nl-BE" sz="2000" b="0" i="0" u="none" strike="noStrike" kern="1200" cap="none" spc="0" normalizeH="0" baseline="0" noProof="0" dirty="0" err="1">
                <a:ln>
                  <a:noFill/>
                </a:ln>
                <a:solidFill>
                  <a:prstClr val="black">
                    <a:lumMod val="65000"/>
                    <a:lumOff val="35000"/>
                  </a:prstClr>
                </a:solidFill>
                <a:effectLst/>
                <a:uLnTx/>
                <a:uFillTx/>
                <a:latin typeface="Aptos" panose="02110004020202020204"/>
                <a:ea typeface="+mn-ea"/>
                <a:cs typeface="+mn-cs"/>
              </a:rPr>
              <a:t>l’Annexe</a:t>
            </a:r>
            <a:r>
              <a:rPr kumimoji="0" lang="nl-BE" sz="2000" b="0"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rPr>
              <a:t> B</a:t>
            </a:r>
            <a:endParaRPr kumimoji="0" lang="en-GB" sz="2000" b="0" i="0" u="none" strike="noStrike" kern="1200" cap="none" spc="0" normalizeH="0" baseline="0" noProof="0" dirty="0">
              <a:ln>
                <a:noFill/>
              </a:ln>
              <a:solidFill>
                <a:prstClr val="black">
                  <a:lumMod val="65000"/>
                  <a:lumOff val="35000"/>
                </a:prstClr>
              </a:solidFill>
              <a:effectLst/>
              <a:uLnTx/>
              <a:uFillTx/>
              <a:latin typeface="Aptos" panose="02110004020202020204"/>
              <a:ea typeface="+mn-ea"/>
              <a:cs typeface="+mn-cs"/>
            </a:endParaRPr>
          </a:p>
        </p:txBody>
      </p:sp>
      <p:sp>
        <p:nvSpPr>
          <p:cNvPr id="18" name="TextBox 15"/>
          <p:cNvSpPr txBox="1"/>
          <p:nvPr/>
        </p:nvSpPr>
        <p:spPr>
          <a:xfrm>
            <a:off x="6782360" y="878617"/>
            <a:ext cx="308208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2000" b="0" i="0" u="none" strike="noStrike" kern="1200" cap="none" spc="0" normalizeH="0" baseline="0" noProof="0" dirty="0">
                <a:ln>
                  <a:noFill/>
                </a:ln>
                <a:solidFill>
                  <a:prstClr val="black">
                    <a:lumMod val="65000"/>
                    <a:lumOff val="35000"/>
                  </a:prstClr>
                </a:solidFill>
                <a:effectLst/>
                <a:highlight>
                  <a:srgbClr val="FFFF00"/>
                </a:highlight>
                <a:uLnTx/>
                <a:uFillTx/>
                <a:latin typeface="Aptos" panose="02110004020202020204"/>
                <a:ea typeface="+mn-ea"/>
                <a:cs typeface="+mn-cs"/>
              </a:rPr>
              <a:t>2015 - </a:t>
            </a:r>
            <a:r>
              <a:rPr kumimoji="0" lang="nl-BE" sz="2000" b="0" i="0" u="none" strike="noStrike" kern="1200" cap="none" spc="0" normalizeH="0" baseline="0" noProof="0" dirty="0" err="1">
                <a:ln>
                  <a:noFill/>
                </a:ln>
                <a:solidFill>
                  <a:prstClr val="black">
                    <a:lumMod val="65000"/>
                    <a:lumOff val="35000"/>
                  </a:prstClr>
                </a:solidFill>
                <a:effectLst/>
                <a:highlight>
                  <a:srgbClr val="FFFF00"/>
                </a:highlight>
                <a:uLnTx/>
                <a:uFillTx/>
                <a:latin typeface="Aptos" panose="02110004020202020204"/>
                <a:ea typeface="+mn-ea"/>
                <a:cs typeface="+mn-cs"/>
              </a:rPr>
              <a:t>Accord</a:t>
            </a:r>
            <a:r>
              <a:rPr kumimoji="0" lang="nl-BE" sz="2000" b="0" i="0" u="none" strike="noStrike" kern="1200" cap="none" spc="0" normalizeH="0" baseline="0" noProof="0" dirty="0">
                <a:ln>
                  <a:noFill/>
                </a:ln>
                <a:solidFill>
                  <a:prstClr val="black">
                    <a:lumMod val="65000"/>
                    <a:lumOff val="35000"/>
                  </a:prstClr>
                </a:solidFill>
                <a:effectLst/>
                <a:highlight>
                  <a:srgbClr val="FFFF00"/>
                </a:highlight>
                <a:uLnTx/>
                <a:uFillTx/>
                <a:latin typeface="Aptos" panose="02110004020202020204"/>
                <a:ea typeface="+mn-ea"/>
                <a:cs typeface="+mn-cs"/>
              </a:rPr>
              <a:t> de Paris: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2000" b="1" i="0" u="none" strike="noStrike" kern="1200" cap="none" spc="0" normalizeH="0" baseline="0" noProof="0" dirty="0">
                <a:ln>
                  <a:noFill/>
                </a:ln>
                <a:solidFill>
                  <a:prstClr val="black">
                    <a:lumMod val="65000"/>
                    <a:lumOff val="35000"/>
                  </a:prstClr>
                </a:solidFill>
                <a:effectLst/>
                <a:highlight>
                  <a:srgbClr val="FFFF00"/>
                </a:highlight>
                <a:uLnTx/>
                <a:uFillTx/>
                <a:latin typeface="Aptos" panose="02110004020202020204"/>
                <a:ea typeface="+mn-ea"/>
                <a:cs typeface="+mn-cs"/>
              </a:rPr>
              <a:t>192</a:t>
            </a:r>
            <a:r>
              <a:rPr kumimoji="0" lang="nl-BE" sz="2000" b="0" i="0" u="none" strike="noStrike" kern="1200" cap="none" spc="0" normalizeH="0" baseline="0" noProof="0" dirty="0">
                <a:ln>
                  <a:noFill/>
                </a:ln>
                <a:solidFill>
                  <a:prstClr val="black">
                    <a:lumMod val="65000"/>
                    <a:lumOff val="35000"/>
                  </a:prstClr>
                </a:solidFill>
                <a:effectLst/>
                <a:highlight>
                  <a:srgbClr val="FFFF00"/>
                </a:highlight>
                <a:uLnTx/>
                <a:uFillTx/>
                <a:latin typeface="Aptos" panose="02110004020202020204"/>
                <a:ea typeface="+mn-ea"/>
                <a:cs typeface="+mn-cs"/>
              </a:rPr>
              <a:t> </a:t>
            </a:r>
            <a:r>
              <a:rPr kumimoji="0" lang="nl-BE" sz="2000" b="0" i="0" u="none" strike="noStrike" kern="1200" cap="none" spc="0" normalizeH="0" baseline="0" noProof="0" dirty="0" err="1">
                <a:ln>
                  <a:noFill/>
                </a:ln>
                <a:solidFill>
                  <a:prstClr val="black">
                    <a:lumMod val="65000"/>
                    <a:lumOff val="35000"/>
                  </a:prstClr>
                </a:solidFill>
                <a:effectLst/>
                <a:highlight>
                  <a:srgbClr val="FFFF00"/>
                </a:highlight>
                <a:uLnTx/>
                <a:uFillTx/>
                <a:latin typeface="Aptos" panose="02110004020202020204"/>
                <a:ea typeface="+mn-ea"/>
                <a:cs typeface="+mn-cs"/>
              </a:rPr>
              <a:t>Parties</a:t>
            </a:r>
            <a:endParaRPr kumimoji="0" lang="nl-BE" sz="2000" b="0" i="0" u="none" strike="noStrike" kern="1200" cap="none" spc="0" normalizeH="0" baseline="0" noProof="0" dirty="0">
              <a:ln>
                <a:noFill/>
              </a:ln>
              <a:solidFill>
                <a:prstClr val="black">
                  <a:lumMod val="65000"/>
                  <a:lumOff val="35000"/>
                </a:prstClr>
              </a:solidFill>
              <a:effectLst/>
              <a:highlight>
                <a:srgbClr val="FFFF00"/>
              </a:highlight>
              <a:uLnTx/>
              <a:uFillTx/>
              <a:latin typeface="Aptos" panose="02110004020202020204"/>
              <a:ea typeface="+mn-ea"/>
              <a:cs typeface="+mn-cs"/>
            </a:endParaRPr>
          </a:p>
        </p:txBody>
      </p:sp>
      <p:pic>
        <p:nvPicPr>
          <p:cNvPr id="19" name="Picture 9">
            <a:extLst>
              <a:ext uri="{FF2B5EF4-FFF2-40B4-BE49-F238E27FC236}">
                <a16:creationId xmlns:a16="http://schemas.microsoft.com/office/drawing/2014/main" id="{53A3DAA7-3C81-4ACA-B852-050CB58C782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6355080" y="3995092"/>
            <a:ext cx="4122014" cy="488660"/>
          </a:xfrm>
          <a:prstGeom prst="rect">
            <a:avLst/>
          </a:prstGeom>
        </p:spPr>
      </p:pic>
      <p:sp>
        <p:nvSpPr>
          <p:cNvPr id="20" name="Rectangle 19">
            <a:extLst>
              <a:ext uri="{FF2B5EF4-FFF2-40B4-BE49-F238E27FC236}">
                <a16:creationId xmlns:a16="http://schemas.microsoft.com/office/drawing/2014/main" id="{18C1FAB8-A8CF-488D-BFAE-80E59EA9CA11}"/>
              </a:ext>
            </a:extLst>
          </p:cNvPr>
          <p:cNvSpPr/>
          <p:nvPr/>
        </p:nvSpPr>
        <p:spPr>
          <a:xfrm>
            <a:off x="6355080" y="3511550"/>
            <a:ext cx="1059180" cy="43274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21" name="Picture 4">
            <a:extLst>
              <a:ext uri="{FF2B5EF4-FFF2-40B4-BE49-F238E27FC236}">
                <a16:creationId xmlns:a16="http://schemas.microsoft.com/office/drawing/2014/main" id="{221FD053-D933-491C-B14C-864603A9AB76}"/>
              </a:ext>
            </a:extLst>
          </p:cNvPr>
          <p:cNvPicPr>
            <a:picLocks noChangeAspect="1"/>
          </p:cNvPicPr>
          <p:nvPr/>
        </p:nvPicPr>
        <p:blipFill rotWithShape="1">
          <a:blip r:embed="rId6"/>
          <a:srcRect l="12063" t="44283" r="62381" b="13086"/>
          <a:stretch/>
        </p:blipFill>
        <p:spPr>
          <a:xfrm>
            <a:off x="7501266" y="4610779"/>
            <a:ext cx="1755673" cy="1646625"/>
          </a:xfrm>
          <a:prstGeom prst="rect">
            <a:avLst/>
          </a:prstGeom>
        </p:spPr>
      </p:pic>
      <p:pic>
        <p:nvPicPr>
          <p:cNvPr id="22" name="Picture 15">
            <a:extLst>
              <a:ext uri="{FF2B5EF4-FFF2-40B4-BE49-F238E27FC236}">
                <a16:creationId xmlns:a16="http://schemas.microsoft.com/office/drawing/2014/main" id="{1E83036F-A9A9-4D69-9F44-FF42881311CC}"/>
              </a:ext>
            </a:extLst>
          </p:cNvPr>
          <p:cNvPicPr>
            <a:picLocks noChangeAspect="1"/>
          </p:cNvPicPr>
          <p:nvPr/>
        </p:nvPicPr>
        <p:blipFill rotWithShape="1">
          <a:blip r:embed="rId7"/>
          <a:srcRect l="14776" t="26477" r="13954" b="8487"/>
          <a:stretch/>
        </p:blipFill>
        <p:spPr>
          <a:xfrm>
            <a:off x="6395723" y="1962150"/>
            <a:ext cx="3966759" cy="2035132"/>
          </a:xfrm>
          <a:custGeom>
            <a:avLst/>
            <a:gdLst>
              <a:gd name="connsiteX0" fmla="*/ 0 w 6516914"/>
              <a:gd name="connsiteY0" fmla="*/ 0 h 3381829"/>
              <a:gd name="connsiteX1" fmla="*/ 5428343 w 6516914"/>
              <a:gd name="connsiteY1" fmla="*/ 0 h 3381829"/>
              <a:gd name="connsiteX2" fmla="*/ 5428343 w 6516914"/>
              <a:gd name="connsiteY2" fmla="*/ 300127 h 3381829"/>
              <a:gd name="connsiteX3" fmla="*/ 6516914 w 6516914"/>
              <a:gd name="connsiteY3" fmla="*/ 300127 h 3381829"/>
              <a:gd name="connsiteX4" fmla="*/ 6516914 w 6516914"/>
              <a:gd name="connsiteY4" fmla="*/ 3381829 h 3381829"/>
              <a:gd name="connsiteX5" fmla="*/ 362857 w 6516914"/>
              <a:gd name="connsiteY5" fmla="*/ 3381829 h 3381829"/>
              <a:gd name="connsiteX6" fmla="*/ 362857 w 6516914"/>
              <a:gd name="connsiteY6" fmla="*/ 2656115 h 3381829"/>
              <a:gd name="connsiteX7" fmla="*/ 0 w 6516914"/>
              <a:gd name="connsiteY7" fmla="*/ 2656115 h 3381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6914" h="3381829">
                <a:moveTo>
                  <a:pt x="0" y="0"/>
                </a:moveTo>
                <a:lnTo>
                  <a:pt x="5428343" y="0"/>
                </a:lnTo>
                <a:lnTo>
                  <a:pt x="5428343" y="300127"/>
                </a:lnTo>
                <a:lnTo>
                  <a:pt x="6516914" y="300127"/>
                </a:lnTo>
                <a:lnTo>
                  <a:pt x="6516914" y="3381829"/>
                </a:lnTo>
                <a:lnTo>
                  <a:pt x="362857" y="3381829"/>
                </a:lnTo>
                <a:lnTo>
                  <a:pt x="362857" y="2656115"/>
                </a:lnTo>
                <a:lnTo>
                  <a:pt x="0" y="2656115"/>
                </a:lnTo>
                <a:close/>
              </a:path>
            </a:pathLst>
          </a:custGeom>
        </p:spPr>
      </p:pic>
      <p:sp>
        <p:nvSpPr>
          <p:cNvPr id="25" name="Titre 1">
            <a:extLst>
              <a:ext uri="{FF2B5EF4-FFF2-40B4-BE49-F238E27FC236}">
                <a16:creationId xmlns:a16="http://schemas.microsoft.com/office/drawing/2014/main" id="{8ACDA6DB-B22B-E273-7FBD-7304CC71E748}"/>
              </a:ext>
            </a:extLst>
          </p:cNvPr>
          <p:cNvSpPr txBox="1">
            <a:spLocks/>
          </p:cNvSpPr>
          <p:nvPr/>
        </p:nvSpPr>
        <p:spPr>
          <a:xfrm>
            <a:off x="651653" y="313882"/>
            <a:ext cx="7886700" cy="5393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900" b="1" i="0" u="none" strike="noStrike" kern="1200" cap="none" spc="0" normalizeH="0" baseline="0" noProof="0" dirty="0">
                <a:ln>
                  <a:noFill/>
                </a:ln>
                <a:solidFill>
                  <a:prstClr val="black"/>
                </a:solidFill>
                <a:effectLst/>
                <a:uLnTx/>
                <a:uFillTx/>
                <a:latin typeface="Arial" panose="020B0604020202020204" pitchFamily="34" charset="0"/>
                <a:ea typeface="ヒラギノ角ゴ Pro W3" panose="020B0300000000000000" pitchFamily="34" charset="-128"/>
                <a:cs typeface="+mj-cs"/>
              </a:rPr>
              <a:t>Tous les pays s’engagent</a:t>
            </a:r>
          </a:p>
        </p:txBody>
      </p:sp>
      <p:sp>
        <p:nvSpPr>
          <p:cNvPr id="3" name="Slide Number Placeholder 2">
            <a:extLst>
              <a:ext uri="{FF2B5EF4-FFF2-40B4-BE49-F238E27FC236}">
                <a16:creationId xmlns:a16="http://schemas.microsoft.com/office/drawing/2014/main" id="{0C81679A-BBEB-9C68-C075-362FA97E6D57}"/>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4921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500"/>
                            </p:stCondLst>
                            <p:childTnLst>
                              <p:par>
                                <p:cTn id="8" presetID="26" presetClass="emph" presetSubtype="0" fill="hold" nodeType="afterEffect">
                                  <p:stCondLst>
                                    <p:cond delay="0"/>
                                  </p:stCondLst>
                                  <p:childTnLst>
                                    <p:animEffect transition="out" filter="fade">
                                      <p:cBhvr>
                                        <p:cTn id="9" dur="500" tmFilter="0, 0; .2, .5; .8, .5; 1, 0"/>
                                        <p:tgtEl>
                                          <p:spTgt spid="13"/>
                                        </p:tgtEl>
                                      </p:cBhvr>
                                    </p:animEffect>
                                    <p:animScale>
                                      <p:cBhvr>
                                        <p:cTn id="10" dur="250" autoRev="1" fill="hold"/>
                                        <p:tgtEl>
                                          <p:spTgt spid="13"/>
                                        </p:tgtEl>
                                      </p:cBhvr>
                                      <p:by x="105000" y="105000"/>
                                    </p:animScale>
                                  </p:childTnLst>
                                </p:cTn>
                              </p:par>
                            </p:childTnLst>
                          </p:cTn>
                        </p:par>
                        <p:par>
                          <p:cTn id="11" fill="hold">
                            <p:stCondLst>
                              <p:cond delay="1000"/>
                            </p:stCondLst>
                            <p:childTnLst>
                              <p:par>
                                <p:cTn id="12" presetID="22" presetClass="entr" presetSubtype="2"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right)">
                                      <p:cBhvr>
                                        <p:cTn id="14" dur="500"/>
                                        <p:tgtEl>
                                          <p:spTgt spid="16"/>
                                        </p:tgtEl>
                                      </p:cBhvr>
                                    </p:animEffect>
                                  </p:childTnLst>
                                </p:cTn>
                              </p:par>
                            </p:childTnLst>
                          </p:cTn>
                        </p:par>
                        <p:par>
                          <p:cTn id="15" fill="hold">
                            <p:stCondLst>
                              <p:cond delay="1500"/>
                            </p:stCondLst>
                            <p:childTnLst>
                              <p:par>
                                <p:cTn id="16" presetID="1" presetClass="entr" presetSubtype="0" fill="hold" nodeType="afterEffect">
                                  <p:stCondLst>
                                    <p:cond delay="500"/>
                                  </p:stCondLst>
                                  <p:childTnLst>
                                    <p:set>
                                      <p:cBhvr>
                                        <p:cTn id="17" dur="1" fill="hold">
                                          <p:stCondLst>
                                            <p:cond delay="0"/>
                                          </p:stCondLst>
                                        </p:cTn>
                                        <p:tgtEl>
                                          <p:spTgt spid="15"/>
                                        </p:tgtEl>
                                        <p:attrNameLst>
                                          <p:attrName>style.visibility</p:attrName>
                                        </p:attrNameLst>
                                      </p:cBhvr>
                                      <p:to>
                                        <p:strVal val="visible"/>
                                      </p:to>
                                    </p:set>
                                  </p:childTnLst>
                                </p:cTn>
                              </p:par>
                            </p:childTnLst>
                          </p:cTn>
                        </p:par>
                        <p:par>
                          <p:cTn id="18" fill="hold">
                            <p:stCondLst>
                              <p:cond delay="2000"/>
                            </p:stCondLst>
                            <p:childTnLst>
                              <p:par>
                                <p:cTn id="19" presetID="26" presetClass="emph" presetSubtype="0" fill="hold" nodeType="afterEffect">
                                  <p:stCondLst>
                                    <p:cond delay="0"/>
                                  </p:stCondLst>
                                  <p:childTnLst>
                                    <p:animEffect transition="out" filter="fade">
                                      <p:cBhvr>
                                        <p:cTn id="20" dur="500" tmFilter="0, 0; .2, .5; .8, .5; 1, 0"/>
                                        <p:tgtEl>
                                          <p:spTgt spid="15"/>
                                        </p:tgtEl>
                                      </p:cBhvr>
                                    </p:animEffect>
                                    <p:animScale>
                                      <p:cBhvr>
                                        <p:cTn id="21" dur="250" autoRev="1" fill="hold"/>
                                        <p:tgtEl>
                                          <p:spTgt spid="15"/>
                                        </p:tgtEl>
                                      </p:cBhvr>
                                      <p:by x="105000" y="105000"/>
                                    </p:animScale>
                                  </p:childTnLst>
                                </p:cTn>
                              </p:par>
                            </p:childTnLst>
                          </p:cTn>
                        </p:par>
                        <p:par>
                          <p:cTn id="22" fill="hold">
                            <p:stCondLst>
                              <p:cond delay="2500"/>
                            </p:stCondLst>
                            <p:childTnLst>
                              <p:par>
                                <p:cTn id="23" presetID="22" presetClass="entr" presetSubtype="2"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right)">
                                      <p:cBhvr>
                                        <p:cTn id="25" dur="500"/>
                                        <p:tgtEl>
                                          <p:spTgt spid="17"/>
                                        </p:tgtEl>
                                      </p:cBhvr>
                                    </p:animEffect>
                                  </p:childTnLst>
                                </p:cTn>
                              </p:par>
                            </p:childTnLst>
                          </p:cTn>
                        </p:par>
                        <p:par>
                          <p:cTn id="26" fill="hold">
                            <p:stCondLst>
                              <p:cond delay="3000"/>
                            </p:stCondLst>
                            <p:childTnLst>
                              <p:par>
                                <p:cTn id="27" presetID="22" presetClass="entr" presetSubtype="1"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5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3E35D5BD-0A0C-E85C-C4B8-31360032749B}"/>
              </a:ext>
            </a:extLst>
          </p:cNvPr>
          <p:cNvPicPr>
            <a:picLocks noChangeAspect="1"/>
          </p:cNvPicPr>
          <p:nvPr/>
        </p:nvPicPr>
        <p:blipFill>
          <a:blip r:embed="rId2"/>
          <a:stretch>
            <a:fillRect/>
          </a:stretch>
        </p:blipFill>
        <p:spPr>
          <a:xfrm>
            <a:off x="2352252" y="1059567"/>
            <a:ext cx="7602070" cy="5014131"/>
          </a:xfrm>
          <a:prstGeom prst="rect">
            <a:avLst/>
          </a:prstGeom>
        </p:spPr>
      </p:pic>
      <p:sp>
        <p:nvSpPr>
          <p:cNvPr id="11" name="Titre 1">
            <a:extLst>
              <a:ext uri="{FF2B5EF4-FFF2-40B4-BE49-F238E27FC236}">
                <a16:creationId xmlns:a16="http://schemas.microsoft.com/office/drawing/2014/main" id="{2986B675-03B2-4A60-296A-66E7EB210E11}"/>
              </a:ext>
            </a:extLst>
          </p:cNvPr>
          <p:cNvSpPr txBox="1">
            <a:spLocks/>
          </p:cNvSpPr>
          <p:nvPr/>
        </p:nvSpPr>
        <p:spPr>
          <a:xfrm>
            <a:off x="668906" y="428388"/>
            <a:ext cx="7886700" cy="5393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900" b="1" i="0" u="none" strike="noStrike" kern="1200" cap="none" spc="0" normalizeH="0" baseline="0" noProof="0" dirty="0">
                <a:ln>
                  <a:noFill/>
                </a:ln>
                <a:solidFill>
                  <a:prstClr val="black"/>
                </a:solidFill>
                <a:effectLst/>
                <a:uLnTx/>
                <a:uFillTx/>
                <a:latin typeface="Arial" panose="020B0604020202020204" pitchFamily="34" charset="0"/>
                <a:ea typeface="ヒラギノ角ゴ Pro W3" panose="020B0300000000000000" pitchFamily="34" charset="-128"/>
                <a:cs typeface="+mj-cs"/>
              </a:rPr>
              <a:t>Architecture de l’Accord</a:t>
            </a:r>
          </a:p>
        </p:txBody>
      </p:sp>
      <p:sp>
        <p:nvSpPr>
          <p:cNvPr id="3" name="Slide Number Placeholder 2">
            <a:extLst>
              <a:ext uri="{FF2B5EF4-FFF2-40B4-BE49-F238E27FC236}">
                <a16:creationId xmlns:a16="http://schemas.microsoft.com/office/drawing/2014/main" id="{1F34E242-D261-CC25-FF52-1B6D446AC4EA}"/>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558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57147" y="1472898"/>
            <a:ext cx="8424000" cy="4500000"/>
          </a:xfrm>
        </p:spPr>
        <p:txBody>
          <a:bodyPr>
            <a:normAutofit/>
          </a:bodyPr>
          <a:lstStyle/>
          <a:p>
            <a:pPr marL="342900" indent="-342900">
              <a:spcBef>
                <a:spcPts val="1200"/>
              </a:spcBef>
            </a:pPr>
            <a:r>
              <a:rPr lang="fr-FR" sz="2000" dirty="0">
                <a:latin typeface="Arial" panose="020B0604020202020204" pitchFamily="34" charset="0"/>
                <a:cs typeface="Arial" panose="020B0604020202020204" pitchFamily="34" charset="0"/>
              </a:rPr>
              <a:t>Equilibre général de l’accord</a:t>
            </a:r>
          </a:p>
          <a:p>
            <a:pPr marL="342900" indent="-342900">
              <a:spcBef>
                <a:spcPts val="1200"/>
              </a:spcBef>
            </a:pPr>
            <a:r>
              <a:rPr lang="fr-FR" sz="2000" dirty="0">
                <a:latin typeface="Arial" panose="020B0604020202020204" pitchFamily="34" charset="0"/>
                <a:cs typeface="Arial" panose="020B0604020202020204" pitchFamily="34" charset="0"/>
              </a:rPr>
              <a:t>Prise en compte de l’équité (différenciation des efforts, promesses financières)</a:t>
            </a:r>
          </a:p>
          <a:p>
            <a:pPr marL="342900" indent="-342900">
              <a:spcBef>
                <a:spcPts val="1200"/>
              </a:spcBef>
            </a:pPr>
            <a:r>
              <a:rPr lang="fr-FR" sz="2000" dirty="0">
                <a:latin typeface="Arial" panose="020B0604020202020204" pitchFamily="34" charset="0"/>
                <a:cs typeface="Arial" panose="020B0604020202020204" pitchFamily="34" charset="0"/>
              </a:rPr>
              <a:t>Transparence et </a:t>
            </a:r>
            <a:r>
              <a:rPr lang="fr-FR" sz="2000" dirty="0" err="1">
                <a:latin typeface="Arial" panose="020B0604020202020204" pitchFamily="34" charset="0"/>
                <a:cs typeface="Arial" panose="020B0604020202020204" pitchFamily="34" charset="0"/>
              </a:rPr>
              <a:t>inclusivité</a:t>
            </a:r>
            <a:endParaRPr lang="fr-FR" sz="2000" dirty="0">
              <a:latin typeface="Arial" panose="020B0604020202020204" pitchFamily="34" charset="0"/>
              <a:cs typeface="Arial" panose="020B0604020202020204" pitchFamily="34" charset="0"/>
            </a:endParaRPr>
          </a:p>
          <a:p>
            <a:pPr marL="342900" indent="-342900">
              <a:spcBef>
                <a:spcPts val="1200"/>
              </a:spcBef>
            </a:pPr>
            <a:r>
              <a:rPr lang="fr-FR" sz="2000" dirty="0">
                <a:latin typeface="Arial" panose="020B0604020202020204" pitchFamily="34" charset="0"/>
                <a:cs typeface="Arial" panose="020B0604020202020204" pitchFamily="34" charset="0"/>
              </a:rPr>
              <a:t>Leadership et organisation sans faille de la COP21 par la présidence française</a:t>
            </a:r>
          </a:p>
          <a:p>
            <a:pPr marL="342900" indent="-342900">
              <a:spcBef>
                <a:spcPts val="1200"/>
              </a:spcBef>
            </a:pPr>
            <a:r>
              <a:rPr lang="fr-FR" sz="2000" dirty="0">
                <a:latin typeface="Arial" panose="020B0604020202020204" pitchFamily="34" charset="0"/>
                <a:cs typeface="Arial" panose="020B0604020202020204" pitchFamily="34" charset="0"/>
              </a:rPr>
              <a:t>Mobilisation vaste et inédite (acteurs étatiques et non-étatiques)</a:t>
            </a:r>
          </a:p>
          <a:p>
            <a:pPr marL="342900" indent="-342900">
              <a:spcBef>
                <a:spcPts val="1200"/>
              </a:spcBef>
            </a:pPr>
            <a:r>
              <a:rPr lang="fr-FR" sz="2000" dirty="0">
                <a:latin typeface="Arial" panose="020B0604020202020204" pitchFamily="34" charset="0"/>
                <a:cs typeface="Arial" panose="020B0604020202020204" pitchFamily="34" charset="0"/>
              </a:rPr>
              <a:t>Impacts climatiques de plus en plus visibles</a:t>
            </a:r>
          </a:p>
        </p:txBody>
      </p:sp>
      <p:sp>
        <p:nvSpPr>
          <p:cNvPr id="7" name="Titre 1">
            <a:extLst>
              <a:ext uri="{FF2B5EF4-FFF2-40B4-BE49-F238E27FC236}">
                <a16:creationId xmlns:a16="http://schemas.microsoft.com/office/drawing/2014/main" id="{5CCB7569-B637-4290-E104-21544424F7AD}"/>
              </a:ext>
            </a:extLst>
          </p:cNvPr>
          <p:cNvSpPr txBox="1">
            <a:spLocks/>
          </p:cNvSpPr>
          <p:nvPr/>
        </p:nvSpPr>
        <p:spPr>
          <a:xfrm>
            <a:off x="341103" y="615434"/>
            <a:ext cx="7886700" cy="5393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900" b="1" i="0" u="none" strike="noStrike" kern="1200" cap="none" spc="0" normalizeH="0" baseline="0" noProof="0" dirty="0">
                <a:ln>
                  <a:noFill/>
                </a:ln>
                <a:solidFill>
                  <a:prstClr val="black"/>
                </a:solidFill>
                <a:effectLst/>
                <a:uLnTx/>
                <a:uFillTx/>
                <a:latin typeface="Arial" panose="020B0604020202020204" pitchFamily="34" charset="0"/>
                <a:ea typeface="ヒラギノ角ゴ Pro W3" panose="020B0300000000000000" pitchFamily="34" charset="-128"/>
                <a:cs typeface="+mj-cs"/>
              </a:rPr>
              <a:t>Facteurs de succès</a:t>
            </a:r>
          </a:p>
        </p:txBody>
      </p:sp>
      <p:sp>
        <p:nvSpPr>
          <p:cNvPr id="4" name="Slide Number Placeholder 3">
            <a:extLst>
              <a:ext uri="{FF2B5EF4-FFF2-40B4-BE49-F238E27FC236}">
                <a16:creationId xmlns:a16="http://schemas.microsoft.com/office/drawing/2014/main" id="{377E25D3-988E-7F7F-50BD-205CCB89C033}"/>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5611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ZoneTexte 2">
            <a:extLst>
              <a:ext uri="{FF2B5EF4-FFF2-40B4-BE49-F238E27FC236}">
                <a16:creationId xmlns:a16="http://schemas.microsoft.com/office/drawing/2014/main" id="{9C3C92E0-74C6-2CC8-3AC2-75FADBC25B9B}"/>
              </a:ext>
            </a:extLst>
          </p:cNvPr>
          <p:cNvSpPr txBox="1">
            <a:spLocks noChangeArrowheads="1"/>
          </p:cNvSpPr>
          <p:nvPr/>
        </p:nvSpPr>
        <p:spPr bwMode="auto">
          <a:xfrm>
            <a:off x="172171" y="1361057"/>
            <a:ext cx="7108524" cy="4401205"/>
          </a:xfrm>
          <a:prstGeom prst="rect">
            <a:avLst/>
          </a:prstGeom>
          <a:noFill/>
          <a:ln>
            <a:noFill/>
          </a:ln>
        </p:spPr>
        <p:txBody>
          <a:bodyPr wrap="squar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altLang="fr-FR"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fr-FR" altLang="fr-FR"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Les Etats soumettent leurs promesses d’action climatique sous la forme de « contributions déterminées au niveau national » (en anglais, « </a:t>
            </a:r>
            <a:r>
              <a:rPr kumimoji="0" lang="fr-FR" altLang="fr-FR" sz="2000" b="1"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nationally</a:t>
            </a:r>
            <a:r>
              <a:rPr kumimoji="0" lang="fr-FR" altLang="fr-FR" sz="20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altLang="fr-FR" sz="2000" b="1"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determined</a:t>
            </a:r>
            <a:r>
              <a:rPr kumimoji="0" lang="fr-FR" altLang="fr-FR" sz="20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contributions – </a:t>
            </a:r>
            <a:r>
              <a:rPr kumimoji="0" lang="fr-FR" altLang="fr-FR" sz="2000" b="1"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NDCs</a:t>
            </a:r>
            <a:r>
              <a:rPr kumimoji="0" lang="fr-FR" altLang="fr-FR" sz="20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altLang="fr-FR"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tous les cinq ans (2015, 2020, 2025, etc.). Des stratégies nationales à long terme (« </a:t>
            </a:r>
            <a:r>
              <a:rPr kumimoji="0" lang="fr-FR" altLang="fr-FR" sz="20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mid-century</a:t>
            </a:r>
            <a:r>
              <a:rPr kumimoji="0" lang="fr-FR" altLang="fr-FR"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long-</a:t>
            </a:r>
            <a:r>
              <a:rPr kumimoji="0" lang="fr-FR" altLang="fr-FR" sz="20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term</a:t>
            </a:r>
            <a:r>
              <a:rPr kumimoji="0" lang="fr-FR" altLang="fr-FR"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altLang="fr-FR" sz="20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low</a:t>
            </a:r>
            <a:r>
              <a:rPr kumimoji="0" lang="fr-FR" altLang="fr-FR"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altLang="fr-FR" sz="20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greenhouse</a:t>
            </a:r>
            <a:r>
              <a:rPr kumimoji="0" lang="fr-FR" altLang="fr-FR"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altLang="fr-FR" sz="20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gas</a:t>
            </a:r>
            <a:r>
              <a:rPr kumimoji="0" lang="fr-FR" altLang="fr-FR"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altLang="fr-FR" sz="20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emission</a:t>
            </a:r>
            <a:r>
              <a:rPr kumimoji="0" lang="fr-FR" altLang="fr-FR"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altLang="fr-FR" sz="20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development</a:t>
            </a:r>
            <a:r>
              <a:rPr kumimoji="0" lang="fr-FR" altLang="fr-FR"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altLang="fr-FR" sz="20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strategies</a:t>
            </a:r>
            <a:r>
              <a:rPr kumimoji="0" lang="fr-FR" altLang="fr-FR"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altLang="fr-FR"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étaient également attendues avant 2020.</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endParaRPr kumimoji="0" lang="fr-FR" altLang="fr-FR"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fr-FR" altLang="fr-FR"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Un Bilan mondial (« </a:t>
            </a:r>
            <a:r>
              <a:rPr kumimoji="0" lang="fr-FR" altLang="fr-FR"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Global </a:t>
            </a:r>
            <a:r>
              <a:rPr kumimoji="0" lang="fr-FR" altLang="fr-FR" sz="2000" b="0" i="1"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Stocktake</a:t>
            </a:r>
            <a:r>
              <a:rPr kumimoji="0" lang="fr-FR" altLang="fr-FR"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altLang="fr-FR"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est organisé tous les cinq ans pour faire le point. Le premier Bilan mondial aura lieu en 2023.</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altLang="fr-FR"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Titre 1">
            <a:extLst>
              <a:ext uri="{FF2B5EF4-FFF2-40B4-BE49-F238E27FC236}">
                <a16:creationId xmlns:a16="http://schemas.microsoft.com/office/drawing/2014/main" id="{CF1FE0A8-0721-CED4-3F94-F8CD8D588542}"/>
              </a:ext>
            </a:extLst>
          </p:cNvPr>
          <p:cNvSpPr txBox="1">
            <a:spLocks/>
          </p:cNvSpPr>
          <p:nvPr/>
        </p:nvSpPr>
        <p:spPr>
          <a:xfrm>
            <a:off x="1008213" y="623919"/>
            <a:ext cx="7886700" cy="5393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900" b="1" i="0" u="none" strike="noStrike" kern="1200" cap="none" spc="0" normalizeH="0" baseline="0" noProof="0" dirty="0">
                <a:ln>
                  <a:noFill/>
                </a:ln>
                <a:solidFill>
                  <a:prstClr val="black"/>
                </a:solidFill>
                <a:effectLst/>
                <a:uLnTx/>
                <a:uFillTx/>
                <a:latin typeface="Arial" panose="020B0604020202020204" pitchFamily="34" charset="0"/>
                <a:ea typeface="ヒラギノ角ゴ Pro W3" panose="020B0300000000000000" pitchFamily="34" charset="-128"/>
                <a:cs typeface="+mj-cs"/>
              </a:rPr>
              <a:t>« Mécanique »</a:t>
            </a:r>
          </a:p>
        </p:txBody>
      </p:sp>
      <p:cxnSp>
        <p:nvCxnSpPr>
          <p:cNvPr id="3" name="Straight Arrow Connector 2">
            <a:extLst>
              <a:ext uri="{FF2B5EF4-FFF2-40B4-BE49-F238E27FC236}">
                <a16:creationId xmlns:a16="http://schemas.microsoft.com/office/drawing/2014/main" id="{D0439450-0479-85A1-081A-E6D738E9FB59}"/>
              </a:ext>
            </a:extLst>
          </p:cNvPr>
          <p:cNvCxnSpPr/>
          <p:nvPr/>
        </p:nvCxnSpPr>
        <p:spPr>
          <a:xfrm flipV="1">
            <a:off x="7453223" y="4468483"/>
            <a:ext cx="1017917" cy="4313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5EEE73A-5EB2-59C3-5F76-0AEED83341EC}"/>
              </a:ext>
            </a:extLst>
          </p:cNvPr>
          <p:cNvSpPr txBox="1"/>
          <p:nvPr/>
        </p:nvSpPr>
        <p:spPr>
          <a:xfrm>
            <a:off x="8735683" y="839639"/>
            <a:ext cx="3053751" cy="563231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424245"/>
                </a:solidFill>
                <a:effectLst/>
                <a:uLnTx/>
                <a:uFillTx/>
                <a:latin typeface="Arial" panose="020B0604020202020204" pitchFamily="34" charset="0"/>
                <a:ea typeface="+mn-ea"/>
                <a:cs typeface="Arial" panose="020B0604020202020204" pitchFamily="34" charset="0"/>
              </a:rPr>
              <a:t>“The report is again telling us the world is off track. COP28 is the moment for all Parties to come together and put actionable solutions on the table. We must be ready with real answers to tackle the challenges, eradicate 22 gigatons of emissions by 2030, strengthen global resilience and mobilize finance at the scale necessary to enable a just and equitable transition. Now is the time to Unite, Act, and Deliver a strong negotiated outcome on the Global Stocktake.” (UNFCCC, 2023)</a:t>
            </a:r>
            <a:endParaRPr kumimoji="0" lang="en-BE"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2E17CABF-A144-352E-1B59-CFB97E7FEB49}"/>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86196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1">
            <a:extLst>
              <a:ext uri="{FF2B5EF4-FFF2-40B4-BE49-F238E27FC236}">
                <a16:creationId xmlns:a16="http://schemas.microsoft.com/office/drawing/2014/main" id="{9AD21530-D8C0-6E72-1EBB-46FC8560D8E7}"/>
              </a:ext>
            </a:extLst>
          </p:cNvPr>
          <p:cNvSpPr txBox="1">
            <a:spLocks/>
          </p:cNvSpPr>
          <p:nvPr/>
        </p:nvSpPr>
        <p:spPr>
          <a:xfrm>
            <a:off x="2152650" y="365127"/>
            <a:ext cx="7886700" cy="5393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900" b="1" i="0" u="none" strike="noStrike" kern="1200" cap="none" spc="0" normalizeH="0" baseline="0" noProof="0" dirty="0">
                <a:ln>
                  <a:noFill/>
                </a:ln>
                <a:solidFill>
                  <a:srgbClr val="014A94"/>
                </a:solidFill>
                <a:effectLst/>
                <a:uLnTx/>
                <a:uFillTx/>
                <a:latin typeface="Arial" panose="020B0604020202020204" pitchFamily="34" charset="0"/>
                <a:ea typeface="ヒラギノ角ゴ Pro W3" panose="020B0300000000000000" pitchFamily="34" charset="-128"/>
                <a:cs typeface="+mj-cs"/>
              </a:rPr>
              <a:t>Exemples de NDC</a:t>
            </a:r>
          </a:p>
        </p:txBody>
      </p:sp>
      <p:graphicFrame>
        <p:nvGraphicFramePr>
          <p:cNvPr id="12" name="Tableau 12">
            <a:extLst>
              <a:ext uri="{FF2B5EF4-FFF2-40B4-BE49-F238E27FC236}">
                <a16:creationId xmlns:a16="http://schemas.microsoft.com/office/drawing/2014/main" id="{C5F9D4F9-6259-DEF0-3699-8638E10764CE}"/>
              </a:ext>
            </a:extLst>
          </p:cNvPr>
          <p:cNvGraphicFramePr>
            <a:graphicFrameLocks noGrp="1"/>
          </p:cNvGraphicFramePr>
          <p:nvPr/>
        </p:nvGraphicFramePr>
        <p:xfrm>
          <a:off x="555584" y="1144450"/>
          <a:ext cx="10798215" cy="4272502"/>
        </p:xfrm>
        <a:graphic>
          <a:graphicData uri="http://schemas.openxmlformats.org/drawingml/2006/table">
            <a:tbl>
              <a:tblPr firstRow="1" bandRow="1">
                <a:tableStyleId>{5940675A-B579-460E-94D1-54222C63F5DA}</a:tableStyleId>
              </a:tblPr>
              <a:tblGrid>
                <a:gridCol w="1609835">
                  <a:extLst>
                    <a:ext uri="{9D8B030D-6E8A-4147-A177-3AD203B41FA5}">
                      <a16:colId xmlns:a16="http://schemas.microsoft.com/office/drawing/2014/main" val="3996685709"/>
                    </a:ext>
                  </a:extLst>
                </a:gridCol>
                <a:gridCol w="4401652">
                  <a:extLst>
                    <a:ext uri="{9D8B030D-6E8A-4147-A177-3AD203B41FA5}">
                      <a16:colId xmlns:a16="http://schemas.microsoft.com/office/drawing/2014/main" val="3929825300"/>
                    </a:ext>
                  </a:extLst>
                </a:gridCol>
                <a:gridCol w="4786728">
                  <a:extLst>
                    <a:ext uri="{9D8B030D-6E8A-4147-A177-3AD203B41FA5}">
                      <a16:colId xmlns:a16="http://schemas.microsoft.com/office/drawing/2014/main" val="2647635317"/>
                    </a:ext>
                  </a:extLst>
                </a:gridCol>
              </a:tblGrid>
              <a:tr h="729227">
                <a:tc>
                  <a:txBody>
                    <a:bodyPr/>
                    <a:lstStyle/>
                    <a:p>
                      <a:r>
                        <a:rPr lang="fr-FR" sz="1600" b="1" dirty="0">
                          <a:latin typeface="Arial" panose="020B0604020202020204" pitchFamily="34" charset="0"/>
                          <a:cs typeface="Arial" panose="020B0604020202020204" pitchFamily="34" charset="0"/>
                        </a:rPr>
                        <a:t>Party</a:t>
                      </a:r>
                    </a:p>
                  </a:txBody>
                  <a:tcPr/>
                </a:tc>
                <a:tc>
                  <a:txBody>
                    <a:bodyPr/>
                    <a:lstStyle/>
                    <a:p>
                      <a:r>
                        <a:rPr lang="fr-FR" sz="1600" b="1" dirty="0">
                          <a:latin typeface="Arial" panose="020B0604020202020204" pitchFamily="34" charset="0"/>
                          <a:cs typeface="Arial" panose="020B0604020202020204" pitchFamily="34" charset="0"/>
                        </a:rPr>
                        <a:t>First NDC</a:t>
                      </a:r>
                    </a:p>
                  </a:txBody>
                  <a:tcPr/>
                </a:tc>
                <a:tc>
                  <a:txBody>
                    <a:bodyPr/>
                    <a:lstStyle/>
                    <a:p>
                      <a:r>
                        <a:rPr lang="fr-FR" sz="1600" b="1" dirty="0" err="1">
                          <a:latin typeface="Arial" panose="020B0604020202020204" pitchFamily="34" charset="0"/>
                          <a:cs typeface="Arial" panose="020B0604020202020204" pitchFamily="34" charset="0"/>
                        </a:rPr>
                        <a:t>Updated</a:t>
                      </a:r>
                      <a:r>
                        <a:rPr lang="fr-FR" sz="1600" b="1" dirty="0">
                          <a:latin typeface="Arial" panose="020B0604020202020204" pitchFamily="34" charset="0"/>
                          <a:cs typeface="Arial" panose="020B0604020202020204" pitchFamily="34" charset="0"/>
                        </a:rPr>
                        <a:t> First NDC</a:t>
                      </a:r>
                    </a:p>
                  </a:txBody>
                  <a:tcPr/>
                </a:tc>
                <a:extLst>
                  <a:ext uri="{0D108BD9-81ED-4DB2-BD59-A6C34878D82A}">
                    <a16:rowId xmlns:a16="http://schemas.microsoft.com/office/drawing/2014/main" val="2303290511"/>
                  </a:ext>
                </a:extLst>
              </a:tr>
              <a:tr h="3543275">
                <a:tc>
                  <a:txBody>
                    <a:bodyPr/>
                    <a:lstStyle/>
                    <a:p>
                      <a:r>
                        <a:rPr lang="fr-FR" sz="1600" dirty="0">
                          <a:latin typeface="Arial" panose="020B0604020202020204" pitchFamily="34" charset="0"/>
                          <a:cs typeface="Arial" panose="020B0604020202020204" pitchFamily="34" charset="0"/>
                        </a:rPr>
                        <a:t>China (23,92% of global GHG </a:t>
                      </a:r>
                      <a:r>
                        <a:rPr lang="fr-FR" sz="1600" dirty="0" err="1">
                          <a:latin typeface="Arial" panose="020B0604020202020204" pitchFamily="34" charset="0"/>
                          <a:cs typeface="Arial" panose="020B0604020202020204" pitchFamily="34" charset="0"/>
                        </a:rPr>
                        <a:t>emissions</a:t>
                      </a:r>
                      <a:r>
                        <a:rPr lang="fr-FR" sz="1600" dirty="0">
                          <a:latin typeface="Arial" panose="020B0604020202020204" pitchFamily="34" charset="0"/>
                          <a:cs typeface="Arial" panose="020B0604020202020204" pitchFamily="34" charset="0"/>
                        </a:rPr>
                        <a:t>)</a:t>
                      </a:r>
                    </a:p>
                  </a:txBody>
                  <a:tcPr/>
                </a:tc>
                <a:tc>
                  <a:txBody>
                    <a:bodyPr/>
                    <a:lstStyle/>
                    <a:p>
                      <a:r>
                        <a:rPr lang="fr-BE" sz="1600" b="0" i="0" kern="1200" dirty="0">
                          <a:solidFill>
                            <a:schemeClr val="tx1"/>
                          </a:solidFill>
                          <a:effectLst/>
                          <a:latin typeface="Arial" panose="020B0604020202020204" pitchFamily="34" charset="0"/>
                          <a:ea typeface="+mn-ea"/>
                          <a:cs typeface="Arial" panose="020B0604020202020204" pitchFamily="34" charset="0"/>
                        </a:rPr>
                        <a:t>China has </a:t>
                      </a:r>
                      <a:r>
                        <a:rPr lang="fr-BE" sz="1600" b="0" i="0" kern="1200" dirty="0" err="1">
                          <a:solidFill>
                            <a:schemeClr val="tx1"/>
                          </a:solidFill>
                          <a:effectLst/>
                          <a:latin typeface="Arial" panose="020B0604020202020204" pitchFamily="34" charset="0"/>
                          <a:ea typeface="+mn-ea"/>
                          <a:cs typeface="Arial" panose="020B0604020202020204" pitchFamily="34" charset="0"/>
                        </a:rPr>
                        <a:t>nationally</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determined</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its</a:t>
                      </a:r>
                      <a:r>
                        <a:rPr lang="fr-BE" sz="1600" b="0" i="0" kern="1200" dirty="0">
                          <a:solidFill>
                            <a:schemeClr val="tx1"/>
                          </a:solidFill>
                          <a:effectLst/>
                          <a:latin typeface="Arial" panose="020B0604020202020204" pitchFamily="34" charset="0"/>
                          <a:ea typeface="+mn-ea"/>
                          <a:cs typeface="Arial" panose="020B0604020202020204" pitchFamily="34" charset="0"/>
                        </a:rPr>
                        <a:t> actions by 2030 as </a:t>
                      </a:r>
                      <a:r>
                        <a:rPr lang="fr-BE" sz="1600" b="0" i="0" kern="1200" dirty="0" err="1">
                          <a:solidFill>
                            <a:schemeClr val="tx1"/>
                          </a:solidFill>
                          <a:effectLst/>
                          <a:latin typeface="Arial" panose="020B0604020202020204" pitchFamily="34" charset="0"/>
                          <a:ea typeface="+mn-ea"/>
                          <a:cs typeface="Arial" panose="020B0604020202020204" pitchFamily="34" charset="0"/>
                        </a:rPr>
                        <a:t>follows</a:t>
                      </a:r>
                      <a:r>
                        <a:rPr lang="fr-BE" sz="1600" b="0" i="0" kern="1200" dirty="0">
                          <a:solidFill>
                            <a:schemeClr val="tx1"/>
                          </a:solidFill>
                          <a:effectLst/>
                          <a:latin typeface="Arial" panose="020B0604020202020204" pitchFamily="34" charset="0"/>
                          <a:ea typeface="+mn-ea"/>
                          <a:cs typeface="Arial" panose="020B0604020202020204" pitchFamily="34" charset="0"/>
                        </a:rPr>
                        <a:t>:</a:t>
                      </a:r>
                      <a:br>
                        <a:rPr lang="fr-BE" sz="1600" dirty="0">
                          <a:latin typeface="Arial" panose="020B0604020202020204" pitchFamily="34" charset="0"/>
                          <a:cs typeface="Arial" panose="020B0604020202020204" pitchFamily="34" charset="0"/>
                        </a:rPr>
                      </a:br>
                      <a:r>
                        <a:rPr lang="fr-BE" sz="1600" b="0" i="0" kern="1200" dirty="0">
                          <a:solidFill>
                            <a:schemeClr val="tx1"/>
                          </a:solidFill>
                          <a:effectLst/>
                          <a:latin typeface="Arial" panose="020B0604020202020204" pitchFamily="34" charset="0"/>
                          <a:ea typeface="+mn-ea"/>
                          <a:cs typeface="Arial" panose="020B0604020202020204" pitchFamily="34" charset="0"/>
                        </a:rPr>
                        <a:t>• To </a:t>
                      </a:r>
                      <a:r>
                        <a:rPr lang="fr-BE" sz="1600" b="0" i="0" kern="1200" dirty="0" err="1">
                          <a:solidFill>
                            <a:schemeClr val="tx1"/>
                          </a:solidFill>
                          <a:effectLst/>
                          <a:latin typeface="Arial" panose="020B0604020202020204" pitchFamily="34" charset="0"/>
                          <a:ea typeface="+mn-ea"/>
                          <a:cs typeface="Arial" panose="020B0604020202020204" pitchFamily="34" charset="0"/>
                        </a:rPr>
                        <a:t>achieve</a:t>
                      </a:r>
                      <a:r>
                        <a:rPr lang="fr-BE" sz="1600" b="0" i="0" kern="1200" dirty="0">
                          <a:solidFill>
                            <a:schemeClr val="tx1"/>
                          </a:solidFill>
                          <a:effectLst/>
                          <a:latin typeface="Arial" panose="020B0604020202020204" pitchFamily="34" charset="0"/>
                          <a:ea typeface="+mn-ea"/>
                          <a:cs typeface="Arial" panose="020B0604020202020204" pitchFamily="34" charset="0"/>
                        </a:rPr>
                        <a:t> the </a:t>
                      </a:r>
                      <a:r>
                        <a:rPr lang="fr-BE" sz="1600" b="0" i="0" kern="1200" dirty="0" err="1">
                          <a:solidFill>
                            <a:schemeClr val="tx1"/>
                          </a:solidFill>
                          <a:effectLst/>
                          <a:latin typeface="Arial" panose="020B0604020202020204" pitchFamily="34" charset="0"/>
                          <a:ea typeface="+mn-ea"/>
                          <a:cs typeface="Arial" panose="020B0604020202020204" pitchFamily="34" charset="0"/>
                        </a:rPr>
                        <a:t>peaking</a:t>
                      </a:r>
                      <a:r>
                        <a:rPr lang="fr-BE" sz="1600" b="0" i="0" kern="1200" dirty="0">
                          <a:solidFill>
                            <a:schemeClr val="tx1"/>
                          </a:solidFill>
                          <a:effectLst/>
                          <a:latin typeface="Arial" panose="020B0604020202020204" pitchFamily="34" charset="0"/>
                          <a:ea typeface="+mn-ea"/>
                          <a:cs typeface="Arial" panose="020B0604020202020204" pitchFamily="34" charset="0"/>
                        </a:rPr>
                        <a:t> of </a:t>
                      </a:r>
                      <a:r>
                        <a:rPr lang="fr-BE" sz="1600" b="0" i="0" kern="1200" dirty="0" err="1">
                          <a:solidFill>
                            <a:schemeClr val="tx1"/>
                          </a:solidFill>
                          <a:effectLst/>
                          <a:latin typeface="Arial" panose="020B0604020202020204" pitchFamily="34" charset="0"/>
                          <a:ea typeface="+mn-ea"/>
                          <a:cs typeface="Arial" panose="020B0604020202020204" pitchFamily="34" charset="0"/>
                        </a:rPr>
                        <a:t>carbon</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dioxide</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emissions</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around</a:t>
                      </a:r>
                      <a:r>
                        <a:rPr lang="fr-BE" sz="1600" b="0" i="0" kern="1200" dirty="0">
                          <a:solidFill>
                            <a:schemeClr val="tx1"/>
                          </a:solidFill>
                          <a:effectLst/>
                          <a:latin typeface="Arial" panose="020B0604020202020204" pitchFamily="34" charset="0"/>
                          <a:ea typeface="+mn-ea"/>
                          <a:cs typeface="Arial" panose="020B0604020202020204" pitchFamily="34" charset="0"/>
                        </a:rPr>
                        <a:t> 2030 and </a:t>
                      </a:r>
                      <a:r>
                        <a:rPr lang="fr-BE" sz="1600" b="0" i="0" kern="1200" dirty="0" err="1">
                          <a:solidFill>
                            <a:schemeClr val="tx1"/>
                          </a:solidFill>
                          <a:effectLst/>
                          <a:latin typeface="Arial" panose="020B0604020202020204" pitchFamily="34" charset="0"/>
                          <a:ea typeface="+mn-ea"/>
                          <a:cs typeface="Arial" panose="020B0604020202020204" pitchFamily="34" charset="0"/>
                        </a:rPr>
                        <a:t>making</a:t>
                      </a:r>
                      <a:r>
                        <a:rPr lang="fr-BE" sz="1600" b="0" i="0" kern="1200" dirty="0">
                          <a:solidFill>
                            <a:schemeClr val="tx1"/>
                          </a:solidFill>
                          <a:effectLst/>
                          <a:latin typeface="Arial" panose="020B0604020202020204" pitchFamily="34" charset="0"/>
                          <a:ea typeface="+mn-ea"/>
                          <a:cs typeface="Arial" panose="020B0604020202020204" pitchFamily="34" charset="0"/>
                        </a:rPr>
                        <a:t> best efforts to </a:t>
                      </a:r>
                      <a:r>
                        <a:rPr lang="fr-BE" sz="1600" b="0" i="0" kern="1200" dirty="0" err="1">
                          <a:solidFill>
                            <a:schemeClr val="tx1"/>
                          </a:solidFill>
                          <a:effectLst/>
                          <a:latin typeface="Arial" panose="020B0604020202020204" pitchFamily="34" charset="0"/>
                          <a:ea typeface="+mn-ea"/>
                          <a:cs typeface="Arial" panose="020B0604020202020204" pitchFamily="34" charset="0"/>
                        </a:rPr>
                        <a:t>peak</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early</a:t>
                      </a:r>
                      <a:r>
                        <a:rPr lang="fr-BE" sz="1600" b="0" i="0" kern="1200" dirty="0">
                          <a:solidFill>
                            <a:schemeClr val="tx1"/>
                          </a:solidFill>
                          <a:effectLst/>
                          <a:latin typeface="Arial" panose="020B0604020202020204" pitchFamily="34" charset="0"/>
                          <a:ea typeface="+mn-ea"/>
                          <a:cs typeface="Arial" panose="020B0604020202020204" pitchFamily="34" charset="0"/>
                        </a:rPr>
                        <a:t>;</a:t>
                      </a:r>
                      <a:br>
                        <a:rPr lang="fr-BE" sz="1600" dirty="0">
                          <a:latin typeface="Arial" panose="020B0604020202020204" pitchFamily="34" charset="0"/>
                          <a:cs typeface="Arial" panose="020B0604020202020204" pitchFamily="34" charset="0"/>
                        </a:rPr>
                      </a:br>
                      <a:r>
                        <a:rPr lang="fr-BE" sz="1600" b="0" i="0" kern="1200" dirty="0">
                          <a:solidFill>
                            <a:schemeClr val="tx1"/>
                          </a:solidFill>
                          <a:effectLst/>
                          <a:latin typeface="Arial" panose="020B0604020202020204" pitchFamily="34" charset="0"/>
                          <a:ea typeface="+mn-ea"/>
                          <a:cs typeface="Arial" panose="020B0604020202020204" pitchFamily="34" charset="0"/>
                        </a:rPr>
                        <a:t>• To </a:t>
                      </a:r>
                      <a:r>
                        <a:rPr lang="fr-BE" sz="1600" b="0" i="0" kern="1200" dirty="0" err="1">
                          <a:solidFill>
                            <a:schemeClr val="tx1"/>
                          </a:solidFill>
                          <a:effectLst/>
                          <a:latin typeface="Arial" panose="020B0604020202020204" pitchFamily="34" charset="0"/>
                          <a:ea typeface="+mn-ea"/>
                          <a:cs typeface="Arial" panose="020B0604020202020204" pitchFamily="34" charset="0"/>
                        </a:rPr>
                        <a:t>lower</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carbon</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dioxide</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emissions</a:t>
                      </a:r>
                      <a:r>
                        <a:rPr lang="fr-BE" sz="1600" b="0" i="0" kern="1200" dirty="0">
                          <a:solidFill>
                            <a:schemeClr val="tx1"/>
                          </a:solidFill>
                          <a:effectLst/>
                          <a:latin typeface="Arial" panose="020B0604020202020204" pitchFamily="34" charset="0"/>
                          <a:ea typeface="+mn-ea"/>
                          <a:cs typeface="Arial" panose="020B0604020202020204" pitchFamily="34" charset="0"/>
                        </a:rPr>
                        <a:t> per unit of </a:t>
                      </a:r>
                      <a:r>
                        <a:rPr lang="fr-BE" sz="1600" dirty="0">
                          <a:latin typeface="Arial" panose="020B0604020202020204" pitchFamily="34" charset="0"/>
                          <a:cs typeface="Arial" panose="020B0604020202020204" pitchFamily="34" charset="0"/>
                        </a:rPr>
                        <a:t>GDP</a:t>
                      </a:r>
                      <a:r>
                        <a:rPr lang="fr-BE" sz="1600" b="0" i="0" kern="1200" dirty="0">
                          <a:solidFill>
                            <a:schemeClr val="tx1"/>
                          </a:solidFill>
                          <a:effectLst/>
                          <a:latin typeface="Arial" panose="020B0604020202020204" pitchFamily="34" charset="0"/>
                          <a:ea typeface="+mn-ea"/>
                          <a:cs typeface="Arial" panose="020B0604020202020204" pitchFamily="34" charset="0"/>
                        </a:rPr>
                        <a:t> by 60% to 65% </a:t>
                      </a:r>
                      <a:r>
                        <a:rPr lang="fr-BE" sz="1600" b="0" i="0" kern="1200" dirty="0" err="1">
                          <a:solidFill>
                            <a:schemeClr val="tx1"/>
                          </a:solidFill>
                          <a:effectLst/>
                          <a:latin typeface="Arial" panose="020B0604020202020204" pitchFamily="34" charset="0"/>
                          <a:ea typeface="+mn-ea"/>
                          <a:cs typeface="Arial" panose="020B0604020202020204" pitchFamily="34" charset="0"/>
                        </a:rPr>
                        <a:t>from</a:t>
                      </a:r>
                      <a:r>
                        <a:rPr lang="fr-BE" sz="1600" b="0" i="0" kern="1200" dirty="0">
                          <a:solidFill>
                            <a:schemeClr val="tx1"/>
                          </a:solidFill>
                          <a:effectLst/>
                          <a:latin typeface="Arial" panose="020B0604020202020204" pitchFamily="34" charset="0"/>
                          <a:ea typeface="+mn-ea"/>
                          <a:cs typeface="Arial" panose="020B0604020202020204" pitchFamily="34" charset="0"/>
                        </a:rPr>
                        <a:t> the 2005 </a:t>
                      </a:r>
                      <a:r>
                        <a:rPr lang="fr-BE" sz="1600" b="0" i="0" kern="1200" dirty="0" err="1">
                          <a:solidFill>
                            <a:schemeClr val="tx1"/>
                          </a:solidFill>
                          <a:effectLst/>
                          <a:latin typeface="Arial" panose="020B0604020202020204" pitchFamily="34" charset="0"/>
                          <a:ea typeface="+mn-ea"/>
                          <a:cs typeface="Arial" panose="020B0604020202020204" pitchFamily="34" charset="0"/>
                        </a:rPr>
                        <a:t>level</a:t>
                      </a:r>
                      <a:r>
                        <a:rPr lang="fr-BE" sz="1600" b="0" i="0" kern="1200" dirty="0">
                          <a:solidFill>
                            <a:schemeClr val="tx1"/>
                          </a:solidFill>
                          <a:effectLst/>
                          <a:latin typeface="Arial" panose="020B0604020202020204" pitchFamily="34" charset="0"/>
                          <a:ea typeface="+mn-ea"/>
                          <a:cs typeface="Arial" panose="020B0604020202020204" pitchFamily="34" charset="0"/>
                        </a:rPr>
                        <a:t>;</a:t>
                      </a:r>
                      <a:br>
                        <a:rPr lang="fr-BE" sz="1600" dirty="0">
                          <a:latin typeface="Arial" panose="020B0604020202020204" pitchFamily="34" charset="0"/>
                          <a:cs typeface="Arial" panose="020B0604020202020204" pitchFamily="34" charset="0"/>
                        </a:rPr>
                      </a:br>
                      <a:r>
                        <a:rPr lang="fr-BE" sz="1600" b="0" i="0" kern="1200" dirty="0">
                          <a:solidFill>
                            <a:schemeClr val="tx1"/>
                          </a:solidFill>
                          <a:effectLst/>
                          <a:latin typeface="Arial" panose="020B0604020202020204" pitchFamily="34" charset="0"/>
                          <a:ea typeface="+mn-ea"/>
                          <a:cs typeface="Arial" panose="020B0604020202020204" pitchFamily="34" charset="0"/>
                        </a:rPr>
                        <a:t>• To </a:t>
                      </a:r>
                      <a:r>
                        <a:rPr lang="fr-BE" sz="1600" b="0" i="0" kern="1200" dirty="0" err="1">
                          <a:solidFill>
                            <a:schemeClr val="tx1"/>
                          </a:solidFill>
                          <a:effectLst/>
                          <a:latin typeface="Arial" panose="020B0604020202020204" pitchFamily="34" charset="0"/>
                          <a:ea typeface="+mn-ea"/>
                          <a:cs typeface="Arial" panose="020B0604020202020204" pitchFamily="34" charset="0"/>
                        </a:rPr>
                        <a:t>increase</a:t>
                      </a:r>
                      <a:r>
                        <a:rPr lang="fr-BE" sz="1600" b="0" i="0" kern="1200" dirty="0">
                          <a:solidFill>
                            <a:schemeClr val="tx1"/>
                          </a:solidFill>
                          <a:effectLst/>
                          <a:latin typeface="Arial" panose="020B0604020202020204" pitchFamily="34" charset="0"/>
                          <a:ea typeface="+mn-ea"/>
                          <a:cs typeface="Arial" panose="020B0604020202020204" pitchFamily="34" charset="0"/>
                        </a:rPr>
                        <a:t> the </a:t>
                      </a:r>
                      <a:r>
                        <a:rPr lang="fr-BE" sz="1600" b="0" i="0" kern="1200" dirty="0" err="1">
                          <a:solidFill>
                            <a:schemeClr val="tx1"/>
                          </a:solidFill>
                          <a:effectLst/>
                          <a:latin typeface="Arial" panose="020B0604020202020204" pitchFamily="34" charset="0"/>
                          <a:ea typeface="+mn-ea"/>
                          <a:cs typeface="Arial" panose="020B0604020202020204" pitchFamily="34" charset="0"/>
                        </a:rPr>
                        <a:t>share</a:t>
                      </a:r>
                      <a:r>
                        <a:rPr lang="fr-BE" sz="1600" b="0" i="0" kern="1200" dirty="0">
                          <a:solidFill>
                            <a:schemeClr val="tx1"/>
                          </a:solidFill>
                          <a:effectLst/>
                          <a:latin typeface="Arial" panose="020B0604020202020204" pitchFamily="34" charset="0"/>
                          <a:ea typeface="+mn-ea"/>
                          <a:cs typeface="Arial" panose="020B0604020202020204" pitchFamily="34" charset="0"/>
                        </a:rPr>
                        <a:t> of non-</a:t>
                      </a:r>
                      <a:r>
                        <a:rPr lang="fr-BE" sz="1600" b="0" i="0" kern="1200" dirty="0" err="1">
                          <a:solidFill>
                            <a:schemeClr val="tx1"/>
                          </a:solidFill>
                          <a:effectLst/>
                          <a:latin typeface="Arial" panose="020B0604020202020204" pitchFamily="34" charset="0"/>
                          <a:ea typeface="+mn-ea"/>
                          <a:cs typeface="Arial" panose="020B0604020202020204" pitchFamily="34" charset="0"/>
                        </a:rPr>
                        <a:t>fossil</a:t>
                      </a:r>
                      <a:r>
                        <a:rPr lang="fr-BE" sz="1600" b="0" i="0" kern="1200" dirty="0">
                          <a:solidFill>
                            <a:schemeClr val="tx1"/>
                          </a:solidFill>
                          <a:effectLst/>
                          <a:latin typeface="Arial" panose="020B0604020202020204" pitchFamily="34" charset="0"/>
                          <a:ea typeface="+mn-ea"/>
                          <a:cs typeface="Arial" panose="020B0604020202020204" pitchFamily="34" charset="0"/>
                        </a:rPr>
                        <a:t> fuels in </a:t>
                      </a:r>
                      <a:r>
                        <a:rPr lang="fr-BE" sz="1600" b="0" i="0" kern="1200" dirty="0" err="1">
                          <a:solidFill>
                            <a:schemeClr val="tx1"/>
                          </a:solidFill>
                          <a:effectLst/>
                          <a:latin typeface="Arial" panose="020B0604020202020204" pitchFamily="34" charset="0"/>
                          <a:ea typeface="+mn-ea"/>
                          <a:cs typeface="Arial" panose="020B0604020202020204" pitchFamily="34" charset="0"/>
                        </a:rPr>
                        <a:t>primary</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energy</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consumption</a:t>
                      </a:r>
                      <a:r>
                        <a:rPr lang="fr-BE" sz="1600" b="0" i="0" kern="1200" dirty="0">
                          <a:solidFill>
                            <a:schemeClr val="tx1"/>
                          </a:solidFill>
                          <a:effectLst/>
                          <a:latin typeface="Arial" panose="020B0604020202020204" pitchFamily="34" charset="0"/>
                          <a:ea typeface="+mn-ea"/>
                          <a:cs typeface="Arial" panose="020B0604020202020204" pitchFamily="34" charset="0"/>
                        </a:rPr>
                        <a:t> to </a:t>
                      </a:r>
                      <a:r>
                        <a:rPr lang="fr-BE" sz="1600" b="0" i="0" kern="1200" dirty="0" err="1">
                          <a:solidFill>
                            <a:schemeClr val="tx1"/>
                          </a:solidFill>
                          <a:effectLst/>
                          <a:latin typeface="Arial" panose="020B0604020202020204" pitchFamily="34" charset="0"/>
                          <a:ea typeface="+mn-ea"/>
                          <a:cs typeface="Arial" panose="020B0604020202020204" pitchFamily="34" charset="0"/>
                        </a:rPr>
                        <a:t>around</a:t>
                      </a:r>
                      <a:r>
                        <a:rPr lang="fr-BE" sz="1600" b="0" i="0" kern="1200" dirty="0">
                          <a:solidFill>
                            <a:schemeClr val="tx1"/>
                          </a:solidFill>
                          <a:effectLst/>
                          <a:latin typeface="Arial" panose="020B0604020202020204" pitchFamily="34" charset="0"/>
                          <a:ea typeface="+mn-ea"/>
                          <a:cs typeface="Arial" panose="020B0604020202020204" pitchFamily="34" charset="0"/>
                        </a:rPr>
                        <a:t> 20%; and</a:t>
                      </a:r>
                      <a:br>
                        <a:rPr lang="fr-BE" sz="1600" dirty="0">
                          <a:latin typeface="Arial" panose="020B0604020202020204" pitchFamily="34" charset="0"/>
                          <a:cs typeface="Arial" panose="020B0604020202020204" pitchFamily="34" charset="0"/>
                        </a:rPr>
                      </a:br>
                      <a:r>
                        <a:rPr lang="fr-BE" sz="1600" b="0" i="0" kern="1200" dirty="0">
                          <a:solidFill>
                            <a:schemeClr val="tx1"/>
                          </a:solidFill>
                          <a:effectLst/>
                          <a:latin typeface="Arial" panose="020B0604020202020204" pitchFamily="34" charset="0"/>
                          <a:ea typeface="+mn-ea"/>
                          <a:cs typeface="Arial" panose="020B0604020202020204" pitchFamily="34" charset="0"/>
                        </a:rPr>
                        <a:t>• To </a:t>
                      </a:r>
                      <a:r>
                        <a:rPr lang="fr-BE" sz="1600" b="0" i="0" kern="1200" dirty="0" err="1">
                          <a:solidFill>
                            <a:schemeClr val="tx1"/>
                          </a:solidFill>
                          <a:effectLst/>
                          <a:latin typeface="Arial" panose="020B0604020202020204" pitchFamily="34" charset="0"/>
                          <a:ea typeface="+mn-ea"/>
                          <a:cs typeface="Arial" panose="020B0604020202020204" pitchFamily="34" charset="0"/>
                        </a:rPr>
                        <a:t>increase</a:t>
                      </a:r>
                      <a:r>
                        <a:rPr lang="fr-BE" sz="1600" b="0" i="0" kern="1200" dirty="0">
                          <a:solidFill>
                            <a:schemeClr val="tx1"/>
                          </a:solidFill>
                          <a:effectLst/>
                          <a:latin typeface="Arial" panose="020B0604020202020204" pitchFamily="34" charset="0"/>
                          <a:ea typeface="+mn-ea"/>
                          <a:cs typeface="Arial" panose="020B0604020202020204" pitchFamily="34" charset="0"/>
                        </a:rPr>
                        <a:t> the </a:t>
                      </a:r>
                      <a:r>
                        <a:rPr lang="fr-BE" sz="1600" b="0" i="0" kern="1200" dirty="0" err="1">
                          <a:solidFill>
                            <a:schemeClr val="tx1"/>
                          </a:solidFill>
                          <a:effectLst/>
                          <a:latin typeface="Arial" panose="020B0604020202020204" pitchFamily="34" charset="0"/>
                          <a:ea typeface="+mn-ea"/>
                          <a:cs typeface="Arial" panose="020B0604020202020204" pitchFamily="34" charset="0"/>
                        </a:rPr>
                        <a:t>forest</a:t>
                      </a:r>
                      <a:r>
                        <a:rPr lang="fr-BE" sz="1600" b="0" i="0" kern="1200" dirty="0">
                          <a:solidFill>
                            <a:schemeClr val="tx1"/>
                          </a:solidFill>
                          <a:effectLst/>
                          <a:latin typeface="Arial" panose="020B0604020202020204" pitchFamily="34" charset="0"/>
                          <a:ea typeface="+mn-ea"/>
                          <a:cs typeface="Arial" panose="020B0604020202020204" pitchFamily="34" charset="0"/>
                        </a:rPr>
                        <a:t> stock volume by </a:t>
                      </a:r>
                      <a:r>
                        <a:rPr lang="fr-BE" sz="1600" b="0" i="0" kern="1200" dirty="0" err="1">
                          <a:solidFill>
                            <a:schemeClr val="tx1"/>
                          </a:solidFill>
                          <a:effectLst/>
                          <a:latin typeface="Arial" panose="020B0604020202020204" pitchFamily="34" charset="0"/>
                          <a:ea typeface="+mn-ea"/>
                          <a:cs typeface="Arial" panose="020B0604020202020204" pitchFamily="34" charset="0"/>
                        </a:rPr>
                        <a:t>around</a:t>
                      </a:r>
                      <a:r>
                        <a:rPr lang="fr-BE" sz="1600" b="0" i="0" kern="1200" dirty="0">
                          <a:solidFill>
                            <a:schemeClr val="tx1"/>
                          </a:solidFill>
                          <a:effectLst/>
                          <a:latin typeface="Arial" panose="020B0604020202020204" pitchFamily="34" charset="0"/>
                          <a:ea typeface="+mn-ea"/>
                          <a:cs typeface="Arial" panose="020B0604020202020204" pitchFamily="34" charset="0"/>
                        </a:rPr>
                        <a:t> 4.5 billion </a:t>
                      </a:r>
                      <a:r>
                        <a:rPr lang="fr-BE" sz="1600" b="0" i="0" kern="1200" dirty="0" err="1">
                          <a:solidFill>
                            <a:schemeClr val="tx1"/>
                          </a:solidFill>
                          <a:effectLst/>
                          <a:latin typeface="Arial" panose="020B0604020202020204" pitchFamily="34" charset="0"/>
                          <a:ea typeface="+mn-ea"/>
                          <a:cs typeface="Arial" panose="020B0604020202020204" pitchFamily="34" charset="0"/>
                        </a:rPr>
                        <a:t>cubic</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meters</a:t>
                      </a:r>
                      <a:r>
                        <a:rPr lang="fr-BE" sz="1600" b="0" i="0" kern="1200" dirty="0">
                          <a:solidFill>
                            <a:schemeClr val="tx1"/>
                          </a:solidFill>
                          <a:effectLst/>
                          <a:latin typeface="Arial" panose="020B0604020202020204" pitchFamily="34" charset="0"/>
                          <a:ea typeface="+mn-ea"/>
                          <a:cs typeface="Arial" panose="020B0604020202020204" pitchFamily="34" charset="0"/>
                        </a:rPr>
                        <a:t> on the 2005 </a:t>
                      </a:r>
                      <a:r>
                        <a:rPr lang="fr-BE" sz="1600" b="0" i="0" kern="1200" dirty="0" err="1">
                          <a:solidFill>
                            <a:schemeClr val="tx1"/>
                          </a:solidFill>
                          <a:effectLst/>
                          <a:latin typeface="Arial" panose="020B0604020202020204" pitchFamily="34" charset="0"/>
                          <a:ea typeface="+mn-ea"/>
                          <a:cs typeface="Arial" panose="020B0604020202020204" pitchFamily="34" charset="0"/>
                        </a:rPr>
                        <a:t>level</a:t>
                      </a:r>
                      <a:r>
                        <a:rPr lang="fr-BE" sz="1600" b="0" i="0" kern="1200" dirty="0">
                          <a:solidFill>
                            <a:schemeClr val="tx1"/>
                          </a:solidFill>
                          <a:effectLst/>
                          <a:latin typeface="Arial" panose="020B0604020202020204" pitchFamily="34" charset="0"/>
                          <a:ea typeface="+mn-ea"/>
                          <a:cs typeface="Arial" panose="020B0604020202020204" pitchFamily="34" charset="0"/>
                        </a:rPr>
                        <a:t>.</a:t>
                      </a:r>
                      <a:endParaRPr lang="fr-FR" sz="1600" dirty="0">
                        <a:latin typeface="Arial" panose="020B0604020202020204" pitchFamily="34" charset="0"/>
                        <a:cs typeface="Arial" panose="020B0604020202020204" pitchFamily="34" charset="0"/>
                      </a:endParaRPr>
                    </a:p>
                  </a:txBody>
                  <a:tcPr/>
                </a:tc>
                <a:tc>
                  <a:txBody>
                    <a:bodyPr/>
                    <a:lstStyle/>
                    <a:p>
                      <a:r>
                        <a:rPr lang="fr-BE" sz="1600" b="0" i="0" kern="1200" dirty="0" err="1">
                          <a:solidFill>
                            <a:schemeClr val="tx1"/>
                          </a:solidFill>
                          <a:effectLst/>
                          <a:latin typeface="Arial" panose="020B0604020202020204" pitchFamily="34" charset="0"/>
                          <a:ea typeface="+mn-ea"/>
                          <a:cs typeface="Arial" panose="020B0604020202020204" pitchFamily="34" charset="0"/>
                        </a:rPr>
                        <a:t>China’s</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updated</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dirty="0">
                          <a:latin typeface="Arial" panose="020B0604020202020204" pitchFamily="34" charset="0"/>
                          <a:cs typeface="Arial" panose="020B0604020202020204" pitchFamily="34" charset="0"/>
                        </a:rPr>
                        <a:t>NDC</a:t>
                      </a:r>
                      <a:r>
                        <a:rPr lang="fr-BE" sz="1600" b="0" i="0" kern="1200" dirty="0">
                          <a:solidFill>
                            <a:schemeClr val="tx1"/>
                          </a:solidFill>
                          <a:effectLst/>
                          <a:latin typeface="Arial" panose="020B0604020202020204" pitchFamily="34" charset="0"/>
                          <a:ea typeface="+mn-ea"/>
                          <a:cs typeface="Arial" panose="020B0604020202020204" pitchFamily="34" charset="0"/>
                        </a:rPr>
                        <a:t> goals are as </a:t>
                      </a:r>
                      <a:r>
                        <a:rPr lang="fr-BE" sz="1600" b="0" i="0" kern="1200" dirty="0" err="1">
                          <a:solidFill>
                            <a:schemeClr val="tx1"/>
                          </a:solidFill>
                          <a:effectLst/>
                          <a:latin typeface="Arial" panose="020B0604020202020204" pitchFamily="34" charset="0"/>
                          <a:ea typeface="+mn-ea"/>
                          <a:cs typeface="Arial" panose="020B0604020202020204" pitchFamily="34" charset="0"/>
                        </a:rPr>
                        <a:t>follows</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aims</a:t>
                      </a:r>
                      <a:r>
                        <a:rPr lang="fr-BE" sz="1600" b="0" i="0" kern="1200" dirty="0">
                          <a:solidFill>
                            <a:schemeClr val="tx1"/>
                          </a:solidFill>
                          <a:effectLst/>
                          <a:latin typeface="Arial" panose="020B0604020202020204" pitchFamily="34" charset="0"/>
                          <a:ea typeface="+mn-ea"/>
                          <a:cs typeface="Arial" panose="020B0604020202020204" pitchFamily="34" charset="0"/>
                        </a:rPr>
                        <a:t> to have </a:t>
                      </a:r>
                      <a:r>
                        <a:rPr lang="fr-BE" sz="1600" dirty="0">
                          <a:latin typeface="Arial" panose="020B0604020202020204" pitchFamily="34" charset="0"/>
                          <a:cs typeface="Arial" panose="020B0604020202020204" pitchFamily="34" charset="0"/>
                        </a:rPr>
                        <a:t>CO2</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emissions</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peak</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before</a:t>
                      </a:r>
                      <a:r>
                        <a:rPr lang="fr-BE" sz="1600" b="0" i="0" kern="1200" dirty="0">
                          <a:solidFill>
                            <a:schemeClr val="tx1"/>
                          </a:solidFill>
                          <a:effectLst/>
                          <a:latin typeface="Arial" panose="020B0604020202020204" pitchFamily="34" charset="0"/>
                          <a:ea typeface="+mn-ea"/>
                          <a:cs typeface="Arial" panose="020B0604020202020204" pitchFamily="34" charset="0"/>
                        </a:rPr>
                        <a:t> 2030 </a:t>
                      </a:r>
                      <a:r>
                        <a:rPr lang="fr-BE"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and </a:t>
                      </a:r>
                      <a:r>
                        <a:rPr lang="fr-BE" sz="1600" b="0" i="0" kern="1200" dirty="0" err="1">
                          <a:solidFill>
                            <a:schemeClr val="tx1"/>
                          </a:solidFill>
                          <a:effectLst/>
                          <a:highlight>
                            <a:srgbClr val="FFFF00"/>
                          </a:highlight>
                          <a:latin typeface="Arial" panose="020B0604020202020204" pitchFamily="34" charset="0"/>
                          <a:ea typeface="+mn-ea"/>
                          <a:cs typeface="Arial" panose="020B0604020202020204" pitchFamily="34" charset="0"/>
                        </a:rPr>
                        <a:t>achieve</a:t>
                      </a:r>
                      <a:r>
                        <a:rPr lang="fr-BE"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 </a:t>
                      </a:r>
                      <a:r>
                        <a:rPr lang="fr-BE" sz="1600" b="0" i="0" kern="1200" dirty="0" err="1">
                          <a:solidFill>
                            <a:schemeClr val="tx1"/>
                          </a:solidFill>
                          <a:effectLst/>
                          <a:highlight>
                            <a:srgbClr val="FFFF00"/>
                          </a:highlight>
                          <a:latin typeface="Arial" panose="020B0604020202020204" pitchFamily="34" charset="0"/>
                          <a:ea typeface="+mn-ea"/>
                          <a:cs typeface="Arial" panose="020B0604020202020204" pitchFamily="34" charset="0"/>
                        </a:rPr>
                        <a:t>carbon</a:t>
                      </a:r>
                      <a:r>
                        <a:rPr lang="fr-BE"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 </a:t>
                      </a:r>
                      <a:r>
                        <a:rPr lang="fr-BE" sz="1600" b="0" i="0" kern="1200" dirty="0" err="1">
                          <a:solidFill>
                            <a:schemeClr val="tx1"/>
                          </a:solidFill>
                          <a:effectLst/>
                          <a:highlight>
                            <a:srgbClr val="FFFF00"/>
                          </a:highlight>
                          <a:latin typeface="Arial" panose="020B0604020202020204" pitchFamily="34" charset="0"/>
                          <a:ea typeface="+mn-ea"/>
                          <a:cs typeface="Arial" panose="020B0604020202020204" pitchFamily="34" charset="0"/>
                        </a:rPr>
                        <a:t>neutrality</a:t>
                      </a:r>
                      <a:r>
                        <a:rPr lang="fr-BE"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 </a:t>
                      </a:r>
                      <a:r>
                        <a:rPr lang="fr-BE" sz="1600" b="0" i="0" kern="1200" dirty="0" err="1">
                          <a:solidFill>
                            <a:schemeClr val="tx1"/>
                          </a:solidFill>
                          <a:effectLst/>
                          <a:highlight>
                            <a:srgbClr val="FFFF00"/>
                          </a:highlight>
                          <a:latin typeface="Arial" panose="020B0604020202020204" pitchFamily="34" charset="0"/>
                          <a:ea typeface="+mn-ea"/>
                          <a:cs typeface="Arial" panose="020B0604020202020204" pitchFamily="34" charset="0"/>
                        </a:rPr>
                        <a:t>before</a:t>
                      </a:r>
                      <a:r>
                        <a:rPr lang="fr-BE"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 2060</a:t>
                      </a:r>
                      <a:r>
                        <a:rPr lang="fr-BE" sz="1600" b="0" i="0" kern="1200" dirty="0">
                          <a:solidFill>
                            <a:schemeClr val="tx1"/>
                          </a:solidFill>
                          <a:effectLst/>
                          <a:latin typeface="Arial" panose="020B0604020202020204" pitchFamily="34" charset="0"/>
                          <a:ea typeface="+mn-ea"/>
                          <a:cs typeface="Arial" panose="020B0604020202020204" pitchFamily="34" charset="0"/>
                        </a:rPr>
                        <a:t>; to </a:t>
                      </a:r>
                      <a:r>
                        <a:rPr lang="fr-BE" sz="1600" b="0" i="0" kern="1200" dirty="0" err="1">
                          <a:solidFill>
                            <a:schemeClr val="tx1"/>
                          </a:solidFill>
                          <a:effectLst/>
                          <a:latin typeface="Arial" panose="020B0604020202020204" pitchFamily="34" charset="0"/>
                          <a:ea typeface="+mn-ea"/>
                          <a:cs typeface="Arial" panose="020B0604020202020204" pitchFamily="34" charset="0"/>
                        </a:rPr>
                        <a:t>lower</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dirty="0">
                          <a:latin typeface="Arial" panose="020B0604020202020204" pitchFamily="34" charset="0"/>
                          <a:cs typeface="Arial" panose="020B0604020202020204" pitchFamily="34" charset="0"/>
                        </a:rPr>
                        <a:t>CO2</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emissions</a:t>
                      </a:r>
                      <a:r>
                        <a:rPr lang="fr-BE" sz="1600" b="0" i="0" kern="1200" dirty="0">
                          <a:solidFill>
                            <a:schemeClr val="tx1"/>
                          </a:solidFill>
                          <a:effectLst/>
                          <a:latin typeface="Arial" panose="020B0604020202020204" pitchFamily="34" charset="0"/>
                          <a:ea typeface="+mn-ea"/>
                          <a:cs typeface="Arial" panose="020B0604020202020204" pitchFamily="34" charset="0"/>
                        </a:rPr>
                        <a:t> per unit of </a:t>
                      </a:r>
                      <a:r>
                        <a:rPr lang="fr-BE" sz="1600" dirty="0">
                          <a:latin typeface="Arial" panose="020B0604020202020204" pitchFamily="34" charset="0"/>
                          <a:cs typeface="Arial" panose="020B0604020202020204" pitchFamily="34" charset="0"/>
                        </a:rPr>
                        <a:t>GDP</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by over 65% </a:t>
                      </a:r>
                      <a:r>
                        <a:rPr lang="fr-BE" sz="1600" b="0" i="0" kern="1200" dirty="0" err="1">
                          <a:solidFill>
                            <a:schemeClr val="tx1"/>
                          </a:solidFill>
                          <a:effectLst/>
                          <a:highlight>
                            <a:srgbClr val="FFFF00"/>
                          </a:highlight>
                          <a:latin typeface="Arial" panose="020B0604020202020204" pitchFamily="34" charset="0"/>
                          <a:ea typeface="+mn-ea"/>
                          <a:cs typeface="Arial" panose="020B0604020202020204" pitchFamily="34" charset="0"/>
                        </a:rPr>
                        <a:t>from</a:t>
                      </a:r>
                      <a:r>
                        <a:rPr lang="fr-BE"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 the 2005 </a:t>
                      </a:r>
                      <a:r>
                        <a:rPr lang="fr-BE" sz="1600" b="0" i="0" kern="1200" dirty="0" err="1">
                          <a:solidFill>
                            <a:schemeClr val="tx1"/>
                          </a:solidFill>
                          <a:effectLst/>
                          <a:highlight>
                            <a:srgbClr val="FFFF00"/>
                          </a:highlight>
                          <a:latin typeface="Arial" panose="020B0604020202020204" pitchFamily="34" charset="0"/>
                          <a:ea typeface="+mn-ea"/>
                          <a:cs typeface="Arial" panose="020B0604020202020204" pitchFamily="34" charset="0"/>
                        </a:rPr>
                        <a:t>level</a:t>
                      </a:r>
                      <a:r>
                        <a:rPr lang="fr-BE" sz="1600" b="0" i="0" kern="1200" dirty="0">
                          <a:solidFill>
                            <a:schemeClr val="tx1"/>
                          </a:solidFill>
                          <a:effectLst/>
                          <a:latin typeface="Arial" panose="020B0604020202020204" pitchFamily="34" charset="0"/>
                          <a:ea typeface="+mn-ea"/>
                          <a:cs typeface="Arial" panose="020B0604020202020204" pitchFamily="34" charset="0"/>
                        </a:rPr>
                        <a:t>, to </a:t>
                      </a:r>
                      <a:r>
                        <a:rPr lang="fr-BE" sz="1600" b="0" i="0" kern="1200" dirty="0" err="1">
                          <a:solidFill>
                            <a:schemeClr val="tx1"/>
                          </a:solidFill>
                          <a:effectLst/>
                          <a:latin typeface="Arial" panose="020B0604020202020204" pitchFamily="34" charset="0"/>
                          <a:ea typeface="+mn-ea"/>
                          <a:cs typeface="Arial" panose="020B0604020202020204" pitchFamily="34" charset="0"/>
                        </a:rPr>
                        <a:t>increase</a:t>
                      </a:r>
                      <a:r>
                        <a:rPr lang="fr-BE" sz="1600" b="0" i="0" kern="1200" dirty="0">
                          <a:solidFill>
                            <a:schemeClr val="tx1"/>
                          </a:solidFill>
                          <a:effectLst/>
                          <a:latin typeface="Arial" panose="020B0604020202020204" pitchFamily="34" charset="0"/>
                          <a:ea typeface="+mn-ea"/>
                          <a:cs typeface="Arial" panose="020B0604020202020204" pitchFamily="34" charset="0"/>
                        </a:rPr>
                        <a:t> the </a:t>
                      </a:r>
                      <a:r>
                        <a:rPr lang="fr-BE" sz="1600" b="0" i="0" kern="1200" dirty="0" err="1">
                          <a:solidFill>
                            <a:schemeClr val="tx1"/>
                          </a:solidFill>
                          <a:effectLst/>
                          <a:latin typeface="Arial" panose="020B0604020202020204" pitchFamily="34" charset="0"/>
                          <a:ea typeface="+mn-ea"/>
                          <a:cs typeface="Arial" panose="020B0604020202020204" pitchFamily="34" charset="0"/>
                        </a:rPr>
                        <a:t>share</a:t>
                      </a:r>
                      <a:r>
                        <a:rPr lang="fr-BE" sz="1600" b="0" i="0" kern="1200" dirty="0">
                          <a:solidFill>
                            <a:schemeClr val="tx1"/>
                          </a:solidFill>
                          <a:effectLst/>
                          <a:latin typeface="Arial" panose="020B0604020202020204" pitchFamily="34" charset="0"/>
                          <a:ea typeface="+mn-ea"/>
                          <a:cs typeface="Arial" panose="020B0604020202020204" pitchFamily="34" charset="0"/>
                        </a:rPr>
                        <a:t> of non-</a:t>
                      </a:r>
                      <a:r>
                        <a:rPr lang="fr-BE" sz="1600" b="0" i="0" kern="1200" dirty="0" err="1">
                          <a:solidFill>
                            <a:schemeClr val="tx1"/>
                          </a:solidFill>
                          <a:effectLst/>
                          <a:latin typeface="Arial" panose="020B0604020202020204" pitchFamily="34" charset="0"/>
                          <a:ea typeface="+mn-ea"/>
                          <a:cs typeface="Arial" panose="020B0604020202020204" pitchFamily="34" charset="0"/>
                        </a:rPr>
                        <a:t>fossil</a:t>
                      </a:r>
                      <a:r>
                        <a:rPr lang="fr-BE" sz="1600" b="0" i="0" kern="1200" dirty="0">
                          <a:solidFill>
                            <a:schemeClr val="tx1"/>
                          </a:solidFill>
                          <a:effectLst/>
                          <a:latin typeface="Arial" panose="020B0604020202020204" pitchFamily="34" charset="0"/>
                          <a:ea typeface="+mn-ea"/>
                          <a:cs typeface="Arial" panose="020B0604020202020204" pitchFamily="34" charset="0"/>
                        </a:rPr>
                        <a:t> fuels in </a:t>
                      </a:r>
                      <a:r>
                        <a:rPr lang="fr-BE" sz="1600" b="0" i="0" kern="1200" dirty="0" err="1">
                          <a:solidFill>
                            <a:schemeClr val="tx1"/>
                          </a:solidFill>
                          <a:effectLst/>
                          <a:latin typeface="Arial" panose="020B0604020202020204" pitchFamily="34" charset="0"/>
                          <a:ea typeface="+mn-ea"/>
                          <a:cs typeface="Arial" panose="020B0604020202020204" pitchFamily="34" charset="0"/>
                        </a:rPr>
                        <a:t>primary</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energy</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consumption</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to </a:t>
                      </a:r>
                      <a:r>
                        <a:rPr lang="fr-BE" sz="1600" b="0" i="0" kern="1200" dirty="0" err="1">
                          <a:solidFill>
                            <a:schemeClr val="tx1"/>
                          </a:solidFill>
                          <a:effectLst/>
                          <a:highlight>
                            <a:srgbClr val="FFFF00"/>
                          </a:highlight>
                          <a:latin typeface="Arial" panose="020B0604020202020204" pitchFamily="34" charset="0"/>
                          <a:ea typeface="+mn-ea"/>
                          <a:cs typeface="Arial" panose="020B0604020202020204" pitchFamily="34" charset="0"/>
                        </a:rPr>
                        <a:t>around</a:t>
                      </a:r>
                      <a:r>
                        <a:rPr lang="fr-BE"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 25%</a:t>
                      </a:r>
                      <a:r>
                        <a:rPr lang="fr-BE" sz="1600" b="0" i="0" kern="1200" dirty="0">
                          <a:solidFill>
                            <a:schemeClr val="tx1"/>
                          </a:solidFill>
                          <a:effectLst/>
                          <a:latin typeface="Arial" panose="020B0604020202020204" pitchFamily="34" charset="0"/>
                          <a:ea typeface="+mn-ea"/>
                          <a:cs typeface="Arial" panose="020B0604020202020204" pitchFamily="34" charset="0"/>
                        </a:rPr>
                        <a:t>, to </a:t>
                      </a:r>
                      <a:r>
                        <a:rPr lang="fr-BE" sz="1600" b="0" i="0" kern="1200" dirty="0" err="1">
                          <a:solidFill>
                            <a:schemeClr val="tx1"/>
                          </a:solidFill>
                          <a:effectLst/>
                          <a:latin typeface="Arial" panose="020B0604020202020204" pitchFamily="34" charset="0"/>
                          <a:ea typeface="+mn-ea"/>
                          <a:cs typeface="Arial" panose="020B0604020202020204" pitchFamily="34" charset="0"/>
                        </a:rPr>
                        <a:t>increase</a:t>
                      </a:r>
                      <a:r>
                        <a:rPr lang="fr-BE" sz="1600" b="0" i="0" kern="1200" dirty="0">
                          <a:solidFill>
                            <a:schemeClr val="tx1"/>
                          </a:solidFill>
                          <a:effectLst/>
                          <a:latin typeface="Arial" panose="020B0604020202020204" pitchFamily="34" charset="0"/>
                          <a:ea typeface="+mn-ea"/>
                          <a:cs typeface="Arial" panose="020B0604020202020204" pitchFamily="34" charset="0"/>
                        </a:rPr>
                        <a:t> the </a:t>
                      </a:r>
                      <a:r>
                        <a:rPr lang="fr-BE" sz="1600" b="0" i="0" kern="1200" dirty="0" err="1">
                          <a:solidFill>
                            <a:schemeClr val="tx1"/>
                          </a:solidFill>
                          <a:effectLst/>
                          <a:latin typeface="Arial" panose="020B0604020202020204" pitchFamily="34" charset="0"/>
                          <a:ea typeface="+mn-ea"/>
                          <a:cs typeface="Arial" panose="020B0604020202020204" pitchFamily="34" charset="0"/>
                        </a:rPr>
                        <a:t>forest</a:t>
                      </a:r>
                      <a:r>
                        <a:rPr lang="fr-BE" sz="1600" b="0" i="0" kern="1200" dirty="0">
                          <a:solidFill>
                            <a:schemeClr val="tx1"/>
                          </a:solidFill>
                          <a:effectLst/>
                          <a:latin typeface="Arial" panose="020B0604020202020204" pitchFamily="34" charset="0"/>
                          <a:ea typeface="+mn-ea"/>
                          <a:cs typeface="Arial" panose="020B0604020202020204" pitchFamily="34" charset="0"/>
                        </a:rPr>
                        <a:t> stock volume by 6 billion </a:t>
                      </a:r>
                      <a:r>
                        <a:rPr lang="fr-BE" sz="1600" b="0" i="0" kern="1200" dirty="0" err="1">
                          <a:solidFill>
                            <a:schemeClr val="tx1"/>
                          </a:solidFill>
                          <a:effectLst/>
                          <a:latin typeface="Arial" panose="020B0604020202020204" pitchFamily="34" charset="0"/>
                          <a:ea typeface="+mn-ea"/>
                          <a:cs typeface="Arial" panose="020B0604020202020204" pitchFamily="34" charset="0"/>
                        </a:rPr>
                        <a:t>cubic</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meters</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from</a:t>
                      </a:r>
                      <a:r>
                        <a:rPr lang="fr-BE" sz="1600" b="0" i="0" kern="1200" dirty="0">
                          <a:solidFill>
                            <a:schemeClr val="tx1"/>
                          </a:solidFill>
                          <a:effectLst/>
                          <a:latin typeface="Arial" panose="020B0604020202020204" pitchFamily="34" charset="0"/>
                          <a:ea typeface="+mn-ea"/>
                          <a:cs typeface="Arial" panose="020B0604020202020204" pitchFamily="34" charset="0"/>
                        </a:rPr>
                        <a:t> the 2005 </a:t>
                      </a:r>
                      <a:r>
                        <a:rPr lang="fr-BE" sz="1600" b="0" i="0" kern="1200" dirty="0" err="1">
                          <a:solidFill>
                            <a:schemeClr val="tx1"/>
                          </a:solidFill>
                          <a:effectLst/>
                          <a:latin typeface="Arial" panose="020B0604020202020204" pitchFamily="34" charset="0"/>
                          <a:ea typeface="+mn-ea"/>
                          <a:cs typeface="Arial" panose="020B0604020202020204" pitchFamily="34" charset="0"/>
                        </a:rPr>
                        <a:t>level</a:t>
                      </a:r>
                      <a:r>
                        <a:rPr lang="fr-BE" sz="1600" b="0" i="0" kern="1200" dirty="0">
                          <a:solidFill>
                            <a:schemeClr val="tx1"/>
                          </a:solidFill>
                          <a:effectLst/>
                          <a:latin typeface="Arial" panose="020B0604020202020204" pitchFamily="34" charset="0"/>
                          <a:ea typeface="+mn-ea"/>
                          <a:cs typeface="Arial" panose="020B0604020202020204" pitchFamily="34" charset="0"/>
                        </a:rPr>
                        <a:t>, and to </a:t>
                      </a:r>
                      <a:r>
                        <a:rPr lang="fr-BE" sz="1600" b="0" i="0" kern="1200" dirty="0" err="1">
                          <a:solidFill>
                            <a:schemeClr val="tx1"/>
                          </a:solidFill>
                          <a:effectLst/>
                          <a:latin typeface="Arial" panose="020B0604020202020204" pitchFamily="34" charset="0"/>
                          <a:ea typeface="+mn-ea"/>
                          <a:cs typeface="Arial" panose="020B0604020202020204" pitchFamily="34" charset="0"/>
                        </a:rPr>
                        <a:t>bring</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its</a:t>
                      </a:r>
                      <a:r>
                        <a:rPr lang="fr-BE" sz="1600" b="0" i="0" kern="1200" dirty="0">
                          <a:solidFill>
                            <a:schemeClr val="tx1"/>
                          </a:solidFill>
                          <a:effectLst/>
                          <a:latin typeface="Arial" panose="020B0604020202020204" pitchFamily="34" charset="0"/>
                          <a:ea typeface="+mn-ea"/>
                          <a:cs typeface="Arial" panose="020B0604020202020204" pitchFamily="34" charset="0"/>
                        </a:rPr>
                        <a:t> total </a:t>
                      </a:r>
                      <a:r>
                        <a:rPr lang="fr-BE" sz="1600" b="0" i="0" kern="1200" dirty="0" err="1">
                          <a:solidFill>
                            <a:schemeClr val="tx1"/>
                          </a:solidFill>
                          <a:effectLst/>
                          <a:latin typeface="Arial" panose="020B0604020202020204" pitchFamily="34" charset="0"/>
                          <a:ea typeface="+mn-ea"/>
                          <a:cs typeface="Arial" panose="020B0604020202020204" pitchFamily="34" charset="0"/>
                        </a:rPr>
                        <a:t>installed</a:t>
                      </a:r>
                      <a:r>
                        <a:rPr lang="fr-BE" sz="1600" b="0" i="0" kern="1200" dirty="0">
                          <a:solidFill>
                            <a:schemeClr val="tx1"/>
                          </a:solidFill>
                          <a:effectLst/>
                          <a:latin typeface="Arial" panose="020B0604020202020204" pitchFamily="34" charset="0"/>
                          <a:ea typeface="+mn-ea"/>
                          <a:cs typeface="Arial" panose="020B0604020202020204" pitchFamily="34" charset="0"/>
                        </a:rPr>
                        <a:t> </a:t>
                      </a:r>
                      <a:r>
                        <a:rPr lang="fr-BE" sz="1600" b="0" i="0" kern="1200" dirty="0" err="1">
                          <a:solidFill>
                            <a:schemeClr val="tx1"/>
                          </a:solidFill>
                          <a:effectLst/>
                          <a:latin typeface="Arial" panose="020B0604020202020204" pitchFamily="34" charset="0"/>
                          <a:ea typeface="+mn-ea"/>
                          <a:cs typeface="Arial" panose="020B0604020202020204" pitchFamily="34" charset="0"/>
                        </a:rPr>
                        <a:t>capacity</a:t>
                      </a:r>
                      <a:r>
                        <a:rPr lang="fr-BE" sz="1600" b="0" i="0" kern="1200" dirty="0">
                          <a:solidFill>
                            <a:schemeClr val="tx1"/>
                          </a:solidFill>
                          <a:effectLst/>
                          <a:latin typeface="Arial" panose="020B0604020202020204" pitchFamily="34" charset="0"/>
                          <a:ea typeface="+mn-ea"/>
                          <a:cs typeface="Arial" panose="020B0604020202020204" pitchFamily="34" charset="0"/>
                        </a:rPr>
                        <a:t> of </a:t>
                      </a:r>
                      <a:r>
                        <a:rPr lang="fr-BE" sz="1600" b="0" i="0" kern="1200" dirty="0" err="1">
                          <a:solidFill>
                            <a:schemeClr val="tx1"/>
                          </a:solidFill>
                          <a:effectLst/>
                          <a:latin typeface="Arial" panose="020B0604020202020204" pitchFamily="34" charset="0"/>
                          <a:ea typeface="+mn-ea"/>
                          <a:cs typeface="Arial" panose="020B0604020202020204" pitchFamily="34" charset="0"/>
                        </a:rPr>
                        <a:t>wind</a:t>
                      </a:r>
                      <a:r>
                        <a:rPr lang="fr-BE" sz="1600" b="0" i="0" kern="1200" dirty="0">
                          <a:solidFill>
                            <a:schemeClr val="tx1"/>
                          </a:solidFill>
                          <a:effectLst/>
                          <a:latin typeface="Arial" panose="020B0604020202020204" pitchFamily="34" charset="0"/>
                          <a:ea typeface="+mn-ea"/>
                          <a:cs typeface="Arial" panose="020B0604020202020204" pitchFamily="34" charset="0"/>
                        </a:rPr>
                        <a:t> and </a:t>
                      </a:r>
                      <a:r>
                        <a:rPr lang="fr-BE" sz="1600" b="0" i="0" kern="1200" dirty="0" err="1">
                          <a:solidFill>
                            <a:schemeClr val="tx1"/>
                          </a:solidFill>
                          <a:effectLst/>
                          <a:latin typeface="Arial" panose="020B0604020202020204" pitchFamily="34" charset="0"/>
                          <a:ea typeface="+mn-ea"/>
                          <a:cs typeface="Arial" panose="020B0604020202020204" pitchFamily="34" charset="0"/>
                        </a:rPr>
                        <a:t>solar</a:t>
                      </a:r>
                      <a:r>
                        <a:rPr lang="fr-BE" sz="1600" b="0" i="0" kern="1200" dirty="0">
                          <a:solidFill>
                            <a:schemeClr val="tx1"/>
                          </a:solidFill>
                          <a:effectLst/>
                          <a:latin typeface="Arial" panose="020B0604020202020204" pitchFamily="34" charset="0"/>
                          <a:ea typeface="+mn-ea"/>
                          <a:cs typeface="Arial" panose="020B0604020202020204" pitchFamily="34" charset="0"/>
                        </a:rPr>
                        <a:t> power </a:t>
                      </a:r>
                      <a:r>
                        <a:rPr lang="fr-BE"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to over 1.2 billion kilowatts by 2030</a:t>
                      </a:r>
                      <a:r>
                        <a:rPr lang="fr-BE" sz="1600" b="0" i="0" kern="1200" dirty="0">
                          <a:solidFill>
                            <a:schemeClr val="tx1"/>
                          </a:solidFill>
                          <a:effectLst/>
                          <a:latin typeface="Arial" panose="020B0604020202020204" pitchFamily="34" charset="0"/>
                          <a:ea typeface="+mn-ea"/>
                          <a:cs typeface="Arial" panose="020B0604020202020204" pitchFamily="34" charset="0"/>
                        </a:rPr>
                        <a:t>.</a:t>
                      </a:r>
                      <a:endParaRPr lang="fr-FR"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10387542"/>
                  </a:ext>
                </a:extLst>
              </a:tr>
            </a:tbl>
          </a:graphicData>
        </a:graphic>
      </p:graphicFrame>
      <p:sp>
        <p:nvSpPr>
          <p:cNvPr id="13" name="ZoneTexte 12">
            <a:extLst>
              <a:ext uri="{FF2B5EF4-FFF2-40B4-BE49-F238E27FC236}">
                <a16:creationId xmlns:a16="http://schemas.microsoft.com/office/drawing/2014/main" id="{F7721E40-2199-D057-F232-77CE0E80ACF1}"/>
              </a:ext>
            </a:extLst>
          </p:cNvPr>
          <p:cNvSpPr txBox="1"/>
          <p:nvPr/>
        </p:nvSpPr>
        <p:spPr>
          <a:xfrm>
            <a:off x="555584" y="5713550"/>
            <a:ext cx="782342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Aptos" panose="02110004020202020204"/>
                <a:ea typeface="+mn-ea"/>
                <a:cs typeface="+mn-cs"/>
              </a:rPr>
              <a:t>Source : </a:t>
            </a:r>
            <a:r>
              <a:rPr kumimoji="0" lang="fr-FR" sz="1000" b="0" i="0" u="none" strike="noStrike" kern="1200" cap="none" spc="0" normalizeH="0" baseline="0" noProof="0" dirty="0">
                <a:ln>
                  <a:noFill/>
                </a:ln>
                <a:solidFill>
                  <a:prstClr val="black"/>
                </a:solidFill>
                <a:effectLst/>
                <a:uLnTx/>
                <a:uFillTx/>
                <a:latin typeface="Aptos" panose="02110004020202020204"/>
                <a:ea typeface="+mn-ea"/>
                <a:cs typeface="+mn-cs"/>
                <a:hlinkClick r:id="rId2"/>
              </a:rPr>
              <a:t>https://www.climatewatchdata.org/custom-compare/overview?section=summary_of_commitment&amp;targets=CHN-revised_first_ndc%2CCHN-first_ndc%2CCHN-indc</a:t>
            </a:r>
            <a:r>
              <a:rPr kumimoji="0" lang="fr-FR" sz="10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2" name="Slide Number Placeholder 1">
            <a:extLst>
              <a:ext uri="{FF2B5EF4-FFF2-40B4-BE49-F238E27FC236}">
                <a16:creationId xmlns:a16="http://schemas.microsoft.com/office/drawing/2014/main" id="{CFAE3FF5-352F-46B2-73E8-9CE242515E5D}"/>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888652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re 1">
            <a:extLst>
              <a:ext uri="{FF2B5EF4-FFF2-40B4-BE49-F238E27FC236}">
                <a16:creationId xmlns:a16="http://schemas.microsoft.com/office/drawing/2014/main" id="{9AD21530-D8C0-6E72-1EBB-46FC8560D8E7}"/>
              </a:ext>
            </a:extLst>
          </p:cNvPr>
          <p:cNvSpPr txBox="1">
            <a:spLocks/>
          </p:cNvSpPr>
          <p:nvPr/>
        </p:nvSpPr>
        <p:spPr>
          <a:xfrm>
            <a:off x="2152650" y="365127"/>
            <a:ext cx="7886700" cy="5393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900" b="1" i="0" u="none" strike="noStrike" kern="1200" cap="none" spc="0" normalizeH="0" baseline="0" noProof="0" dirty="0">
                <a:ln>
                  <a:noFill/>
                </a:ln>
                <a:solidFill>
                  <a:srgbClr val="014A94"/>
                </a:solidFill>
                <a:effectLst/>
                <a:uLnTx/>
                <a:uFillTx/>
                <a:latin typeface="Arial" panose="020B0604020202020204" pitchFamily="34" charset="0"/>
                <a:ea typeface="ヒラギノ角ゴ Pro W3" panose="020B0300000000000000" pitchFamily="34" charset="-128"/>
                <a:cs typeface="+mj-cs"/>
              </a:rPr>
              <a:t>Exemples de NDC</a:t>
            </a:r>
          </a:p>
        </p:txBody>
      </p:sp>
      <p:graphicFrame>
        <p:nvGraphicFramePr>
          <p:cNvPr id="12" name="Tableau 12">
            <a:extLst>
              <a:ext uri="{FF2B5EF4-FFF2-40B4-BE49-F238E27FC236}">
                <a16:creationId xmlns:a16="http://schemas.microsoft.com/office/drawing/2014/main" id="{C5F9D4F9-6259-DEF0-3699-8638E10764CE}"/>
              </a:ext>
            </a:extLst>
          </p:cNvPr>
          <p:cNvGraphicFramePr>
            <a:graphicFrameLocks noGrp="1"/>
          </p:cNvGraphicFramePr>
          <p:nvPr/>
        </p:nvGraphicFramePr>
        <p:xfrm>
          <a:off x="2152650" y="1144451"/>
          <a:ext cx="8028333" cy="3566886"/>
        </p:xfrm>
        <a:graphic>
          <a:graphicData uri="http://schemas.openxmlformats.org/drawingml/2006/table">
            <a:tbl>
              <a:tblPr firstRow="1" bandRow="1">
                <a:tableStyleId>{5940675A-B579-460E-94D1-54222C63F5DA}</a:tableStyleId>
              </a:tblPr>
              <a:tblGrid>
                <a:gridCol w="2676111">
                  <a:extLst>
                    <a:ext uri="{9D8B030D-6E8A-4147-A177-3AD203B41FA5}">
                      <a16:colId xmlns:a16="http://schemas.microsoft.com/office/drawing/2014/main" val="3996685709"/>
                    </a:ext>
                  </a:extLst>
                </a:gridCol>
                <a:gridCol w="2676111">
                  <a:extLst>
                    <a:ext uri="{9D8B030D-6E8A-4147-A177-3AD203B41FA5}">
                      <a16:colId xmlns:a16="http://schemas.microsoft.com/office/drawing/2014/main" val="3929825300"/>
                    </a:ext>
                  </a:extLst>
                </a:gridCol>
                <a:gridCol w="2676111">
                  <a:extLst>
                    <a:ext uri="{9D8B030D-6E8A-4147-A177-3AD203B41FA5}">
                      <a16:colId xmlns:a16="http://schemas.microsoft.com/office/drawing/2014/main" val="2647635317"/>
                    </a:ext>
                  </a:extLst>
                </a:gridCol>
              </a:tblGrid>
              <a:tr h="457926">
                <a:tc>
                  <a:txBody>
                    <a:bodyPr/>
                    <a:lstStyle/>
                    <a:p>
                      <a:r>
                        <a:rPr lang="fr-FR" b="1" dirty="0"/>
                        <a:t>Party</a:t>
                      </a:r>
                    </a:p>
                  </a:txBody>
                  <a:tcPr/>
                </a:tc>
                <a:tc>
                  <a:txBody>
                    <a:bodyPr/>
                    <a:lstStyle/>
                    <a:p>
                      <a:r>
                        <a:rPr lang="fr-FR" b="1" dirty="0"/>
                        <a:t>First NDC</a:t>
                      </a:r>
                    </a:p>
                  </a:txBody>
                  <a:tcPr/>
                </a:tc>
                <a:tc>
                  <a:txBody>
                    <a:bodyPr/>
                    <a:lstStyle/>
                    <a:p>
                      <a:r>
                        <a:rPr lang="fr-FR" b="1" dirty="0" err="1"/>
                        <a:t>Updated</a:t>
                      </a:r>
                      <a:r>
                        <a:rPr lang="fr-FR" b="1" dirty="0"/>
                        <a:t> First NDC</a:t>
                      </a:r>
                    </a:p>
                  </a:txBody>
                  <a:tcPr/>
                </a:tc>
                <a:extLst>
                  <a:ext uri="{0D108BD9-81ED-4DB2-BD59-A6C34878D82A}">
                    <a16:rowId xmlns:a16="http://schemas.microsoft.com/office/drawing/2014/main" val="2303290511"/>
                  </a:ext>
                </a:extLst>
              </a:tr>
              <a:tr h="952955">
                <a:tc>
                  <a:txBody>
                    <a:bodyPr/>
                    <a:lstStyle/>
                    <a:p>
                      <a:r>
                        <a:rPr lang="fr-FR" dirty="0"/>
                        <a:t>United States of America </a:t>
                      </a:r>
                      <a:r>
                        <a:rPr lang="fr-FR" sz="1800" dirty="0"/>
                        <a:t>(11,84% of global GHG </a:t>
                      </a:r>
                      <a:r>
                        <a:rPr lang="fr-FR" sz="1800" dirty="0" err="1"/>
                        <a:t>emissions</a:t>
                      </a:r>
                      <a:r>
                        <a:rPr lang="fr-FR" sz="1800" dirty="0"/>
                        <a:t>)</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800" b="0" i="0" kern="1200" dirty="0">
                          <a:solidFill>
                            <a:schemeClr val="tx1"/>
                          </a:solidFill>
                          <a:effectLst/>
                          <a:latin typeface="+mn-lt"/>
                          <a:ea typeface="+mn-ea"/>
                          <a:cs typeface="+mn-cs"/>
                        </a:rPr>
                        <a:t>The United States </a:t>
                      </a:r>
                      <a:r>
                        <a:rPr lang="fr-BE" sz="1800" b="0" i="0" kern="1200" dirty="0" err="1">
                          <a:solidFill>
                            <a:schemeClr val="tx1"/>
                          </a:solidFill>
                          <a:effectLst/>
                          <a:latin typeface="+mn-lt"/>
                          <a:ea typeface="+mn-ea"/>
                          <a:cs typeface="+mn-cs"/>
                        </a:rPr>
                        <a:t>intends</a:t>
                      </a:r>
                      <a:r>
                        <a:rPr lang="fr-BE" sz="1800" b="0" i="0" kern="1200" dirty="0">
                          <a:solidFill>
                            <a:schemeClr val="tx1"/>
                          </a:solidFill>
                          <a:effectLst/>
                          <a:latin typeface="+mn-lt"/>
                          <a:ea typeface="+mn-ea"/>
                          <a:cs typeface="+mn-cs"/>
                        </a:rPr>
                        <a:t> to </a:t>
                      </a:r>
                      <a:r>
                        <a:rPr lang="fr-BE" sz="1800" b="0" i="0" kern="1200" dirty="0" err="1">
                          <a:solidFill>
                            <a:schemeClr val="tx1"/>
                          </a:solidFill>
                          <a:effectLst/>
                          <a:latin typeface="+mn-lt"/>
                          <a:ea typeface="+mn-ea"/>
                          <a:cs typeface="+mn-cs"/>
                        </a:rPr>
                        <a:t>achieve</a:t>
                      </a:r>
                      <a:r>
                        <a:rPr lang="fr-BE" sz="1800" b="0" i="0" kern="1200" dirty="0">
                          <a:solidFill>
                            <a:schemeClr val="tx1"/>
                          </a:solidFill>
                          <a:effectLst/>
                          <a:latin typeface="+mn-lt"/>
                          <a:ea typeface="+mn-ea"/>
                          <a:cs typeface="+mn-cs"/>
                        </a:rPr>
                        <a:t> an </a:t>
                      </a:r>
                      <a:r>
                        <a:rPr lang="fr-BE" sz="1800" b="0" i="0" kern="1200" dirty="0" err="1">
                          <a:solidFill>
                            <a:schemeClr val="tx1"/>
                          </a:solidFill>
                          <a:effectLst/>
                          <a:latin typeface="+mn-lt"/>
                          <a:ea typeface="+mn-ea"/>
                          <a:cs typeface="+mn-cs"/>
                        </a:rPr>
                        <a:t>economy-wide</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target</a:t>
                      </a:r>
                      <a:r>
                        <a:rPr lang="fr-BE" sz="1800" b="0" i="0" kern="1200" dirty="0">
                          <a:solidFill>
                            <a:schemeClr val="tx1"/>
                          </a:solidFill>
                          <a:effectLst/>
                          <a:latin typeface="+mn-lt"/>
                          <a:ea typeface="+mn-ea"/>
                          <a:cs typeface="+mn-cs"/>
                        </a:rPr>
                        <a:t> of </a:t>
                      </a:r>
                      <a:r>
                        <a:rPr lang="fr-BE" sz="1800" b="0" i="0" kern="1200" dirty="0" err="1">
                          <a:solidFill>
                            <a:schemeClr val="tx1"/>
                          </a:solidFill>
                          <a:effectLst/>
                          <a:latin typeface="+mn-lt"/>
                          <a:ea typeface="+mn-ea"/>
                          <a:cs typeface="+mn-cs"/>
                        </a:rPr>
                        <a:t>reducing</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its</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greenhouse</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gas</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emissions</a:t>
                      </a:r>
                      <a:r>
                        <a:rPr lang="fr-BE" sz="1800" b="0" i="0" kern="1200" dirty="0">
                          <a:solidFill>
                            <a:schemeClr val="tx1"/>
                          </a:solidFill>
                          <a:effectLst/>
                          <a:latin typeface="+mn-lt"/>
                          <a:ea typeface="+mn-ea"/>
                          <a:cs typeface="+mn-cs"/>
                        </a:rPr>
                        <a:t> by 26%-28% </a:t>
                      </a:r>
                      <a:r>
                        <a:rPr lang="fr-BE" sz="1800" b="0" i="0" kern="1200" dirty="0" err="1">
                          <a:solidFill>
                            <a:schemeClr val="tx1"/>
                          </a:solidFill>
                          <a:effectLst/>
                          <a:latin typeface="+mn-lt"/>
                          <a:ea typeface="+mn-ea"/>
                          <a:cs typeface="+mn-cs"/>
                        </a:rPr>
                        <a:t>below</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its</a:t>
                      </a:r>
                      <a:r>
                        <a:rPr lang="fr-BE" sz="1800" b="0" i="0" kern="1200" dirty="0">
                          <a:solidFill>
                            <a:schemeClr val="tx1"/>
                          </a:solidFill>
                          <a:effectLst/>
                          <a:latin typeface="+mn-lt"/>
                          <a:ea typeface="+mn-ea"/>
                          <a:cs typeface="+mn-cs"/>
                        </a:rPr>
                        <a:t> 2005 </a:t>
                      </a:r>
                      <a:r>
                        <a:rPr lang="fr-BE" sz="1800" b="0" i="0" kern="1200" dirty="0" err="1">
                          <a:solidFill>
                            <a:schemeClr val="tx1"/>
                          </a:solidFill>
                          <a:effectLst/>
                          <a:latin typeface="+mn-lt"/>
                          <a:ea typeface="+mn-ea"/>
                          <a:cs typeface="+mn-cs"/>
                        </a:rPr>
                        <a:t>level</a:t>
                      </a:r>
                      <a:r>
                        <a:rPr lang="fr-BE" sz="1800" b="0" i="0" kern="1200" dirty="0">
                          <a:solidFill>
                            <a:schemeClr val="tx1"/>
                          </a:solidFill>
                          <a:effectLst/>
                          <a:latin typeface="+mn-lt"/>
                          <a:ea typeface="+mn-ea"/>
                          <a:cs typeface="+mn-cs"/>
                        </a:rPr>
                        <a:t> in 2025 and to </a:t>
                      </a:r>
                      <a:r>
                        <a:rPr lang="fr-BE" sz="1800" b="0" i="0" kern="1200" dirty="0" err="1">
                          <a:solidFill>
                            <a:schemeClr val="tx1"/>
                          </a:solidFill>
                          <a:effectLst/>
                          <a:latin typeface="+mn-lt"/>
                          <a:ea typeface="+mn-ea"/>
                          <a:cs typeface="+mn-cs"/>
                        </a:rPr>
                        <a:t>make</a:t>
                      </a:r>
                      <a:r>
                        <a:rPr lang="fr-BE" sz="1800" b="0" i="0" kern="1200" dirty="0">
                          <a:solidFill>
                            <a:schemeClr val="tx1"/>
                          </a:solidFill>
                          <a:effectLst/>
                          <a:latin typeface="+mn-lt"/>
                          <a:ea typeface="+mn-ea"/>
                          <a:cs typeface="+mn-cs"/>
                        </a:rPr>
                        <a:t> best efforts to </a:t>
                      </a:r>
                      <a:r>
                        <a:rPr lang="fr-BE" sz="1800" b="0" i="0" kern="1200" dirty="0" err="1">
                          <a:solidFill>
                            <a:schemeClr val="tx1"/>
                          </a:solidFill>
                          <a:effectLst/>
                          <a:latin typeface="+mn-lt"/>
                          <a:ea typeface="+mn-ea"/>
                          <a:cs typeface="+mn-cs"/>
                        </a:rPr>
                        <a:t>reduce</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its</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emissions</a:t>
                      </a:r>
                      <a:r>
                        <a:rPr lang="fr-BE" sz="1800" b="0" i="0" kern="1200" dirty="0">
                          <a:solidFill>
                            <a:schemeClr val="tx1"/>
                          </a:solidFill>
                          <a:effectLst/>
                          <a:latin typeface="+mn-lt"/>
                          <a:ea typeface="+mn-ea"/>
                          <a:cs typeface="+mn-cs"/>
                        </a:rPr>
                        <a:t> by 28%.</a:t>
                      </a:r>
                      <a:endParaRPr lang="fr-FR" dirty="0"/>
                    </a:p>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800" b="0" i="0" kern="1200" dirty="0">
                          <a:solidFill>
                            <a:schemeClr val="tx1"/>
                          </a:solidFill>
                          <a:effectLst/>
                          <a:latin typeface="+mn-lt"/>
                          <a:ea typeface="+mn-ea"/>
                          <a:cs typeface="+mn-cs"/>
                        </a:rPr>
                        <a:t>The </a:t>
                      </a:r>
                      <a:r>
                        <a:rPr lang="fr-BE" sz="1800" b="0" i="0" kern="1200" dirty="0" err="1">
                          <a:solidFill>
                            <a:schemeClr val="tx1"/>
                          </a:solidFill>
                          <a:effectLst/>
                          <a:latin typeface="+mn-lt"/>
                          <a:ea typeface="+mn-ea"/>
                          <a:cs typeface="+mn-cs"/>
                        </a:rPr>
                        <a:t>nationally</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determined</a:t>
                      </a:r>
                      <a:r>
                        <a:rPr lang="fr-BE" sz="1800" b="0" i="0" kern="1200" dirty="0">
                          <a:solidFill>
                            <a:schemeClr val="tx1"/>
                          </a:solidFill>
                          <a:effectLst/>
                          <a:latin typeface="+mn-lt"/>
                          <a:ea typeface="+mn-ea"/>
                          <a:cs typeface="+mn-cs"/>
                        </a:rPr>
                        <a:t> contribution of the United States of America </a:t>
                      </a:r>
                      <a:r>
                        <a:rPr lang="fr-BE" sz="1800" b="0" i="0" kern="1200" dirty="0" err="1">
                          <a:solidFill>
                            <a:schemeClr val="tx1"/>
                          </a:solidFill>
                          <a:effectLst/>
                          <a:latin typeface="+mn-lt"/>
                          <a:ea typeface="+mn-ea"/>
                          <a:cs typeface="+mn-cs"/>
                        </a:rPr>
                        <a:t>is</a:t>
                      </a:r>
                      <a:r>
                        <a:rPr lang="fr-BE" sz="1800" b="0" i="0" kern="1200" dirty="0">
                          <a:solidFill>
                            <a:schemeClr val="tx1"/>
                          </a:solidFill>
                          <a:effectLst/>
                          <a:latin typeface="+mn-lt"/>
                          <a:ea typeface="+mn-ea"/>
                          <a:cs typeface="+mn-cs"/>
                        </a:rPr>
                        <a:t>: To </a:t>
                      </a:r>
                      <a:r>
                        <a:rPr lang="fr-BE" sz="1800" b="0" i="0" kern="1200" dirty="0" err="1">
                          <a:solidFill>
                            <a:schemeClr val="tx1"/>
                          </a:solidFill>
                          <a:effectLst/>
                          <a:latin typeface="+mn-lt"/>
                          <a:ea typeface="+mn-ea"/>
                          <a:cs typeface="+mn-cs"/>
                        </a:rPr>
                        <a:t>achieve</a:t>
                      </a:r>
                      <a:r>
                        <a:rPr lang="fr-BE" sz="1800" b="0" i="0" kern="1200" dirty="0">
                          <a:solidFill>
                            <a:schemeClr val="tx1"/>
                          </a:solidFill>
                          <a:effectLst/>
                          <a:latin typeface="+mn-lt"/>
                          <a:ea typeface="+mn-ea"/>
                          <a:cs typeface="+mn-cs"/>
                        </a:rPr>
                        <a:t> an </a:t>
                      </a:r>
                      <a:r>
                        <a:rPr lang="fr-BE" sz="1800" b="0" i="0" kern="1200" dirty="0" err="1">
                          <a:solidFill>
                            <a:schemeClr val="tx1"/>
                          </a:solidFill>
                          <a:effectLst/>
                          <a:latin typeface="+mn-lt"/>
                          <a:ea typeface="+mn-ea"/>
                          <a:cs typeface="+mn-cs"/>
                        </a:rPr>
                        <a:t>economy-wide</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target</a:t>
                      </a:r>
                      <a:r>
                        <a:rPr lang="fr-BE" sz="1800" b="0" i="0" kern="1200" dirty="0">
                          <a:solidFill>
                            <a:schemeClr val="tx1"/>
                          </a:solidFill>
                          <a:effectLst/>
                          <a:latin typeface="+mn-lt"/>
                          <a:ea typeface="+mn-ea"/>
                          <a:cs typeface="+mn-cs"/>
                        </a:rPr>
                        <a:t> of </a:t>
                      </a:r>
                      <a:r>
                        <a:rPr lang="fr-BE" sz="1800" b="0" i="0" kern="1200" dirty="0" err="1">
                          <a:solidFill>
                            <a:schemeClr val="tx1"/>
                          </a:solidFill>
                          <a:effectLst/>
                          <a:latin typeface="+mn-lt"/>
                          <a:ea typeface="+mn-ea"/>
                          <a:cs typeface="+mn-cs"/>
                        </a:rPr>
                        <a:t>reducing</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its</a:t>
                      </a:r>
                      <a:r>
                        <a:rPr lang="fr-BE" sz="1800" b="0" i="0" kern="1200" dirty="0">
                          <a:solidFill>
                            <a:schemeClr val="tx1"/>
                          </a:solidFill>
                          <a:effectLst/>
                          <a:latin typeface="+mn-lt"/>
                          <a:ea typeface="+mn-ea"/>
                          <a:cs typeface="+mn-cs"/>
                        </a:rPr>
                        <a:t> net </a:t>
                      </a:r>
                      <a:r>
                        <a:rPr lang="fr-BE" sz="1800" b="0" i="0" kern="1200" dirty="0" err="1">
                          <a:solidFill>
                            <a:schemeClr val="tx1"/>
                          </a:solidFill>
                          <a:effectLst/>
                          <a:latin typeface="+mn-lt"/>
                          <a:ea typeface="+mn-ea"/>
                          <a:cs typeface="+mn-cs"/>
                        </a:rPr>
                        <a:t>greenhouse</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gas</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emissions</a:t>
                      </a:r>
                      <a:r>
                        <a:rPr lang="fr-BE" sz="1800" b="0" i="0" kern="1200" dirty="0">
                          <a:solidFill>
                            <a:schemeClr val="tx1"/>
                          </a:solidFill>
                          <a:effectLst/>
                          <a:latin typeface="+mn-lt"/>
                          <a:ea typeface="+mn-ea"/>
                          <a:cs typeface="+mn-cs"/>
                        </a:rPr>
                        <a:t> </a:t>
                      </a:r>
                      <a:r>
                        <a:rPr lang="fr-BE" sz="1800" b="0" i="0" kern="1200" dirty="0">
                          <a:solidFill>
                            <a:schemeClr val="tx1"/>
                          </a:solidFill>
                          <a:effectLst/>
                          <a:highlight>
                            <a:srgbClr val="FFFF00"/>
                          </a:highlight>
                          <a:latin typeface="+mn-lt"/>
                          <a:ea typeface="+mn-ea"/>
                          <a:cs typeface="+mn-cs"/>
                        </a:rPr>
                        <a:t>by 50-52 percent </a:t>
                      </a:r>
                      <a:r>
                        <a:rPr lang="fr-BE" sz="1800" b="0" i="0" kern="1200" dirty="0" err="1">
                          <a:solidFill>
                            <a:schemeClr val="tx1"/>
                          </a:solidFill>
                          <a:effectLst/>
                          <a:highlight>
                            <a:srgbClr val="FFFF00"/>
                          </a:highlight>
                          <a:latin typeface="+mn-lt"/>
                          <a:ea typeface="+mn-ea"/>
                          <a:cs typeface="+mn-cs"/>
                        </a:rPr>
                        <a:t>below</a:t>
                      </a:r>
                      <a:r>
                        <a:rPr lang="fr-BE" sz="1800" b="0" i="0" kern="1200" dirty="0">
                          <a:solidFill>
                            <a:schemeClr val="tx1"/>
                          </a:solidFill>
                          <a:effectLst/>
                          <a:highlight>
                            <a:srgbClr val="FFFF00"/>
                          </a:highlight>
                          <a:latin typeface="+mn-lt"/>
                          <a:ea typeface="+mn-ea"/>
                          <a:cs typeface="+mn-cs"/>
                        </a:rPr>
                        <a:t> 2005 </a:t>
                      </a:r>
                      <a:r>
                        <a:rPr lang="fr-BE" sz="1800" b="0" i="0" kern="1200" dirty="0" err="1">
                          <a:solidFill>
                            <a:schemeClr val="tx1"/>
                          </a:solidFill>
                          <a:effectLst/>
                          <a:highlight>
                            <a:srgbClr val="FFFF00"/>
                          </a:highlight>
                          <a:latin typeface="+mn-lt"/>
                          <a:ea typeface="+mn-ea"/>
                          <a:cs typeface="+mn-cs"/>
                        </a:rPr>
                        <a:t>levels</a:t>
                      </a:r>
                      <a:r>
                        <a:rPr lang="fr-BE" sz="1800" b="0" i="0" kern="1200" dirty="0">
                          <a:solidFill>
                            <a:schemeClr val="tx1"/>
                          </a:solidFill>
                          <a:effectLst/>
                          <a:highlight>
                            <a:srgbClr val="FFFF00"/>
                          </a:highlight>
                          <a:latin typeface="+mn-lt"/>
                          <a:ea typeface="+mn-ea"/>
                          <a:cs typeface="+mn-cs"/>
                        </a:rPr>
                        <a:t> in 2030.</a:t>
                      </a:r>
                      <a:endParaRPr lang="fr-FR" dirty="0">
                        <a:highlight>
                          <a:srgbClr val="FFFF00"/>
                        </a:highlight>
                      </a:endParaRPr>
                    </a:p>
                    <a:p>
                      <a:endParaRPr lang="fr-FR" dirty="0"/>
                    </a:p>
                  </a:txBody>
                  <a:tcPr/>
                </a:tc>
                <a:extLst>
                  <a:ext uri="{0D108BD9-81ED-4DB2-BD59-A6C34878D82A}">
                    <a16:rowId xmlns:a16="http://schemas.microsoft.com/office/drawing/2014/main" val="4210387542"/>
                  </a:ext>
                </a:extLst>
              </a:tr>
            </a:tbl>
          </a:graphicData>
        </a:graphic>
      </p:graphicFrame>
      <p:sp>
        <p:nvSpPr>
          <p:cNvPr id="2" name="ZoneTexte 1">
            <a:extLst>
              <a:ext uri="{FF2B5EF4-FFF2-40B4-BE49-F238E27FC236}">
                <a16:creationId xmlns:a16="http://schemas.microsoft.com/office/drawing/2014/main" id="{485A4B42-4727-B815-7C11-9099D36580F5}"/>
              </a:ext>
            </a:extLst>
          </p:cNvPr>
          <p:cNvSpPr txBox="1"/>
          <p:nvPr/>
        </p:nvSpPr>
        <p:spPr>
          <a:xfrm>
            <a:off x="2152650" y="5605669"/>
            <a:ext cx="5466521"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Source : </a:t>
            </a:r>
            <a:r>
              <a:rPr kumimoji="0" lang="fr-FR"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2"/>
              </a:rPr>
              <a:t>https://www.climatewatchdata.org/custom-compare/overview?section=overall_comparison_with_previous_ndc&amp;targets=USA-revised_first_ndc,USA-first_ndc,USA-indc</a:t>
            </a:r>
            <a:r>
              <a:rPr kumimoji="0" lang="fr-FR"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sp>
        <p:nvSpPr>
          <p:cNvPr id="3" name="Slide Number Placeholder 2">
            <a:extLst>
              <a:ext uri="{FF2B5EF4-FFF2-40B4-BE49-F238E27FC236}">
                <a16:creationId xmlns:a16="http://schemas.microsoft.com/office/drawing/2014/main" id="{E2566E3C-73C5-6997-2465-C9195D857EA0}"/>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36840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re 1">
            <a:extLst>
              <a:ext uri="{FF2B5EF4-FFF2-40B4-BE49-F238E27FC236}">
                <a16:creationId xmlns:a16="http://schemas.microsoft.com/office/drawing/2014/main" id="{9AD21530-D8C0-6E72-1EBB-46FC8560D8E7}"/>
              </a:ext>
            </a:extLst>
          </p:cNvPr>
          <p:cNvSpPr txBox="1">
            <a:spLocks/>
          </p:cNvSpPr>
          <p:nvPr/>
        </p:nvSpPr>
        <p:spPr>
          <a:xfrm>
            <a:off x="2152650" y="365127"/>
            <a:ext cx="7886700" cy="5393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900" b="1" i="0" u="none" strike="noStrike" kern="1200" cap="none" spc="0" normalizeH="0" baseline="0" noProof="0" dirty="0">
                <a:ln>
                  <a:noFill/>
                </a:ln>
                <a:solidFill>
                  <a:srgbClr val="014A94"/>
                </a:solidFill>
                <a:effectLst/>
                <a:uLnTx/>
                <a:uFillTx/>
                <a:latin typeface="Arial" panose="020B0604020202020204" pitchFamily="34" charset="0"/>
                <a:ea typeface="ヒラギノ角ゴ Pro W3" panose="020B0300000000000000" pitchFamily="34" charset="-128"/>
                <a:cs typeface="+mj-cs"/>
              </a:rPr>
              <a:t>Exemples de NDC</a:t>
            </a:r>
          </a:p>
        </p:txBody>
      </p:sp>
      <p:graphicFrame>
        <p:nvGraphicFramePr>
          <p:cNvPr id="12" name="Tableau 12">
            <a:extLst>
              <a:ext uri="{FF2B5EF4-FFF2-40B4-BE49-F238E27FC236}">
                <a16:creationId xmlns:a16="http://schemas.microsoft.com/office/drawing/2014/main" id="{C5F9D4F9-6259-DEF0-3699-8638E10764CE}"/>
              </a:ext>
            </a:extLst>
          </p:cNvPr>
          <p:cNvGraphicFramePr>
            <a:graphicFrameLocks noGrp="1"/>
          </p:cNvGraphicFramePr>
          <p:nvPr/>
        </p:nvGraphicFramePr>
        <p:xfrm>
          <a:off x="2204409" y="927967"/>
          <a:ext cx="6210165" cy="5120640"/>
        </p:xfrm>
        <a:graphic>
          <a:graphicData uri="http://schemas.openxmlformats.org/drawingml/2006/table">
            <a:tbl>
              <a:tblPr firstRow="1" bandRow="1">
                <a:tableStyleId>{5940675A-B579-460E-94D1-54222C63F5DA}</a:tableStyleId>
              </a:tblPr>
              <a:tblGrid>
                <a:gridCol w="2070055">
                  <a:extLst>
                    <a:ext uri="{9D8B030D-6E8A-4147-A177-3AD203B41FA5}">
                      <a16:colId xmlns:a16="http://schemas.microsoft.com/office/drawing/2014/main" val="3996685709"/>
                    </a:ext>
                  </a:extLst>
                </a:gridCol>
                <a:gridCol w="2070055">
                  <a:extLst>
                    <a:ext uri="{9D8B030D-6E8A-4147-A177-3AD203B41FA5}">
                      <a16:colId xmlns:a16="http://schemas.microsoft.com/office/drawing/2014/main" val="3929825300"/>
                    </a:ext>
                  </a:extLst>
                </a:gridCol>
                <a:gridCol w="2070055">
                  <a:extLst>
                    <a:ext uri="{9D8B030D-6E8A-4147-A177-3AD203B41FA5}">
                      <a16:colId xmlns:a16="http://schemas.microsoft.com/office/drawing/2014/main" val="2647635317"/>
                    </a:ext>
                  </a:extLst>
                </a:gridCol>
              </a:tblGrid>
              <a:tr h="457926">
                <a:tc>
                  <a:txBody>
                    <a:bodyPr/>
                    <a:lstStyle/>
                    <a:p>
                      <a:r>
                        <a:rPr lang="fr-FR" b="1" dirty="0"/>
                        <a:t>Party</a:t>
                      </a:r>
                    </a:p>
                  </a:txBody>
                  <a:tcPr/>
                </a:tc>
                <a:tc>
                  <a:txBody>
                    <a:bodyPr/>
                    <a:lstStyle/>
                    <a:p>
                      <a:r>
                        <a:rPr lang="fr-FR" b="1" dirty="0"/>
                        <a:t>First NDC</a:t>
                      </a:r>
                    </a:p>
                  </a:txBody>
                  <a:tcPr/>
                </a:tc>
                <a:tc>
                  <a:txBody>
                    <a:bodyPr/>
                    <a:lstStyle/>
                    <a:p>
                      <a:r>
                        <a:rPr lang="fr-FR" b="1" dirty="0" err="1"/>
                        <a:t>Updated</a:t>
                      </a:r>
                      <a:r>
                        <a:rPr lang="fr-FR" b="1" dirty="0"/>
                        <a:t> First NDC</a:t>
                      </a:r>
                    </a:p>
                  </a:txBody>
                  <a:tcPr/>
                </a:tc>
                <a:extLst>
                  <a:ext uri="{0D108BD9-81ED-4DB2-BD59-A6C34878D82A}">
                    <a16:rowId xmlns:a16="http://schemas.microsoft.com/office/drawing/2014/main" val="2303290511"/>
                  </a:ext>
                </a:extLst>
              </a:tr>
              <a:tr h="952955">
                <a:tc>
                  <a:txBody>
                    <a:bodyPr/>
                    <a:lstStyle/>
                    <a:p>
                      <a:r>
                        <a:rPr lang="fr-FR" dirty="0" err="1"/>
                        <a:t>European</a:t>
                      </a:r>
                      <a:r>
                        <a:rPr lang="fr-FR" dirty="0"/>
                        <a:t> Union </a:t>
                      </a:r>
                      <a:r>
                        <a:rPr lang="fr-FR" sz="1800" dirty="0"/>
                        <a:t>(6,81% of global GHG </a:t>
                      </a:r>
                      <a:r>
                        <a:rPr lang="fr-FR" sz="1800" dirty="0" err="1"/>
                        <a:t>emissions</a:t>
                      </a:r>
                      <a:r>
                        <a:rPr lang="fr-FR" sz="1800" dirty="0"/>
                        <a:t>)</a:t>
                      </a:r>
                      <a:endParaRPr lang="fr-FR" dirty="0"/>
                    </a:p>
                  </a:txBody>
                  <a:tcPr/>
                </a:tc>
                <a:tc>
                  <a:txBody>
                    <a:bodyPr/>
                    <a:lstStyle/>
                    <a:p>
                      <a:r>
                        <a:rPr lang="fr-BE" sz="1800" b="0" i="0" kern="1200" dirty="0">
                          <a:solidFill>
                            <a:schemeClr val="tx1"/>
                          </a:solidFill>
                          <a:effectLst/>
                          <a:latin typeface="+mn-lt"/>
                          <a:ea typeface="+mn-ea"/>
                          <a:cs typeface="+mn-cs"/>
                        </a:rPr>
                        <a:t>The </a:t>
                      </a:r>
                      <a:r>
                        <a:rPr lang="fr-BE" dirty="0"/>
                        <a:t>EU</a:t>
                      </a:r>
                      <a:r>
                        <a:rPr lang="fr-BE" sz="1800" b="0" i="0" kern="1200" dirty="0">
                          <a:solidFill>
                            <a:schemeClr val="tx1"/>
                          </a:solidFill>
                          <a:effectLst/>
                          <a:latin typeface="+mn-lt"/>
                          <a:ea typeface="+mn-ea"/>
                          <a:cs typeface="+mn-cs"/>
                        </a:rPr>
                        <a:t> and </a:t>
                      </a:r>
                      <a:r>
                        <a:rPr lang="fr-BE" sz="1800" b="0" i="0" kern="1200" dirty="0" err="1">
                          <a:solidFill>
                            <a:schemeClr val="tx1"/>
                          </a:solidFill>
                          <a:effectLst/>
                          <a:latin typeface="+mn-lt"/>
                          <a:ea typeface="+mn-ea"/>
                          <a:cs typeface="+mn-cs"/>
                        </a:rPr>
                        <a:t>its</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Member</a:t>
                      </a:r>
                      <a:r>
                        <a:rPr lang="fr-BE" sz="1800" b="0" i="0" kern="1200" dirty="0">
                          <a:solidFill>
                            <a:schemeClr val="tx1"/>
                          </a:solidFill>
                          <a:effectLst/>
                          <a:latin typeface="+mn-lt"/>
                          <a:ea typeface="+mn-ea"/>
                          <a:cs typeface="+mn-cs"/>
                        </a:rPr>
                        <a:t> States are </a:t>
                      </a:r>
                      <a:r>
                        <a:rPr lang="fr-BE" sz="1800" b="0" i="0" kern="1200" dirty="0" err="1">
                          <a:solidFill>
                            <a:schemeClr val="tx1"/>
                          </a:solidFill>
                          <a:effectLst/>
                          <a:latin typeface="+mn-lt"/>
                          <a:ea typeface="+mn-ea"/>
                          <a:cs typeface="+mn-cs"/>
                        </a:rPr>
                        <a:t>committed</a:t>
                      </a:r>
                      <a:r>
                        <a:rPr lang="fr-BE" sz="1800" b="0" i="0" kern="1200" dirty="0">
                          <a:solidFill>
                            <a:schemeClr val="tx1"/>
                          </a:solidFill>
                          <a:effectLst/>
                          <a:latin typeface="+mn-lt"/>
                          <a:ea typeface="+mn-ea"/>
                          <a:cs typeface="+mn-cs"/>
                        </a:rPr>
                        <a:t> to a binding </a:t>
                      </a:r>
                      <a:r>
                        <a:rPr lang="fr-BE" sz="1800" b="0" i="0" kern="1200" dirty="0" err="1">
                          <a:solidFill>
                            <a:schemeClr val="tx1"/>
                          </a:solidFill>
                          <a:effectLst/>
                          <a:latin typeface="+mn-lt"/>
                          <a:ea typeface="+mn-ea"/>
                          <a:cs typeface="+mn-cs"/>
                        </a:rPr>
                        <a:t>target</a:t>
                      </a:r>
                      <a:r>
                        <a:rPr lang="fr-BE" sz="1800" b="0" i="0" kern="1200" dirty="0">
                          <a:solidFill>
                            <a:schemeClr val="tx1"/>
                          </a:solidFill>
                          <a:effectLst/>
                          <a:latin typeface="+mn-lt"/>
                          <a:ea typeface="+mn-ea"/>
                          <a:cs typeface="+mn-cs"/>
                        </a:rPr>
                        <a:t> of an at least 40% </a:t>
                      </a:r>
                      <a:r>
                        <a:rPr lang="fr-BE" sz="1800" b="0" i="0" kern="1200" dirty="0" err="1">
                          <a:solidFill>
                            <a:schemeClr val="tx1"/>
                          </a:solidFill>
                          <a:effectLst/>
                          <a:latin typeface="+mn-lt"/>
                          <a:ea typeface="+mn-ea"/>
                          <a:cs typeface="+mn-cs"/>
                        </a:rPr>
                        <a:t>domestic</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reduction</a:t>
                      </a:r>
                      <a:r>
                        <a:rPr lang="fr-BE" sz="1800" b="0" i="0" kern="1200" dirty="0">
                          <a:solidFill>
                            <a:schemeClr val="tx1"/>
                          </a:solidFill>
                          <a:effectLst/>
                          <a:latin typeface="+mn-lt"/>
                          <a:ea typeface="+mn-ea"/>
                          <a:cs typeface="+mn-cs"/>
                        </a:rPr>
                        <a:t> in </a:t>
                      </a:r>
                      <a:r>
                        <a:rPr lang="fr-BE" sz="1800" b="0" i="0" kern="1200" dirty="0" err="1">
                          <a:solidFill>
                            <a:schemeClr val="tx1"/>
                          </a:solidFill>
                          <a:effectLst/>
                          <a:latin typeface="+mn-lt"/>
                          <a:ea typeface="+mn-ea"/>
                          <a:cs typeface="+mn-cs"/>
                        </a:rPr>
                        <a:t>greenhouse</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gas</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emissions</a:t>
                      </a:r>
                      <a:r>
                        <a:rPr lang="fr-BE" sz="1800" b="0" i="0" kern="1200" dirty="0">
                          <a:solidFill>
                            <a:schemeClr val="tx1"/>
                          </a:solidFill>
                          <a:effectLst/>
                          <a:latin typeface="+mn-lt"/>
                          <a:ea typeface="+mn-ea"/>
                          <a:cs typeface="+mn-cs"/>
                        </a:rPr>
                        <a:t> by 2030 </a:t>
                      </a:r>
                      <a:r>
                        <a:rPr lang="fr-BE" sz="1800" b="0" i="0" kern="1200" dirty="0" err="1">
                          <a:solidFill>
                            <a:schemeClr val="tx1"/>
                          </a:solidFill>
                          <a:effectLst/>
                          <a:latin typeface="+mn-lt"/>
                          <a:ea typeface="+mn-ea"/>
                          <a:cs typeface="+mn-cs"/>
                        </a:rPr>
                        <a:t>compared</a:t>
                      </a:r>
                      <a:r>
                        <a:rPr lang="fr-BE" sz="1800" b="0" i="0" kern="1200" dirty="0">
                          <a:solidFill>
                            <a:schemeClr val="tx1"/>
                          </a:solidFill>
                          <a:effectLst/>
                          <a:latin typeface="+mn-lt"/>
                          <a:ea typeface="+mn-ea"/>
                          <a:cs typeface="+mn-cs"/>
                        </a:rPr>
                        <a:t> to 1990, to </a:t>
                      </a:r>
                      <a:r>
                        <a:rPr lang="fr-BE" sz="1800" b="0" i="0" kern="1200" dirty="0" err="1">
                          <a:solidFill>
                            <a:schemeClr val="tx1"/>
                          </a:solidFill>
                          <a:effectLst/>
                          <a:latin typeface="+mn-lt"/>
                          <a:ea typeface="+mn-ea"/>
                          <a:cs typeface="+mn-cs"/>
                        </a:rPr>
                        <a:t>be</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fulfilled</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jointly</a:t>
                      </a:r>
                      <a:r>
                        <a:rPr lang="fr-BE" sz="1800" b="0" i="0" kern="1200" dirty="0">
                          <a:solidFill>
                            <a:schemeClr val="tx1"/>
                          </a:solidFill>
                          <a:effectLst/>
                          <a:latin typeface="+mn-lt"/>
                          <a:ea typeface="+mn-ea"/>
                          <a:cs typeface="+mn-cs"/>
                        </a:rPr>
                        <a:t>, as set out in the conclusions by the </a:t>
                      </a:r>
                      <a:r>
                        <a:rPr lang="fr-BE" sz="1800" b="0" i="0" kern="1200" dirty="0" err="1">
                          <a:solidFill>
                            <a:schemeClr val="tx1"/>
                          </a:solidFill>
                          <a:effectLst/>
                          <a:latin typeface="+mn-lt"/>
                          <a:ea typeface="+mn-ea"/>
                          <a:cs typeface="+mn-cs"/>
                        </a:rPr>
                        <a:t>European</a:t>
                      </a:r>
                      <a:r>
                        <a:rPr lang="fr-BE" sz="1800" b="0" i="0" kern="1200" dirty="0">
                          <a:solidFill>
                            <a:schemeClr val="tx1"/>
                          </a:solidFill>
                          <a:effectLst/>
                          <a:latin typeface="+mn-lt"/>
                          <a:ea typeface="+mn-ea"/>
                          <a:cs typeface="+mn-cs"/>
                        </a:rPr>
                        <a:t> Council of </a:t>
                      </a:r>
                      <a:r>
                        <a:rPr lang="fr-BE" sz="1800" b="0" i="0" kern="1200" dirty="0" err="1">
                          <a:solidFill>
                            <a:schemeClr val="tx1"/>
                          </a:solidFill>
                          <a:effectLst/>
                          <a:latin typeface="+mn-lt"/>
                          <a:ea typeface="+mn-ea"/>
                          <a:cs typeface="+mn-cs"/>
                        </a:rPr>
                        <a:t>October</a:t>
                      </a:r>
                      <a:r>
                        <a:rPr lang="fr-BE" sz="1800" b="0" i="0" kern="1200" dirty="0">
                          <a:solidFill>
                            <a:schemeClr val="tx1"/>
                          </a:solidFill>
                          <a:effectLst/>
                          <a:latin typeface="+mn-lt"/>
                          <a:ea typeface="+mn-ea"/>
                          <a:cs typeface="+mn-cs"/>
                        </a:rPr>
                        <a:t> 2014.</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800" b="0" i="0" kern="1200" dirty="0">
                          <a:solidFill>
                            <a:schemeClr val="tx1"/>
                          </a:solidFill>
                          <a:effectLst/>
                          <a:latin typeface="+mn-lt"/>
                          <a:ea typeface="+mn-ea"/>
                          <a:cs typeface="+mn-cs"/>
                        </a:rPr>
                        <a:t>The EU and </a:t>
                      </a:r>
                      <a:r>
                        <a:rPr lang="fr-BE" sz="1800" b="0" i="0" kern="1200" dirty="0" err="1">
                          <a:solidFill>
                            <a:schemeClr val="tx1"/>
                          </a:solidFill>
                          <a:effectLst/>
                          <a:latin typeface="+mn-lt"/>
                          <a:ea typeface="+mn-ea"/>
                          <a:cs typeface="+mn-cs"/>
                        </a:rPr>
                        <a:t>its</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Member</a:t>
                      </a:r>
                      <a:r>
                        <a:rPr lang="fr-BE" sz="1800" b="0" i="0" kern="1200" dirty="0">
                          <a:solidFill>
                            <a:schemeClr val="tx1"/>
                          </a:solidFill>
                          <a:effectLst/>
                          <a:latin typeface="+mn-lt"/>
                          <a:ea typeface="+mn-ea"/>
                          <a:cs typeface="+mn-cs"/>
                        </a:rPr>
                        <a:t> States, acting </a:t>
                      </a:r>
                      <a:r>
                        <a:rPr lang="fr-BE" sz="1800" b="0" i="0" kern="1200" dirty="0" err="1">
                          <a:solidFill>
                            <a:schemeClr val="tx1"/>
                          </a:solidFill>
                          <a:effectLst/>
                          <a:latin typeface="+mn-lt"/>
                          <a:ea typeface="+mn-ea"/>
                          <a:cs typeface="+mn-cs"/>
                        </a:rPr>
                        <a:t>jointly</a:t>
                      </a:r>
                      <a:r>
                        <a:rPr lang="fr-BE" sz="1800" b="0" i="0" kern="1200" dirty="0">
                          <a:solidFill>
                            <a:schemeClr val="tx1"/>
                          </a:solidFill>
                          <a:effectLst/>
                          <a:latin typeface="+mn-lt"/>
                          <a:ea typeface="+mn-ea"/>
                          <a:cs typeface="+mn-cs"/>
                        </a:rPr>
                        <a:t>, are </a:t>
                      </a:r>
                      <a:r>
                        <a:rPr lang="fr-BE" sz="1800" b="0" i="0" kern="1200" dirty="0" err="1">
                          <a:solidFill>
                            <a:schemeClr val="tx1"/>
                          </a:solidFill>
                          <a:effectLst/>
                          <a:latin typeface="+mn-lt"/>
                          <a:ea typeface="+mn-ea"/>
                          <a:cs typeface="+mn-cs"/>
                        </a:rPr>
                        <a:t>committed</a:t>
                      </a:r>
                      <a:r>
                        <a:rPr lang="fr-BE" sz="1800" b="0" i="0" kern="1200" dirty="0">
                          <a:solidFill>
                            <a:schemeClr val="tx1"/>
                          </a:solidFill>
                          <a:effectLst/>
                          <a:latin typeface="+mn-lt"/>
                          <a:ea typeface="+mn-ea"/>
                          <a:cs typeface="+mn-cs"/>
                        </a:rPr>
                        <a:t> to a binding </a:t>
                      </a:r>
                      <a:r>
                        <a:rPr lang="fr-BE" sz="1800" b="0" i="0" kern="1200" dirty="0" err="1">
                          <a:solidFill>
                            <a:schemeClr val="tx1"/>
                          </a:solidFill>
                          <a:effectLst/>
                          <a:latin typeface="+mn-lt"/>
                          <a:ea typeface="+mn-ea"/>
                          <a:cs typeface="+mn-cs"/>
                        </a:rPr>
                        <a:t>target</a:t>
                      </a:r>
                      <a:r>
                        <a:rPr lang="fr-BE" sz="1800" b="0" i="0" kern="1200" dirty="0">
                          <a:solidFill>
                            <a:schemeClr val="tx1"/>
                          </a:solidFill>
                          <a:effectLst/>
                          <a:latin typeface="+mn-lt"/>
                          <a:ea typeface="+mn-ea"/>
                          <a:cs typeface="+mn-cs"/>
                        </a:rPr>
                        <a:t> of a </a:t>
                      </a:r>
                      <a:r>
                        <a:rPr lang="fr-BE" sz="1800" b="0" i="0" kern="1200" dirty="0">
                          <a:solidFill>
                            <a:schemeClr val="tx1"/>
                          </a:solidFill>
                          <a:effectLst/>
                          <a:highlight>
                            <a:srgbClr val="FFFF00"/>
                          </a:highlight>
                          <a:latin typeface="+mn-lt"/>
                          <a:ea typeface="+mn-ea"/>
                          <a:cs typeface="+mn-cs"/>
                        </a:rPr>
                        <a:t>net </a:t>
                      </a:r>
                      <a:r>
                        <a:rPr lang="fr-BE" sz="1800" b="0" i="0" kern="1200" dirty="0" err="1">
                          <a:solidFill>
                            <a:schemeClr val="tx1"/>
                          </a:solidFill>
                          <a:effectLst/>
                          <a:highlight>
                            <a:srgbClr val="FFFF00"/>
                          </a:highlight>
                          <a:latin typeface="+mn-lt"/>
                          <a:ea typeface="+mn-ea"/>
                          <a:cs typeface="+mn-cs"/>
                        </a:rPr>
                        <a:t>domestic</a:t>
                      </a:r>
                      <a:r>
                        <a:rPr lang="fr-BE" sz="1800" b="0" i="0" kern="1200" dirty="0">
                          <a:solidFill>
                            <a:schemeClr val="tx1"/>
                          </a:solidFill>
                          <a:effectLst/>
                          <a:highlight>
                            <a:srgbClr val="FFFF00"/>
                          </a:highlight>
                          <a:latin typeface="+mn-lt"/>
                          <a:ea typeface="+mn-ea"/>
                          <a:cs typeface="+mn-cs"/>
                        </a:rPr>
                        <a:t> </a:t>
                      </a:r>
                      <a:r>
                        <a:rPr lang="fr-BE" sz="1800" b="0" i="0" kern="1200" dirty="0" err="1">
                          <a:solidFill>
                            <a:schemeClr val="tx1"/>
                          </a:solidFill>
                          <a:effectLst/>
                          <a:highlight>
                            <a:srgbClr val="FFFF00"/>
                          </a:highlight>
                          <a:latin typeface="+mn-lt"/>
                          <a:ea typeface="+mn-ea"/>
                          <a:cs typeface="+mn-cs"/>
                        </a:rPr>
                        <a:t>reduction</a:t>
                      </a:r>
                      <a:r>
                        <a:rPr lang="fr-BE" sz="1800" b="0" i="0" kern="1200" dirty="0">
                          <a:solidFill>
                            <a:schemeClr val="tx1"/>
                          </a:solidFill>
                          <a:effectLst/>
                          <a:highlight>
                            <a:srgbClr val="FFFF00"/>
                          </a:highlight>
                          <a:latin typeface="+mn-lt"/>
                          <a:ea typeface="+mn-ea"/>
                          <a:cs typeface="+mn-cs"/>
                        </a:rPr>
                        <a:t> of at least 55%</a:t>
                      </a:r>
                      <a:r>
                        <a:rPr lang="fr-BE" sz="1800" b="0" i="0" kern="1200" dirty="0">
                          <a:solidFill>
                            <a:schemeClr val="tx1"/>
                          </a:solidFill>
                          <a:effectLst/>
                          <a:latin typeface="+mn-lt"/>
                          <a:ea typeface="+mn-ea"/>
                          <a:cs typeface="+mn-cs"/>
                        </a:rPr>
                        <a:t> in </a:t>
                      </a:r>
                      <a:r>
                        <a:rPr lang="fr-BE" sz="1800" b="0" i="0" kern="1200" dirty="0" err="1">
                          <a:solidFill>
                            <a:schemeClr val="tx1"/>
                          </a:solidFill>
                          <a:effectLst/>
                          <a:latin typeface="+mn-lt"/>
                          <a:ea typeface="+mn-ea"/>
                          <a:cs typeface="+mn-cs"/>
                        </a:rPr>
                        <a:t>greenhouse</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gas</a:t>
                      </a:r>
                      <a:r>
                        <a:rPr lang="fr-BE" sz="1800" b="0" i="0" kern="1200" dirty="0">
                          <a:solidFill>
                            <a:schemeClr val="tx1"/>
                          </a:solidFill>
                          <a:effectLst/>
                          <a:latin typeface="+mn-lt"/>
                          <a:ea typeface="+mn-ea"/>
                          <a:cs typeface="+mn-cs"/>
                        </a:rPr>
                        <a:t> </a:t>
                      </a:r>
                      <a:r>
                        <a:rPr lang="fr-BE" sz="1800" b="0" i="0" kern="1200" dirty="0" err="1">
                          <a:solidFill>
                            <a:schemeClr val="tx1"/>
                          </a:solidFill>
                          <a:effectLst/>
                          <a:latin typeface="+mn-lt"/>
                          <a:ea typeface="+mn-ea"/>
                          <a:cs typeface="+mn-cs"/>
                        </a:rPr>
                        <a:t>emissions</a:t>
                      </a:r>
                      <a:r>
                        <a:rPr lang="fr-BE" sz="1800" b="0" i="0" kern="1200" dirty="0">
                          <a:solidFill>
                            <a:schemeClr val="tx1"/>
                          </a:solidFill>
                          <a:effectLst/>
                          <a:latin typeface="+mn-lt"/>
                          <a:ea typeface="+mn-ea"/>
                          <a:cs typeface="+mn-cs"/>
                        </a:rPr>
                        <a:t> by 2030 </a:t>
                      </a:r>
                      <a:r>
                        <a:rPr lang="fr-BE" sz="1800" b="0" i="0" kern="1200" dirty="0" err="1">
                          <a:solidFill>
                            <a:schemeClr val="tx1"/>
                          </a:solidFill>
                          <a:effectLst/>
                          <a:latin typeface="+mn-lt"/>
                          <a:ea typeface="+mn-ea"/>
                          <a:cs typeface="+mn-cs"/>
                        </a:rPr>
                        <a:t>compared</a:t>
                      </a:r>
                      <a:r>
                        <a:rPr lang="fr-BE" sz="1800" b="0" i="0" kern="1200" dirty="0">
                          <a:solidFill>
                            <a:schemeClr val="tx1"/>
                          </a:solidFill>
                          <a:effectLst/>
                          <a:latin typeface="+mn-lt"/>
                          <a:ea typeface="+mn-ea"/>
                          <a:cs typeface="+mn-cs"/>
                        </a:rPr>
                        <a:t> to 1990.</a:t>
                      </a:r>
                      <a:endParaRPr lang="fr-FR" dirty="0"/>
                    </a:p>
                  </a:txBody>
                  <a:tcPr/>
                </a:tc>
                <a:extLst>
                  <a:ext uri="{0D108BD9-81ED-4DB2-BD59-A6C34878D82A}">
                    <a16:rowId xmlns:a16="http://schemas.microsoft.com/office/drawing/2014/main" val="4210387542"/>
                  </a:ext>
                </a:extLst>
              </a:tr>
            </a:tbl>
          </a:graphicData>
        </a:graphic>
      </p:graphicFrame>
      <p:sp>
        <p:nvSpPr>
          <p:cNvPr id="2" name="ZoneTexte 1">
            <a:extLst>
              <a:ext uri="{FF2B5EF4-FFF2-40B4-BE49-F238E27FC236}">
                <a16:creationId xmlns:a16="http://schemas.microsoft.com/office/drawing/2014/main" id="{4ACAA366-099F-1A51-F9DD-787EB871D076}"/>
              </a:ext>
            </a:extLst>
          </p:cNvPr>
          <p:cNvSpPr txBox="1"/>
          <p:nvPr/>
        </p:nvSpPr>
        <p:spPr>
          <a:xfrm>
            <a:off x="2152649" y="6048607"/>
            <a:ext cx="6867734"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Source : </a:t>
            </a:r>
            <a:r>
              <a:rPr kumimoji="0" lang="fr-FR"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hlinkClick r:id="rId2"/>
              </a:rPr>
              <a:t>https://www.climatewatchdata.org/custom-compare/overview?section=overall_comparison_with_previous_ndc&amp;targets=EUU-revised_first_ndc,EUU-first_ndc,EUU-indc</a:t>
            </a:r>
            <a:r>
              <a:rPr kumimoji="0" lang="fr-FR"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sp>
        <p:nvSpPr>
          <p:cNvPr id="3" name="Slide Number Placeholder 2">
            <a:extLst>
              <a:ext uri="{FF2B5EF4-FFF2-40B4-BE49-F238E27FC236}">
                <a16:creationId xmlns:a16="http://schemas.microsoft.com/office/drawing/2014/main" id="{4D0AA198-8CC5-7FB2-BE11-614AE2B6728C}"/>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0261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269900"/>
            <a:ext cx="8229600" cy="5337887"/>
          </a:xfrm>
        </p:spPr>
        <p:txBody>
          <a:bodyPr>
            <a:noAutofit/>
          </a:bodyPr>
          <a:lstStyle/>
          <a:p>
            <a:pPr algn="just"/>
            <a:endParaRPr lang="en-GB" sz="2000" dirty="0">
              <a:latin typeface="Avenir Book"/>
              <a:cs typeface="Avenir Book"/>
            </a:endParaRPr>
          </a:p>
          <a:p>
            <a:pPr marL="0" indent="0" algn="just">
              <a:buNone/>
            </a:pPr>
            <a:endParaRPr lang="en-GB" sz="2000" dirty="0">
              <a:latin typeface="Avenir Book"/>
              <a:cs typeface="Avenir Book"/>
            </a:endParaRPr>
          </a:p>
        </p:txBody>
      </p:sp>
      <p:sp>
        <p:nvSpPr>
          <p:cNvPr id="10" name="Titre 1">
            <a:extLst>
              <a:ext uri="{FF2B5EF4-FFF2-40B4-BE49-F238E27FC236}">
                <a16:creationId xmlns:a16="http://schemas.microsoft.com/office/drawing/2014/main" id="{F3C1874F-3D23-6CBA-D456-8FB5FEB0D55E}"/>
              </a:ext>
            </a:extLst>
          </p:cNvPr>
          <p:cNvSpPr txBox="1">
            <a:spLocks/>
          </p:cNvSpPr>
          <p:nvPr/>
        </p:nvSpPr>
        <p:spPr>
          <a:xfrm>
            <a:off x="2152650" y="365127"/>
            <a:ext cx="7886700" cy="5393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900" b="1" i="0" u="none" strike="noStrike" kern="1200" cap="none" spc="0" normalizeH="0" baseline="0" noProof="0" dirty="0">
                <a:ln>
                  <a:noFill/>
                </a:ln>
                <a:solidFill>
                  <a:srgbClr val="014A94"/>
                </a:solidFill>
                <a:effectLst/>
                <a:uLnTx/>
                <a:uFillTx/>
                <a:latin typeface="Arial" panose="020B0604020202020204" pitchFamily="34" charset="0"/>
                <a:ea typeface="ヒラギノ角ゴ Pro W3" panose="020B0300000000000000" pitchFamily="34" charset="-128"/>
                <a:cs typeface="+mj-cs"/>
              </a:rPr>
              <a:t>Conditionnalités contenues dans les NDC</a:t>
            </a:r>
          </a:p>
        </p:txBody>
      </p:sp>
      <p:graphicFrame>
        <p:nvGraphicFramePr>
          <p:cNvPr id="2" name="Tableau 5">
            <a:extLst>
              <a:ext uri="{FF2B5EF4-FFF2-40B4-BE49-F238E27FC236}">
                <a16:creationId xmlns:a16="http://schemas.microsoft.com/office/drawing/2014/main" id="{B673673B-A34D-2A8C-7043-CD89D73B6F8E}"/>
              </a:ext>
            </a:extLst>
          </p:cNvPr>
          <p:cNvGraphicFramePr>
            <a:graphicFrameLocks noGrp="1"/>
          </p:cNvGraphicFramePr>
          <p:nvPr/>
        </p:nvGraphicFramePr>
        <p:xfrm>
          <a:off x="2264140" y="1731268"/>
          <a:ext cx="6694044" cy="3291840"/>
        </p:xfrm>
        <a:graphic>
          <a:graphicData uri="http://schemas.openxmlformats.org/drawingml/2006/table">
            <a:tbl>
              <a:tblPr firstRow="1" bandRow="1">
                <a:tableStyleId>{5C22544A-7EE6-4342-B048-85BDC9FD1C3A}</a:tableStyleId>
              </a:tblPr>
              <a:tblGrid>
                <a:gridCol w="1792261">
                  <a:extLst>
                    <a:ext uri="{9D8B030D-6E8A-4147-A177-3AD203B41FA5}">
                      <a16:colId xmlns:a16="http://schemas.microsoft.com/office/drawing/2014/main" val="1305026610"/>
                    </a:ext>
                  </a:extLst>
                </a:gridCol>
                <a:gridCol w="2383436">
                  <a:extLst>
                    <a:ext uri="{9D8B030D-6E8A-4147-A177-3AD203B41FA5}">
                      <a16:colId xmlns:a16="http://schemas.microsoft.com/office/drawing/2014/main" val="2964333491"/>
                    </a:ext>
                  </a:extLst>
                </a:gridCol>
                <a:gridCol w="2518347">
                  <a:extLst>
                    <a:ext uri="{9D8B030D-6E8A-4147-A177-3AD203B41FA5}">
                      <a16:colId xmlns:a16="http://schemas.microsoft.com/office/drawing/2014/main" val="3509541936"/>
                    </a:ext>
                  </a:extLst>
                </a:gridCol>
              </a:tblGrid>
              <a:tr h="370840">
                <a:tc>
                  <a:txBody>
                    <a:bodyPr/>
                    <a:lstStyle/>
                    <a:p>
                      <a:pPr algn="l"/>
                      <a:endParaRPr lang="en-GB" sz="1600" noProof="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1600" noProof="0">
                          <a:solidFill>
                            <a:schemeClr val="tx1"/>
                          </a:solidFill>
                          <a:latin typeface="Arial" panose="020B0604020202020204" pitchFamily="34" charset="0"/>
                          <a:cs typeface="Arial" panose="020B0604020202020204" pitchFamily="34" charset="0"/>
                        </a:rPr>
                        <a:t>2030 unconditional NDC 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a:solidFill>
                            <a:schemeClr val="tx1"/>
                          </a:solidFill>
                          <a:latin typeface="Arial" panose="020B0604020202020204" pitchFamily="34" charset="0"/>
                          <a:cs typeface="Arial" panose="020B0604020202020204" pitchFamily="34" charset="0"/>
                        </a:rPr>
                        <a:t>2030 conditional NDC 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889169"/>
                  </a:ext>
                </a:extLst>
              </a:tr>
              <a:tr h="370840">
                <a:tc>
                  <a:txBody>
                    <a:bodyPr/>
                    <a:lstStyle/>
                    <a:p>
                      <a:pPr algn="l"/>
                      <a:r>
                        <a:rPr lang="en-GB" sz="1600" b="1" noProof="0" dirty="0">
                          <a:latin typeface="Arial" panose="020B0604020202020204" pitchFamily="34" charset="0"/>
                          <a:cs typeface="Arial" panose="020B0604020202020204" pitchFamily="34" charset="0"/>
                        </a:rPr>
                        <a:t>India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1600" noProof="0" dirty="0">
                          <a:latin typeface="Arial" panose="020B0604020202020204" pitchFamily="34" charset="0"/>
                          <a:cs typeface="Arial" panose="020B0604020202020204" pitchFamily="34" charset="0"/>
                        </a:rPr>
                        <a:t>By 2030, emissions intensity (relative to GDP) will be 45% below 2005 levels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1600" noProof="0" dirty="0">
                          <a:latin typeface="Arial" panose="020B0604020202020204" pitchFamily="34" charset="0"/>
                          <a:cs typeface="Arial" panose="020B0604020202020204" pitchFamily="34" charset="0"/>
                        </a:rPr>
                        <a:t>By 2030, 50% of electric power installed capacity will be from energy resources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9536863"/>
                  </a:ext>
                </a:extLst>
              </a:tr>
              <a:tr h="370840">
                <a:tc>
                  <a:txBody>
                    <a:bodyPr/>
                    <a:lstStyle/>
                    <a:p>
                      <a:pPr algn="l"/>
                      <a:r>
                        <a:rPr lang="en-GB" sz="1600" b="1" noProof="0" dirty="0">
                          <a:latin typeface="Arial" panose="020B0604020202020204" pitchFamily="34" charset="0"/>
                          <a:cs typeface="Arial" panose="020B0604020202020204" pitchFamily="34" charset="0"/>
                        </a:rPr>
                        <a:t>Indonesia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1600" noProof="0" dirty="0">
                          <a:latin typeface="Arial" panose="020B0604020202020204" pitchFamily="34" charset="0"/>
                          <a:cs typeface="Arial" panose="020B0604020202020204" pitchFamily="34" charset="0"/>
                        </a:rPr>
                        <a:t>Reduce emissions by 32% against the 2030 BAU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1600" noProof="0" dirty="0">
                          <a:latin typeface="Arial" panose="020B0604020202020204" pitchFamily="34" charset="0"/>
                          <a:cs typeface="Arial" panose="020B0604020202020204" pitchFamily="34" charset="0"/>
                        </a:rPr>
                        <a:t>Reduce emissions by 43% against the 2030 BAU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903080"/>
                  </a:ext>
                </a:extLst>
              </a:tr>
              <a:tr h="370840">
                <a:tc>
                  <a:txBody>
                    <a:bodyPr/>
                    <a:lstStyle/>
                    <a:p>
                      <a:pPr algn="l"/>
                      <a:r>
                        <a:rPr lang="en-GB" sz="1600" b="1" noProof="0" dirty="0">
                          <a:latin typeface="Arial" panose="020B0604020202020204" pitchFamily="34" charset="0"/>
                          <a:cs typeface="Arial" panose="020B0604020202020204" pitchFamily="34" charset="0"/>
                        </a:rPr>
                        <a:t>Mexico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1600" noProof="0" dirty="0">
                          <a:latin typeface="Arial" panose="020B0604020202020204" pitchFamily="34" charset="0"/>
                          <a:cs typeface="Arial" panose="020B0604020202020204" pitchFamily="34" charset="0"/>
                        </a:rPr>
                        <a:t>Reduce emissions by 30% against the 2030 BAU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1600" noProof="0" dirty="0">
                          <a:latin typeface="Arial" panose="020B0604020202020204" pitchFamily="34" charset="0"/>
                          <a:cs typeface="Arial" panose="020B0604020202020204" pitchFamily="34" charset="0"/>
                        </a:rPr>
                        <a:t>Reduce emissions by 40% against the 2030 BAU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16845"/>
                  </a:ext>
                </a:extLst>
              </a:tr>
            </a:tbl>
          </a:graphicData>
        </a:graphic>
      </p:graphicFrame>
      <p:sp>
        <p:nvSpPr>
          <p:cNvPr id="4" name="ZoneTexte 3">
            <a:extLst>
              <a:ext uri="{FF2B5EF4-FFF2-40B4-BE49-F238E27FC236}">
                <a16:creationId xmlns:a16="http://schemas.microsoft.com/office/drawing/2014/main" id="{A912E19B-36EC-7EF6-4E5B-CF4FA1D3E22B}"/>
              </a:ext>
            </a:extLst>
          </p:cNvPr>
          <p:cNvSpPr txBox="1"/>
          <p:nvPr/>
        </p:nvSpPr>
        <p:spPr>
          <a:xfrm>
            <a:off x="2152651" y="1361936"/>
            <a:ext cx="52543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Examples of developing countries’ conditionalities</a:t>
            </a:r>
          </a:p>
        </p:txBody>
      </p:sp>
      <p:sp>
        <p:nvSpPr>
          <p:cNvPr id="6" name="ZoneTexte 5">
            <a:extLst>
              <a:ext uri="{FF2B5EF4-FFF2-40B4-BE49-F238E27FC236}">
                <a16:creationId xmlns:a16="http://schemas.microsoft.com/office/drawing/2014/main" id="{0A2DD6D0-AC21-F5A4-6291-B4693D5E7D10}"/>
              </a:ext>
            </a:extLst>
          </p:cNvPr>
          <p:cNvSpPr txBox="1"/>
          <p:nvPr/>
        </p:nvSpPr>
        <p:spPr>
          <a:xfrm>
            <a:off x="2264140" y="5051468"/>
            <a:ext cx="3712876"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Source: Data </a:t>
            </a:r>
            <a:r>
              <a:rPr kumimoji="0" lang="fr-FR" sz="105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extracted</a:t>
            </a:r>
            <a:r>
              <a:rPr kumimoji="0" lang="fr-FR"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sz="105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from</a:t>
            </a:r>
            <a:r>
              <a:rPr kumimoji="0" lang="fr-FR"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fr-FR" sz="105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Climate</a:t>
            </a:r>
            <a:r>
              <a:rPr kumimoji="0" lang="fr-FR"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Action Tracker (2023).</a:t>
            </a:r>
          </a:p>
        </p:txBody>
      </p:sp>
      <p:sp>
        <p:nvSpPr>
          <p:cNvPr id="5" name="Slide Number Placeholder 4">
            <a:extLst>
              <a:ext uri="{FF2B5EF4-FFF2-40B4-BE49-F238E27FC236}">
                <a16:creationId xmlns:a16="http://schemas.microsoft.com/office/drawing/2014/main" id="{12512B21-7EEF-1DAA-41B9-4A184F1A5E14}"/>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21661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09806" y="1782849"/>
            <a:ext cx="10412517" cy="3398752"/>
          </a:xfrm>
        </p:spPr>
        <p:txBody>
          <a:bodyPr>
            <a:noAutofit/>
          </a:bodyPr>
          <a:lstStyle/>
          <a:p>
            <a:pPr algn="just">
              <a:spcBef>
                <a:spcPts val="0"/>
              </a:spcBef>
            </a:pPr>
            <a:r>
              <a:rPr lang="fr-FR" sz="2000" dirty="0">
                <a:cs typeface="Arial" panose="020B0604020202020204" pitchFamily="34" charset="0"/>
              </a:rPr>
              <a:t>Cérémonie de signature au siège de l’ONU par 175 parties le 22 avril 2016, en présence de 55 chefs d’état et de gouvernement.</a:t>
            </a:r>
          </a:p>
          <a:p>
            <a:pPr marL="0" indent="0" algn="just">
              <a:spcBef>
                <a:spcPts val="0"/>
              </a:spcBef>
              <a:buNone/>
            </a:pPr>
            <a:endParaRPr lang="fr-FR" sz="2000" dirty="0">
              <a:cs typeface="Arial" panose="020B0604020202020204" pitchFamily="34" charset="0"/>
            </a:endParaRPr>
          </a:p>
          <a:p>
            <a:pPr marL="0" indent="0" algn="just">
              <a:spcBef>
                <a:spcPts val="0"/>
              </a:spcBef>
              <a:buNone/>
            </a:pPr>
            <a:endParaRPr lang="fr-FR" sz="2000" dirty="0">
              <a:cs typeface="Arial" panose="020B0604020202020204" pitchFamily="34" charset="0"/>
            </a:endParaRPr>
          </a:p>
          <a:p>
            <a:pPr algn="just">
              <a:spcBef>
                <a:spcPts val="0"/>
              </a:spcBef>
            </a:pPr>
            <a:r>
              <a:rPr lang="fr-FR" sz="2000" dirty="0">
                <a:cs typeface="Arial" panose="020B0604020202020204" pitchFamily="34" charset="0"/>
              </a:rPr>
              <a:t>Elections présidentielles américaines de 2016 = 1</a:t>
            </a:r>
            <a:r>
              <a:rPr lang="fr-FR" sz="2000" baseline="30000" dirty="0">
                <a:cs typeface="Arial" panose="020B0604020202020204" pitchFamily="34" charset="0"/>
              </a:rPr>
              <a:t>er</a:t>
            </a:r>
            <a:r>
              <a:rPr lang="fr-FR" sz="2000" dirty="0">
                <a:cs typeface="Arial" panose="020B0604020202020204" pitchFamily="34" charset="0"/>
              </a:rPr>
              <a:t> ‘stress test’ de l’Accord de Paris (cf. annonce le 1</a:t>
            </a:r>
            <a:r>
              <a:rPr lang="fr-FR" sz="2000" baseline="30000" dirty="0">
                <a:cs typeface="Arial" panose="020B0604020202020204" pitchFamily="34" charset="0"/>
              </a:rPr>
              <a:t>er</a:t>
            </a:r>
            <a:r>
              <a:rPr lang="fr-FR" sz="2000" dirty="0">
                <a:cs typeface="Arial" panose="020B0604020202020204" pitchFamily="34" charset="0"/>
              </a:rPr>
              <a:t> juin 2017 par Trump du retrait des Etats-Unis de l’Accord ; pas d’impact sur l’entrée en vigueur ; retrait effectif le 4 novembre 2020… un jour après les élections présidentielles). Les Etats-Unis ont réintégré l’Accord de Paris suite à l’élection de Joe Biden (réadmission effective en février 2021).</a:t>
            </a:r>
          </a:p>
          <a:p>
            <a:pPr marL="0" indent="0" algn="just">
              <a:spcBef>
                <a:spcPts val="0"/>
              </a:spcBef>
              <a:buNone/>
            </a:pPr>
            <a:endParaRPr lang="fr-FR" sz="2000" dirty="0">
              <a:cs typeface="Arial" panose="020B0604020202020204" pitchFamily="34" charset="0"/>
            </a:endParaRPr>
          </a:p>
          <a:p>
            <a:pPr algn="just">
              <a:spcBef>
                <a:spcPts val="0"/>
              </a:spcBef>
            </a:pPr>
            <a:r>
              <a:rPr lang="fr-FR" sz="2000" dirty="0">
                <a:cs typeface="Arial" panose="020B0604020202020204" pitchFamily="34" charset="0"/>
              </a:rPr>
              <a:t>Nouvelle sortie des Etats-Unis … Clarification </a:t>
            </a:r>
          </a:p>
        </p:txBody>
      </p:sp>
      <p:sp>
        <p:nvSpPr>
          <p:cNvPr id="7" name="Titre 1">
            <a:extLst>
              <a:ext uri="{FF2B5EF4-FFF2-40B4-BE49-F238E27FC236}">
                <a16:creationId xmlns:a16="http://schemas.microsoft.com/office/drawing/2014/main" id="{BDEA8D4A-765B-DC0C-84AC-2330C9BD2C5E}"/>
              </a:ext>
            </a:extLst>
          </p:cNvPr>
          <p:cNvSpPr txBox="1">
            <a:spLocks/>
          </p:cNvSpPr>
          <p:nvPr/>
        </p:nvSpPr>
        <p:spPr>
          <a:xfrm>
            <a:off x="306597" y="842455"/>
            <a:ext cx="7886700" cy="7083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400" b="1" i="0" u="none" strike="noStrike" kern="1200" cap="none" spc="0" normalizeH="0" baseline="0" noProof="0" dirty="0">
                <a:ln>
                  <a:noFill/>
                </a:ln>
                <a:solidFill>
                  <a:prstClr val="black"/>
                </a:solidFill>
                <a:effectLst/>
                <a:uLnTx/>
                <a:uFillTx/>
                <a:latin typeface="Arial" panose="020B0604020202020204" pitchFamily="34" charset="0"/>
                <a:ea typeface="ヒラギノ角ゴ Pro W3" panose="020B0300000000000000" pitchFamily="34" charset="-128"/>
                <a:cs typeface="+mj-cs"/>
              </a:rPr>
              <a:t>Ratification et entrée en vigueur de l’Accord de Paris </a:t>
            </a:r>
          </a:p>
        </p:txBody>
      </p:sp>
      <p:sp>
        <p:nvSpPr>
          <p:cNvPr id="2" name="Slide Number Placeholder 1">
            <a:extLst>
              <a:ext uri="{FF2B5EF4-FFF2-40B4-BE49-F238E27FC236}">
                <a16:creationId xmlns:a16="http://schemas.microsoft.com/office/drawing/2014/main" id="{B2AA1A91-9605-BA9E-633A-D573DB2E3556}"/>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65</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43537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F884AC2-0771-4EC9-9712-F3F832FA66A0}"/>
              </a:ext>
            </a:extLst>
          </p:cNvPr>
          <p:cNvSpPr>
            <a:spLocks noGrp="1"/>
          </p:cNvSpPr>
          <p:nvPr>
            <p:ph idx="1"/>
          </p:nvPr>
        </p:nvSpPr>
        <p:spPr>
          <a:xfrm>
            <a:off x="482321" y="1225314"/>
            <a:ext cx="10952703" cy="4034113"/>
          </a:xfrm>
        </p:spPr>
        <p:txBody>
          <a:bodyPr>
            <a:normAutofit lnSpcReduction="10000"/>
          </a:bodyPr>
          <a:lstStyle/>
          <a:p>
            <a:pPr marL="285750" indent="-285750" algn="just">
              <a:spcBef>
                <a:spcPts val="1200"/>
              </a:spcBef>
            </a:pPr>
            <a:r>
              <a:rPr lang="fr-BE" sz="2400" dirty="0">
                <a:cs typeface="Arial" panose="020B0604020202020204" pitchFamily="34" charset="0"/>
              </a:rPr>
              <a:t>Participation record et une entrée en vigueur sans délai.</a:t>
            </a:r>
          </a:p>
          <a:p>
            <a:pPr marL="285750" indent="-285750" algn="just">
              <a:spcBef>
                <a:spcPts val="1200"/>
              </a:spcBef>
            </a:pPr>
            <a:r>
              <a:rPr lang="fr-FR" sz="2400" dirty="0">
                <a:cs typeface="Arial" panose="020B0604020202020204" pitchFamily="34" charset="0"/>
              </a:rPr>
              <a:t>Cadre de référence universel.</a:t>
            </a:r>
          </a:p>
          <a:p>
            <a:pPr marL="285750" indent="-285750" algn="just">
              <a:spcBef>
                <a:spcPts val="1200"/>
              </a:spcBef>
            </a:pPr>
            <a:r>
              <a:rPr lang="fr-FR" sz="2400" dirty="0">
                <a:cs typeface="Arial" panose="020B0604020202020204" pitchFamily="34" charset="0"/>
              </a:rPr>
              <a:t>Introduction explicite de l’objectif à long terme de la « neutralité climatique » (innovant par rapport aux accords antérieurs).</a:t>
            </a:r>
          </a:p>
          <a:p>
            <a:pPr marL="285750" indent="-285750" algn="just">
              <a:spcBef>
                <a:spcPts val="1200"/>
              </a:spcBef>
            </a:pPr>
            <a:r>
              <a:rPr lang="fr-FR" sz="2400" dirty="0">
                <a:cs typeface="Arial" panose="020B0604020202020204" pitchFamily="34" charset="0"/>
              </a:rPr>
              <a:t>Caractère progressif, crée des dynamiques temporelles de mise en œuvre, action globale coopérative plutôt qu’un fardeau partagé.</a:t>
            </a:r>
          </a:p>
          <a:p>
            <a:pPr marL="285750" indent="-285750" algn="just">
              <a:spcBef>
                <a:spcPts val="1200"/>
              </a:spcBef>
            </a:pPr>
            <a:r>
              <a:rPr lang="fr-FR" sz="2400" dirty="0">
                <a:cs typeface="Arial" panose="020B0604020202020204" pitchFamily="34" charset="0"/>
              </a:rPr>
              <a:t>Maillon faible : l’Accord de Paris laisse aux acteurs étatiques le soin d’apporter la cohérence entre les mesures de court terme et les transformations à long terme en vue de l’objectif 1,5 - 2°C ; </a:t>
            </a:r>
            <a:r>
              <a:rPr lang="fr-BE" sz="2400" dirty="0">
                <a:cs typeface="Arial" panose="020B0604020202020204" pitchFamily="34" charset="0"/>
              </a:rPr>
              <a:t>à l’heure actuelle, un hiatus important subsiste entre les actions de court terme, les engagements pris et l’objectif à long terme de l’Accord de Paris.</a:t>
            </a:r>
          </a:p>
          <a:p>
            <a:pPr marL="285750" indent="-285750" algn="just">
              <a:spcBef>
                <a:spcPts val="1200"/>
              </a:spcBef>
            </a:pPr>
            <a:endParaRPr lang="fr-BE" sz="2400" dirty="0">
              <a:cs typeface="Arial" panose="020B0604020202020204" pitchFamily="34" charset="0"/>
            </a:endParaRPr>
          </a:p>
          <a:p>
            <a:pPr marL="285750" indent="-285750" algn="just">
              <a:spcBef>
                <a:spcPts val="1200"/>
              </a:spcBef>
            </a:pPr>
            <a:endParaRPr lang="fr-BE" sz="2400" dirty="0">
              <a:cs typeface="Arial" panose="020B0604020202020204" pitchFamily="34" charset="0"/>
            </a:endParaRPr>
          </a:p>
          <a:p>
            <a:pPr marL="285750" indent="-285750" algn="just">
              <a:spcBef>
                <a:spcPts val="1200"/>
              </a:spcBef>
            </a:pPr>
            <a:endParaRPr lang="fr-BE" sz="2400" dirty="0">
              <a:cs typeface="Arial" panose="020B0604020202020204" pitchFamily="34" charset="0"/>
            </a:endParaRPr>
          </a:p>
          <a:p>
            <a:pPr marL="285750" indent="-285750" algn="just">
              <a:spcBef>
                <a:spcPts val="1200"/>
              </a:spcBef>
            </a:pPr>
            <a:endParaRPr lang="en-US" sz="2400" dirty="0">
              <a:cs typeface="Arial" panose="020B0604020202020204" pitchFamily="34" charset="0"/>
            </a:endParaRPr>
          </a:p>
        </p:txBody>
      </p:sp>
      <p:sp>
        <p:nvSpPr>
          <p:cNvPr id="8" name="Titre 1">
            <a:extLst>
              <a:ext uri="{FF2B5EF4-FFF2-40B4-BE49-F238E27FC236}">
                <a16:creationId xmlns:a16="http://schemas.microsoft.com/office/drawing/2014/main" id="{841022F8-9AD6-E3F1-FB3E-E50BF2B24771}"/>
              </a:ext>
            </a:extLst>
          </p:cNvPr>
          <p:cNvSpPr txBox="1">
            <a:spLocks/>
          </p:cNvSpPr>
          <p:nvPr/>
        </p:nvSpPr>
        <p:spPr>
          <a:xfrm>
            <a:off x="2152650" y="365126"/>
            <a:ext cx="7886700" cy="7083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200" b="1" i="0" u="none" strike="noStrike" kern="1200" cap="none" spc="0" normalizeH="0" baseline="0" noProof="0" dirty="0">
                <a:ln>
                  <a:noFill/>
                </a:ln>
                <a:solidFill>
                  <a:srgbClr val="014A94"/>
                </a:solidFill>
                <a:effectLst/>
                <a:uLnTx/>
                <a:uFillTx/>
                <a:latin typeface="Arial" panose="020B0604020202020204" pitchFamily="34" charset="0"/>
                <a:ea typeface="ヒラギノ角ゴ Pro W3" panose="020B0300000000000000" pitchFamily="34" charset="-128"/>
                <a:cs typeface="+mj-cs"/>
              </a:rPr>
              <a:t>Un premier bilan</a:t>
            </a:r>
          </a:p>
        </p:txBody>
      </p:sp>
      <p:sp>
        <p:nvSpPr>
          <p:cNvPr id="4" name="Slide Number Placeholder 3">
            <a:extLst>
              <a:ext uri="{FF2B5EF4-FFF2-40B4-BE49-F238E27FC236}">
                <a16:creationId xmlns:a16="http://schemas.microsoft.com/office/drawing/2014/main" id="{E9CCDA11-A023-08E2-15CD-FF0269BABE35}"/>
              </a:ext>
            </a:extLst>
          </p:cNvPr>
          <p:cNvSpPr>
            <a:spLocks noGrp="1"/>
          </p:cNvSpPr>
          <p:nvPr>
            <p:ph type="sldNum" sz="quarter" idx="4294967295"/>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6B4BDC2-D323-42E6-A78C-48CCAD0AB938}" type="slidenum">
              <a:rPr kumimoji="0" lang="en-BE"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en-BE"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09811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374F7-5325-B281-38EE-7954C9B97FA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7B32D5-69AF-CCED-DEDE-3665D7F8D356}"/>
              </a:ext>
            </a:extLst>
          </p:cNvPr>
          <p:cNvSpPr>
            <a:spLocks noGrp="1"/>
          </p:cNvSpPr>
          <p:nvPr>
            <p:ph type="title"/>
          </p:nvPr>
        </p:nvSpPr>
        <p:spPr>
          <a:xfrm>
            <a:off x="838200" y="500062"/>
            <a:ext cx="11473544" cy="1325563"/>
          </a:xfrm>
        </p:spPr>
        <p:txBody>
          <a:bodyPr>
            <a:normAutofit/>
          </a:bodyPr>
          <a:lstStyle/>
          <a:p>
            <a:r>
              <a:rPr lang="fr-BE" sz="4900" b="1" kern="100" dirty="0">
                <a:latin typeface="Aptos" panose="020B0004020202020204" pitchFamily="34" charset="0"/>
                <a:cs typeface="Times New Roman" panose="02020603050405020304" pitchFamily="18" charset="0"/>
              </a:rPr>
              <a:t>Pour aller plus loin</a:t>
            </a:r>
            <a:endParaRPr lang="fr-BE" dirty="0"/>
          </a:p>
        </p:txBody>
      </p:sp>
      <p:sp>
        <p:nvSpPr>
          <p:cNvPr id="5" name="Sous-titre 2">
            <a:extLst>
              <a:ext uri="{FF2B5EF4-FFF2-40B4-BE49-F238E27FC236}">
                <a16:creationId xmlns:a16="http://schemas.microsoft.com/office/drawing/2014/main" id="{E903D055-A779-5883-F964-39212C487207}"/>
              </a:ext>
            </a:extLst>
          </p:cNvPr>
          <p:cNvSpPr txBox="1">
            <a:spLocks/>
          </p:cNvSpPr>
          <p:nvPr/>
        </p:nvSpPr>
        <p:spPr>
          <a:xfrm>
            <a:off x="762000" y="2186894"/>
            <a:ext cx="9818914" cy="28454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fr-BE" sz="2000" b="0" i="0" u="none" strike="noStrike" kern="1200" cap="none" spc="0" normalizeH="0" baseline="0" noProof="0" dirty="0">
                <a:ln>
                  <a:noFill/>
                </a:ln>
                <a:solidFill>
                  <a:prstClr val="black"/>
                </a:solidFill>
                <a:effectLst/>
                <a:uLnTx/>
                <a:uFillTx/>
                <a:latin typeface="Aptos" panose="02110004020202020204"/>
                <a:ea typeface="+mn-ea"/>
                <a:cs typeface="+mn-cs"/>
              </a:rPr>
              <a:t>A écouter: </a:t>
            </a:r>
            <a:r>
              <a:rPr kumimoji="0" lang="fr-BE" sz="2000" b="0" i="0" u="none" strike="noStrike" kern="1200" cap="none" spc="0" normalizeH="0" baseline="0" noProof="0" dirty="0">
                <a:ln>
                  <a:noFill/>
                </a:ln>
                <a:solidFill>
                  <a:prstClr val="black"/>
                </a:solidFill>
                <a:effectLst/>
                <a:uLnTx/>
                <a:uFillTx/>
                <a:latin typeface="Aptos" panose="02110004020202020204"/>
                <a:ea typeface="+mn-ea"/>
                <a:cs typeface="+mn-cs"/>
                <a:hlinkClick r:id="rId2"/>
              </a:rPr>
              <a:t>Déclic - Le Tournant - Un monde à +2° ça ressemble à quoi? – </a:t>
            </a:r>
            <a:r>
              <a:rPr kumimoji="0" lang="fr-BE" sz="2000" b="0" i="0" u="none" strike="noStrike" kern="1200" cap="none" spc="0" normalizeH="0" baseline="0" noProof="0" dirty="0" err="1">
                <a:ln>
                  <a:noFill/>
                </a:ln>
                <a:solidFill>
                  <a:prstClr val="black"/>
                </a:solidFill>
                <a:effectLst/>
                <a:uLnTx/>
                <a:uFillTx/>
                <a:latin typeface="Aptos" panose="02110004020202020204"/>
                <a:ea typeface="+mn-ea"/>
                <a:cs typeface="+mn-cs"/>
                <a:hlinkClick r:id="rId2"/>
              </a:rPr>
              <a:t>Auvio</a:t>
            </a:r>
            <a:endParaRPr kumimoji="0" lang="fr-BE"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fr-BE" sz="2000" b="0" i="0" u="none" strike="noStrike" kern="1200" cap="none" spc="0" normalizeH="0" baseline="0" noProof="0" dirty="0">
                <a:ln>
                  <a:noFill/>
                </a:ln>
                <a:solidFill>
                  <a:prstClr val="black"/>
                </a:solidFill>
                <a:effectLst/>
                <a:uLnTx/>
                <a:uFillTx/>
                <a:latin typeface="Aptos" panose="02110004020202020204"/>
                <a:ea typeface="+mn-ea"/>
                <a:cs typeface="+mn-cs"/>
                <a:hlinkClick r:id="rId3"/>
              </a:rPr>
              <a:t>Déclic - Le Tournant - Climat: comment ne pas désespérer? – </a:t>
            </a:r>
            <a:r>
              <a:rPr kumimoji="0" lang="fr-BE" sz="2000" b="0" i="0" u="none" strike="noStrike" kern="1200" cap="none" spc="0" normalizeH="0" baseline="0" noProof="0" dirty="0" err="1">
                <a:ln>
                  <a:noFill/>
                </a:ln>
                <a:solidFill>
                  <a:prstClr val="black"/>
                </a:solidFill>
                <a:effectLst/>
                <a:uLnTx/>
                <a:uFillTx/>
                <a:latin typeface="Aptos" panose="02110004020202020204"/>
                <a:ea typeface="+mn-ea"/>
                <a:cs typeface="+mn-cs"/>
                <a:hlinkClick r:id="rId3"/>
              </a:rPr>
              <a:t>Auvio</a:t>
            </a:r>
            <a:endParaRPr kumimoji="0" lang="fr-BE"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BE" sz="2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Tree>
    <p:extLst>
      <p:ext uri="{BB962C8B-B14F-4D97-AF65-F5344CB8AC3E}">
        <p14:creationId xmlns:p14="http://schemas.microsoft.com/office/powerpoint/2010/main" val="3358306138"/>
      </p:ext>
    </p:extLst>
  </p:cSld>
  <p:clrMapOvr>
    <a:masterClrMapping/>
  </p:clrMapOvr>
</p:sld>
</file>

<file path=ppt/theme/theme1.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DADE757-642E-744D-8E49-B668A36AEF27}">
  <we:reference id="WA200010001" version="1.0.0.1" store="Omex" storeType="OMEX"/>
  <we:alternateReferences>
    <we:reference id="WA200010001" version="1.0.0.1" store="WA200010001" storeType="OMEX"/>
  </we:alternateReferences>
  <we:properties>
    <we:property name="claude.fileId" value="&quot;a61ace82-67ea-4258-931b-76c415111f9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352</TotalTime>
  <Words>5224</Words>
  <Application>Microsoft Macintosh PowerPoint</Application>
  <PresentationFormat>Grand écran</PresentationFormat>
  <Paragraphs>378</Paragraphs>
  <Slides>67</Slides>
  <Notes>16</Notes>
  <HiddenSlides>3</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67</vt:i4>
      </vt:variant>
    </vt:vector>
  </HeadingPairs>
  <TitlesOfParts>
    <vt:vector size="79" baseType="lpstr">
      <vt:lpstr>Aptos</vt:lpstr>
      <vt:lpstr>Aptos  </vt:lpstr>
      <vt:lpstr>Aptos   </vt:lpstr>
      <vt:lpstr>Aptos Display</vt:lpstr>
      <vt:lpstr>Archivo</vt:lpstr>
      <vt:lpstr>Archivo Light</vt:lpstr>
      <vt:lpstr>Arial</vt:lpstr>
      <vt:lpstr>Avenir Book</vt:lpstr>
      <vt:lpstr>Courier New</vt:lpstr>
      <vt:lpstr>Symbol</vt:lpstr>
      <vt:lpstr>Wingdings</vt:lpstr>
      <vt:lpstr>1_Thème Office</vt:lpstr>
      <vt:lpstr>Climat : Sciences et Politiques</vt:lpstr>
      <vt:lpstr>Structure du cours - organisation</vt:lpstr>
      <vt:lpstr>Structure du cours - contenu</vt:lpstr>
      <vt:lpstr>Structure du cours - contenu</vt:lpstr>
      <vt:lpstr>Objectifs du cours &amp; vue d’ensemble</vt:lpstr>
      <vt:lpstr>Compétences développées à l’issue du cours</vt:lpstr>
      <vt:lpstr>Présentation PowerPoint</vt:lpstr>
      <vt:lpstr>Impacts futurs (GIEC, WG II, 2022)</vt:lpstr>
      <vt:lpstr>Présentation PowerPoint</vt:lpstr>
      <vt:lpstr>Présentation PowerPoint</vt:lpstr>
      <vt:lpstr>Impacts futurs (GIEC, WG II, 2022)</vt:lpstr>
      <vt:lpstr>Trajets futurs possibles (GIEC, WG II, 2022)</vt:lpstr>
      <vt:lpstr>Impacts futurs (GIEC, WG II, 2022)</vt:lpstr>
      <vt:lpstr>Impacts futurs (GIEC, WG II, 2022)</vt:lpstr>
      <vt:lpstr>Qui sont les victimes ?</vt:lpstr>
      <vt:lpstr>Les pays et régions les plus pauvres sont (et seront) les plus affectés par les pics de chaleur</vt:lpstr>
      <vt:lpstr>Un événement climatique extrême dans un pays riche</vt:lpstr>
      <vt:lpstr>14 juillet, il pleut … comme souvent en Belgique , il « drache » !</vt:lpstr>
      <vt:lpstr>Présentation PowerPoint</vt:lpstr>
      <vt:lpstr>Le chaos est présent … mais la catastrophe aurait pu être beaucoup plus grave si la Meuse avait débordé à Liège</vt:lpstr>
      <vt:lpstr>Trooz, La Brouck</vt:lpstr>
      <vt:lpstr>  Trooz, Chaudfontaine, Esneux</vt:lpstr>
      <vt:lpstr>Chênée, Angleur</vt:lpstr>
      <vt:lpstr>Présentation PowerPoint</vt:lpstr>
      <vt:lpstr>Gouvernance climatique : la nécessité de prendre en charge un problème planétaire  </vt:lpstr>
      <vt:lpstr>Les bouleversements climatiques comme problème politique (1)</vt:lpstr>
      <vt:lpstr>Les bouleversements climatiques comme problème politique (2)</vt:lpstr>
      <vt:lpstr>Les bouleversements climatiques comme problème politique(3)</vt:lpstr>
      <vt:lpstr>Les bouleversements climatiques comme problème politique (4)</vt:lpstr>
      <vt:lpstr>Les bouleversements climatiques comme problème politique (5)</vt:lpstr>
      <vt:lpstr>Présentation PowerPoint</vt:lpstr>
      <vt:lpstr>Où en sommes nous ?</vt:lpstr>
      <vt:lpstr>Où en sommes nous ?</vt:lpstr>
      <vt:lpstr>Où en sommes nous ?</vt:lpstr>
      <vt:lpstr>Où en sommes nous ?</vt:lpstr>
      <vt:lpstr>Type d’acteurs de la gouvernance climatique</vt:lpstr>
      <vt:lpstr>Structures politiques</vt:lpstr>
      <vt:lpstr>La gouvernance climatique (1)</vt:lpstr>
      <vt:lpstr>La gouvernance climatique (2)</vt:lpstr>
      <vt:lpstr>Our Common Future</vt:lpstr>
      <vt:lpstr>La gouvernance climatique (3)</vt:lpstr>
      <vt:lpstr>La gouvernance climatique (4)</vt:lpstr>
      <vt:lpstr>La CCNUCC – objectif (art. 2)</vt:lpstr>
      <vt:lpstr>La CCNUCC – Principes (art. 3)</vt:lpstr>
      <vt:lpstr>La CCNUCC (1992) – Engagements (art. 4)</vt:lpstr>
      <vt:lpstr>Présentation PowerPoint</vt:lpstr>
      <vt:lpstr>Présentation PowerPoint</vt:lpstr>
      <vt:lpstr>Présentation PowerPoint</vt:lpstr>
      <vt:lpstr>Le protocole de Kyoto: Une architecture à priori séduisante</vt:lpstr>
      <vt:lpstr>Mais un fiasco pour le climat</vt:lpstr>
      <vt:lpstr>Mais un fiasco pour le climat</vt:lpstr>
      <vt:lpstr>Mais un fiasco pour le climat</vt:lpstr>
      <vt:lpstr>Présentation PowerPoint</vt:lpstr>
      <vt:lpstr>2015 Accord de Paris COP.21: le ‘momentum’</vt:lpstr>
      <vt:lpstr>L’accord de Paris - contenu</vt:lpstr>
      <vt:lpstr>Pourquoi l’Accord de Paris est-il vu comme un « succès » politique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Pour aller plus loin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VANDEBURIE Julien</dc:creator>
  <cp:lastModifiedBy>LÉCHAUDÉ Pierre</cp:lastModifiedBy>
  <cp:revision>4</cp:revision>
  <dcterms:created xsi:type="dcterms:W3CDTF">2026-02-25T19:20:18Z</dcterms:created>
  <dcterms:modified xsi:type="dcterms:W3CDTF">2026-06-09T12:37:53Z</dcterms:modified>
</cp:coreProperties>
</file>